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4"/>
  </p:notesMasterIdLst>
  <p:handoutMasterIdLst>
    <p:handoutMasterId r:id="rId15"/>
  </p:handoutMasterIdLst>
  <p:sldIdLst>
    <p:sldId id="256" r:id="rId2"/>
    <p:sldId id="379" r:id="rId3"/>
    <p:sldId id="366" r:id="rId4"/>
    <p:sldId id="380" r:id="rId5"/>
    <p:sldId id="381" r:id="rId6"/>
    <p:sldId id="382" r:id="rId7"/>
    <p:sldId id="383" r:id="rId8"/>
    <p:sldId id="374" r:id="rId9"/>
    <p:sldId id="375" r:id="rId10"/>
    <p:sldId id="384" r:id="rId11"/>
    <p:sldId id="376" r:id="rId12"/>
    <p:sldId id="33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7" autoAdjust="0"/>
    <p:restoredTop sz="94364" autoAdjust="0"/>
  </p:normalViewPr>
  <p:slideViewPr>
    <p:cSldViewPr snapToGrid="0" snapToObjects="1">
      <p:cViewPr varScale="1">
        <p:scale>
          <a:sx n="86" d="100"/>
          <a:sy n="86" d="100"/>
        </p:scale>
        <p:origin x="13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3" d="100"/>
          <a:sy n="63" d="100"/>
        </p:scale>
        <p:origin x="2280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EFBAB-7A37-EE48-8088-91AC3A2C1DD8}" type="datetimeFigureOut">
              <a:rPr lang="en-US" smtClean="0"/>
              <a:t>11/09/2024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0CEA5-87CA-7E4B-8849-4C1234A31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379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38815-8547-C845-9F8D-99C41D175B6C}" type="datetimeFigureOut">
              <a:rPr lang="en-US" smtClean="0"/>
              <a:t>11/09/2024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C9BCA-D5E6-2B44-BFD6-282E38A33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212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94165"/>
            <a:ext cx="7772400" cy="1470025"/>
          </a:xfrm>
          <a:ln>
            <a:noFill/>
          </a:ln>
        </p:spPr>
        <p:txBody>
          <a:bodyPr/>
          <a:lstStyle>
            <a:lvl1pPr>
              <a:defRPr b="1" i="0">
                <a:solidFill>
                  <a:srgbClr val="00449E"/>
                </a:solidFill>
                <a:latin typeface="Myriad Pro"/>
                <a:cs typeface="Myriad Pro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8000"/>
            <a:ext cx="6400800" cy="1752600"/>
          </a:xfrm>
          <a:ln>
            <a:noFill/>
          </a:ln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40000"/>
                    <a:lumOff val="60000"/>
                  </a:schemeClr>
                </a:solidFill>
                <a:latin typeface="Myriad Pro"/>
                <a:cs typeface="Myriad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yriad Pro"/>
                <a:cs typeface="Myriad Pro"/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B0F75D-9DF9-A725-88D5-2D4D62F0B5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9" y="26133"/>
            <a:ext cx="1832007" cy="55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2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138223"/>
            <a:ext cx="6883400" cy="1127051"/>
          </a:xfrm>
        </p:spPr>
        <p:txBody>
          <a:bodyPr/>
          <a:lstStyle>
            <a:lvl1pPr>
              <a:defRPr b="1">
                <a:solidFill>
                  <a:srgbClr val="00449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7926"/>
            <a:ext cx="8229600" cy="4648237"/>
          </a:xfrm>
        </p:spPr>
        <p:txBody>
          <a:bodyPr/>
          <a:lstStyle>
            <a:lvl1pPr>
              <a:defRPr>
                <a:latin typeface="Myriad Pro"/>
                <a:cs typeface="Myriad Pro"/>
              </a:defRPr>
            </a:lvl1pPr>
            <a:lvl2pPr>
              <a:defRPr>
                <a:latin typeface="Myriad Pro"/>
                <a:cs typeface="Myriad Pro"/>
              </a:defRPr>
            </a:lvl2pPr>
            <a:lvl3pPr>
              <a:defRPr>
                <a:latin typeface="Myriad Pro"/>
                <a:cs typeface="Myriad Pro"/>
              </a:defRPr>
            </a:lvl3pPr>
            <a:lvl4pPr>
              <a:defRPr>
                <a:latin typeface="Myriad Pro"/>
                <a:cs typeface="Myriad Pro"/>
              </a:defRPr>
            </a:lvl4pPr>
            <a:lvl5pPr>
              <a:defRPr>
                <a:latin typeface="Myriad Pro"/>
                <a:cs typeface="Myriad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6130" y="6607175"/>
            <a:ext cx="464110" cy="250825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8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BE1888ED-BA33-BE40-BF29-F50D5175FC1E}" type="datetime1">
              <a:rPr lang="en-US" smtClean="0"/>
              <a:t>11/09/2024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62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F119C21-0AE2-BC4D-843C-BE82E03062E5}" type="datetime1">
              <a:rPr lang="en-US" smtClean="0"/>
              <a:t>11/09/2024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84312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E150FC7B-5044-DE40-9EF1-4B21023D85EE}" type="datetime1">
              <a:rPr lang="en-US" smtClean="0"/>
              <a:t>11/09/2024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6654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F5AC67D2-079C-6745-A936-43BC6E106AD5}" type="datetime1">
              <a:rPr lang="en-US" smtClean="0"/>
              <a:t>11/09/2024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84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9DD40BE-C346-4746-AF7E-3493C08330BD}" type="datetime1">
              <a:rPr lang="en-US" smtClean="0"/>
              <a:t>11/09/2024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52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D83A1EC-0728-0C41-ABCE-875DE802A9AF}" type="datetime1">
              <a:rPr lang="en-US" smtClean="0"/>
              <a:t>11/09/2024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D741E869-144A-2342-8662-45B9046CCDA7}" type="datetime1">
              <a:rPr lang="en-US" smtClean="0"/>
              <a:t>11/09/2024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i="0" dirty="0" err="1"/>
              <a:t>Sống</a:t>
            </a:r>
            <a:r>
              <a:rPr lang="en-US" i="0" dirty="0"/>
              <a:t> </a:t>
            </a:r>
            <a:r>
              <a:rPr lang="en-US" i="0" dirty="0" err="1"/>
              <a:t>tử</a:t>
            </a:r>
            <a:r>
              <a:rPr lang="en-US" i="0" dirty="0"/>
              <a:t> </a:t>
            </a:r>
            <a:r>
              <a:rPr lang="en-US" i="0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</p:spTree>
    <p:extLst>
      <p:ext uri="{BB962C8B-B14F-4D97-AF65-F5344CB8AC3E}">
        <p14:creationId xmlns:p14="http://schemas.microsoft.com/office/powerpoint/2010/main" val="20542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773B61A7-E2FC-4841-8D50-D99D90597A6B}" type="datetime1">
              <a:rPr lang="en-US" smtClean="0"/>
              <a:t>11/09/2024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7352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604000"/>
            <a:ext cx="1155700" cy="2508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16FE0F7-F64C-4E48-A724-F85AC4A61B60}" type="datetime1">
              <a:rPr lang="en-US" smtClean="0"/>
              <a:t>11/09/2024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03400" y="6604000"/>
            <a:ext cx="5232400" cy="254000"/>
          </a:xfrm>
          <a:prstGeom prst="rect">
            <a:avLst/>
          </a:prstGeom>
        </p:spPr>
        <p:txBody>
          <a:bodyPr/>
          <a:lstStyle/>
          <a:p>
            <a:r>
              <a:rPr lang="en-US" b="1" dirty="0" err="1"/>
              <a:t>Sống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đàng</a:t>
            </a:r>
            <a:r>
              <a:rPr lang="en-US" dirty="0"/>
              <a:t> </a:t>
            </a:r>
            <a:r>
              <a:rPr lang="en-US" dirty="0" err="1"/>
              <a:t>hoàng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châu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5804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03400" y="274638"/>
            <a:ext cx="6883400" cy="1143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6910" y="6607175"/>
            <a:ext cx="464110" cy="2508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yriad Pro"/>
                <a:cs typeface="Myriad Pro"/>
              </a:defRPr>
            </a:lvl1pPr>
          </a:lstStyle>
          <a:p>
            <a:pPr algn="ctr"/>
            <a:fld id="{F0C94032-CD4C-4C25-B0C2-CEC720522D92}" type="slidenum">
              <a:rPr lang="en-US" smtClean="0"/>
              <a:pPr algn="ctr"/>
              <a:t>‹#›</a:t>
            </a:fld>
            <a:endParaRPr lang="en-US" b="1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5FDEE7-2E76-755E-9596-C0E19E28888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9" y="26133"/>
            <a:ext cx="1832007" cy="55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4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5">
              <a:lumMod val="75000"/>
            </a:schemeClr>
          </a:solidFill>
          <a:latin typeface="Myriad Pro"/>
          <a:ea typeface="+mj-ea"/>
          <a:cs typeface="Myriad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yriad Pro"/>
          <a:ea typeface="+mn-ea"/>
          <a:cs typeface="Myriad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yriad Pro"/>
          <a:ea typeface="+mn-ea"/>
          <a:cs typeface="Myriad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yriad Pro"/>
          <a:ea typeface="+mn-ea"/>
          <a:cs typeface="Myriad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yriad Pro"/>
          <a:ea typeface="+mn-ea"/>
          <a:cs typeface="Myriad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m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8889" y="1723407"/>
            <a:ext cx="7039993" cy="2203821"/>
          </a:xfrm>
        </p:spPr>
        <p:txBody>
          <a:bodyPr>
            <a:normAutofit fontScale="85000" lnSpcReduction="20000"/>
          </a:bodyPr>
          <a:lstStyle/>
          <a:p>
            <a:b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Bài 9</a:t>
            </a:r>
          </a:p>
          <a:p>
            <a:r>
              <a:rPr lang="en-US" sz="5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 đa hình</a:t>
            </a:r>
          </a:p>
          <a:p>
            <a:r>
              <a:rPr lang="en-US" sz="45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(Polymorphysm)</a:t>
            </a:r>
          </a:p>
          <a:p>
            <a:endParaRPr lang="en-US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2152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Polymorphism?</a:t>
            </a:r>
          </a:p>
          <a:p>
            <a:r>
              <a:rPr lang="en-US" dirty="0"/>
              <a:t>Static polymorphism (or Compile-time polymorphism in Java)</a:t>
            </a:r>
          </a:p>
          <a:p>
            <a:r>
              <a:rPr lang="en-US" dirty="0"/>
              <a:t>Dynamic Polymorphism (or Run-time polymorphism in Java)</a:t>
            </a:r>
          </a:p>
          <a:p>
            <a:r>
              <a:rPr lang="en-US" dirty="0"/>
              <a:t>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2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16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000000"/>
                </a:solidFill>
                <a:latin typeface="proxima_novaregular"/>
              </a:rPr>
              <a:t>One of the important concepts in Object Oriented Programming (OOP) is polymorphism which means that a single action can be performed in different ways. 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proxima_novaregular"/>
              </a:rPr>
              <a:t>It is derived from the Greek words: poly and morphs meaning many and forms. The different forms exist when they are related through inheritance.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3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904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in 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4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E069B2-AB2E-AE2F-C151-EB023E04A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005" y="1711251"/>
            <a:ext cx="5923567" cy="44499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2497FA-63D9-CC0C-EF8D-4AEF58568E7B}"/>
              </a:ext>
            </a:extLst>
          </p:cNvPr>
          <p:cNvSpPr txBox="1"/>
          <p:nvPr/>
        </p:nvSpPr>
        <p:spPr>
          <a:xfrm>
            <a:off x="279647" y="1968756"/>
            <a:ext cx="45142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Java supports two types of Polymorphism:</a:t>
            </a:r>
            <a:endParaRPr lang="en-US" sz="2000" b="0" i="0" dirty="0">
              <a:solidFill>
                <a:srgbClr val="3A3A3A"/>
              </a:solidFill>
              <a:effectLst/>
              <a:latin typeface="Work Sans" panose="020B0604020202020204" pitchFamily="2" charset="0"/>
            </a:endParaRPr>
          </a:p>
          <a:p>
            <a:pPr algn="l"/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1- Compile-time polymorphism</a:t>
            </a:r>
          </a:p>
          <a:p>
            <a:pPr algn="l"/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    (</a:t>
            </a:r>
            <a:r>
              <a:rPr lang="en-US" sz="2000" b="0" i="0" dirty="0" err="1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đa</a:t>
            </a:r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 </a:t>
            </a:r>
            <a:r>
              <a:rPr lang="en-US" sz="2000" b="0" i="0" dirty="0" err="1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hình</a:t>
            </a:r>
            <a:r>
              <a:rPr lang="en-US" sz="2000" dirty="0">
                <a:solidFill>
                  <a:srgbClr val="3A3A3A"/>
                </a:solidFill>
                <a:latin typeface="Work Sans" panose="020B0604020202020204" pitchFamily="2" charset="0"/>
              </a:rPr>
              <a:t> </a:t>
            </a:r>
            <a:r>
              <a:rPr lang="en-US" sz="2000" b="0" i="0" dirty="0" err="1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tĩnh</a:t>
            </a:r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)</a:t>
            </a:r>
          </a:p>
          <a:p>
            <a:pPr algn="l"/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2- Run-time polymorphism </a:t>
            </a:r>
          </a:p>
          <a:p>
            <a:pPr algn="l"/>
            <a:r>
              <a:rPr lang="en-US" sz="2000" dirty="0">
                <a:solidFill>
                  <a:srgbClr val="3A3A3A"/>
                </a:solidFill>
                <a:latin typeface="Work Sans" panose="020B0604020202020204" pitchFamily="2" charset="0"/>
              </a:rPr>
              <a:t>    </a:t>
            </a:r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(</a:t>
            </a:r>
            <a:r>
              <a:rPr lang="en-US" sz="2000" b="0" i="0" dirty="0" err="1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đa</a:t>
            </a:r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 </a:t>
            </a:r>
            <a:r>
              <a:rPr lang="en-US" sz="2000" b="0" i="0" dirty="0" err="1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hình</a:t>
            </a:r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 </a:t>
            </a:r>
            <a:r>
              <a:rPr lang="en-US" sz="2000" b="0" i="0" dirty="0" err="1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động</a:t>
            </a:r>
            <a:r>
              <a:rPr lang="en-US" sz="2000" b="0" i="0" dirty="0">
                <a:solidFill>
                  <a:srgbClr val="3A3A3A"/>
                </a:solidFill>
                <a:effectLst/>
                <a:latin typeface="Work Sans" panose="020B0604020202020204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7867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Static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proxima_novaregular"/>
              </a:rPr>
              <a:t>Static polymorphism is also known as “Compile-time polymorphism”. Whatever polymorphism is to be performed, is performed at compile time.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proxima_novaregular"/>
              </a:rPr>
              <a:t>In Java, the compile-time polymorphism is performed using </a:t>
            </a:r>
            <a:r>
              <a:rPr lang="en-US" b="1" dirty="0">
                <a:solidFill>
                  <a:srgbClr val="FF0000"/>
                </a:solidFill>
                <a:latin typeface="proxima_novaregular"/>
              </a:rPr>
              <a:t>“Method Overloading</a:t>
            </a:r>
            <a:r>
              <a:rPr lang="en-US" dirty="0">
                <a:solidFill>
                  <a:srgbClr val="FF0000"/>
                </a:solidFill>
                <a:latin typeface="proxima_novaregular"/>
              </a:rPr>
              <a:t>”. </a:t>
            </a:r>
            <a:r>
              <a:rPr lang="en-US" dirty="0">
                <a:solidFill>
                  <a:srgbClr val="000000"/>
                </a:solidFill>
                <a:latin typeface="proxima_novaregular"/>
              </a:rPr>
              <a:t>Using method overloading, we can have one or more methods with the same name and only differentiated on numbers or type or order of parameters.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proxima_novaregular"/>
              </a:rPr>
              <a:t>Method overloading is the most common implementation of compile-time polymorphism in Java. Java also supports operator overloading.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5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55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399" y="138223"/>
            <a:ext cx="7198557" cy="1220060"/>
          </a:xfrm>
        </p:spPr>
        <p:txBody>
          <a:bodyPr>
            <a:noAutofit/>
          </a:bodyPr>
          <a:lstStyle/>
          <a:p>
            <a:r>
              <a:rPr lang="en-US" sz="3200" dirty="0"/>
              <a:t>Polymorphism Example </a:t>
            </a:r>
            <a:br>
              <a:rPr lang="en-US" sz="3200" dirty="0"/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using Overloading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6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A667F8-8091-57FB-EA93-FA363181363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67" y="1358283"/>
            <a:ext cx="6032145" cy="5060118"/>
          </a:xfrm>
          <a:prstGeom prst="rect">
            <a:avLst/>
          </a:prstGeom>
        </p:spPr>
      </p:pic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A93D7DC1-2299-3E91-01CA-A60B5F5992D9}"/>
              </a:ext>
            </a:extLst>
          </p:cNvPr>
          <p:cNvSpPr/>
          <p:nvPr/>
        </p:nvSpPr>
        <p:spPr>
          <a:xfrm>
            <a:off x="6218576" y="1972323"/>
            <a:ext cx="2636668" cy="1660124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Using Overloading Method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198A05-04A2-25F1-D0D4-C12F9AF6FFAD}"/>
              </a:ext>
            </a:extLst>
          </p:cNvPr>
          <p:cNvCxnSpPr>
            <a:cxnSpLocks/>
          </p:cNvCxnSpPr>
          <p:nvPr/>
        </p:nvCxnSpPr>
        <p:spPr>
          <a:xfrm>
            <a:off x="4172505" y="2441359"/>
            <a:ext cx="2010560" cy="14204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18C02A3-CAD9-6EDB-6386-48662229D9A2}"/>
              </a:ext>
            </a:extLst>
          </p:cNvPr>
          <p:cNvCxnSpPr>
            <a:cxnSpLocks/>
          </p:cNvCxnSpPr>
          <p:nvPr/>
        </p:nvCxnSpPr>
        <p:spPr>
          <a:xfrm flipV="1">
            <a:off x="3116062" y="3429000"/>
            <a:ext cx="3126420" cy="84559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21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399" y="138223"/>
            <a:ext cx="7198557" cy="1220060"/>
          </a:xfrm>
        </p:spPr>
        <p:txBody>
          <a:bodyPr>
            <a:noAutofit/>
          </a:bodyPr>
          <a:lstStyle/>
          <a:p>
            <a:r>
              <a:rPr lang="en-US" sz="3200" dirty="0"/>
              <a:t>Polymorphism Example </a:t>
            </a:r>
            <a:br>
              <a:rPr lang="en-US" sz="3200" dirty="0"/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using Overloading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7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CB59D-53CE-EC92-D990-1505308E3A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04" y="1399755"/>
            <a:ext cx="5257352" cy="3651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2F0591-A9BE-6DAC-109B-B45378EE8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901" y="1551333"/>
            <a:ext cx="1979720" cy="1591362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EE683D-22AD-DBE4-02BD-55FB792C6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57" y="3460034"/>
            <a:ext cx="1979719" cy="1591361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2E038D-2440-1D76-CAB2-CE7B55056F36}"/>
              </a:ext>
            </a:extLst>
          </p:cNvPr>
          <p:cNvCxnSpPr>
            <a:cxnSpLocks/>
          </p:cNvCxnSpPr>
          <p:nvPr/>
        </p:nvCxnSpPr>
        <p:spPr>
          <a:xfrm flipV="1">
            <a:off x="2698812" y="2938509"/>
            <a:ext cx="3364637" cy="8322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9A8F68-28CD-4F12-3C99-586A3D12C88A}"/>
              </a:ext>
            </a:extLst>
          </p:cNvPr>
          <p:cNvCxnSpPr>
            <a:cxnSpLocks/>
          </p:cNvCxnSpPr>
          <p:nvPr/>
        </p:nvCxnSpPr>
        <p:spPr>
          <a:xfrm>
            <a:off x="3031724" y="4245315"/>
            <a:ext cx="3080552" cy="24553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45155BE4-D300-618D-707D-18FF86616042}"/>
              </a:ext>
            </a:extLst>
          </p:cNvPr>
          <p:cNvSpPr/>
          <p:nvPr/>
        </p:nvSpPr>
        <p:spPr>
          <a:xfrm>
            <a:off x="1384919" y="4890902"/>
            <a:ext cx="4398884" cy="1538754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u="sng" dirty="0"/>
              <a:t>Overloading method in Java</a:t>
            </a:r>
            <a:endParaRPr lang="en-US" sz="2400" b="1" i="0" u="sng" dirty="0">
              <a:solidFill>
                <a:srgbClr val="3A3A3A"/>
              </a:solidFill>
              <a:effectLst/>
              <a:latin typeface="Work Sans" pitchFamily="2" charset="0"/>
            </a:endParaRPr>
          </a:p>
          <a:p>
            <a:pPr algn="l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#1) Type Of Parameters </a:t>
            </a:r>
          </a:p>
          <a:p>
            <a:pPr algn="l"/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#2) Number Of Parameters </a:t>
            </a:r>
          </a:p>
          <a:p>
            <a:r>
              <a:rPr lang="en-US" b="0" i="0" dirty="0">
                <a:solidFill>
                  <a:srgbClr val="3A3A3A"/>
                </a:solidFill>
                <a:effectLst/>
                <a:latin typeface="Work Sans" pitchFamily="2" charset="0"/>
              </a:rPr>
              <a:t>#3) Sequence Of Parameters</a:t>
            </a:r>
          </a:p>
        </p:txBody>
      </p:sp>
    </p:spTree>
    <p:extLst>
      <p:ext uri="{BB962C8B-B14F-4D97-AF65-F5344CB8AC3E}">
        <p14:creationId xmlns:p14="http://schemas.microsoft.com/office/powerpoint/2010/main" val="61972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proxima_novaregular"/>
              </a:rPr>
              <a:t>Dynamic polymorphism is also known as </a:t>
            </a:r>
            <a:r>
              <a:rPr lang="en-US" b="1" dirty="0">
                <a:solidFill>
                  <a:srgbClr val="000000"/>
                </a:solidFill>
                <a:latin typeface="proxima_novaregular"/>
              </a:rPr>
              <a:t>“Run-time polymorphism”.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proxima_novaregular"/>
              </a:rPr>
              <a:t>In this form of </a:t>
            </a:r>
            <a:r>
              <a:rPr lang="en-US" b="1" i="0" dirty="0">
                <a:solidFill>
                  <a:srgbClr val="000000"/>
                </a:solidFill>
                <a:effectLst/>
                <a:latin typeface="proxima_novaregular"/>
              </a:rPr>
              <a:t>polymorphism in java</a:t>
            </a:r>
            <a:r>
              <a:rPr lang="en-US" b="0" i="0" dirty="0">
                <a:solidFill>
                  <a:srgbClr val="000000"/>
                </a:solidFill>
                <a:effectLst/>
                <a:latin typeface="proxima_novaregular"/>
              </a:rPr>
              <a:t>, the compiler doesn’t determine the method to be executed. It’s the Java Virtual Machine (JVM) that performs the process at the run time.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proxima_novaregular"/>
              </a:rPr>
              <a:t>Dynamic polymorphism in Java refers to the process when a call to an overridden process is resolved at the run time.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proxima_novaregular"/>
              </a:rPr>
              <a:t>The reference variable of a superclass calls the overridden method. As the name dynamic connotes, dynamic polymorphism happens among different classes as opposed to static polymorphism.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proxima_novaregular"/>
              </a:rPr>
              <a:t>Dynamic polymorphism facilitates the </a:t>
            </a:r>
            <a:r>
              <a:rPr lang="en-US" b="1" i="0" dirty="0">
                <a:solidFill>
                  <a:schemeClr val="accent1">
                    <a:lumMod val="75000"/>
                  </a:schemeClr>
                </a:solidFill>
                <a:effectLst/>
                <a:latin typeface="proxima_novaregular"/>
              </a:rPr>
              <a:t>overriding of methods </a:t>
            </a:r>
            <a:r>
              <a:rPr lang="en-US" b="0" i="0" dirty="0">
                <a:solidFill>
                  <a:srgbClr val="000000"/>
                </a:solidFill>
                <a:effectLst/>
                <a:latin typeface="proxima_novaregular"/>
              </a:rPr>
              <a:t>in Java which is core for run-time polymorphism.</a:t>
            </a:r>
            <a:endParaRPr lang="en-US" dirty="0">
              <a:solidFill>
                <a:srgbClr val="000000"/>
              </a:solidFill>
              <a:latin typeface="proxima_novaregula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8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7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399" y="138223"/>
            <a:ext cx="7198557" cy="1220060"/>
          </a:xfrm>
        </p:spPr>
        <p:txBody>
          <a:bodyPr>
            <a:noAutofit/>
          </a:bodyPr>
          <a:lstStyle/>
          <a:p>
            <a:r>
              <a:rPr lang="en-US" sz="3200" dirty="0"/>
              <a:t>Polymorphism Example </a:t>
            </a:r>
            <a:br>
              <a:rPr lang="en-US" sz="3200" dirty="0"/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using Method Overriding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9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A93D7DC1-2299-3E91-01CA-A60B5F5992D9}"/>
              </a:ext>
            </a:extLst>
          </p:cNvPr>
          <p:cNvSpPr/>
          <p:nvPr/>
        </p:nvSpPr>
        <p:spPr>
          <a:xfrm>
            <a:off x="6251517" y="1492543"/>
            <a:ext cx="2636668" cy="1312801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Superclass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C21A05-E809-916E-41EE-D76B0BC055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71" y="1456073"/>
            <a:ext cx="5537233" cy="481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48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399" y="138223"/>
            <a:ext cx="7198557" cy="1220060"/>
          </a:xfrm>
        </p:spPr>
        <p:txBody>
          <a:bodyPr>
            <a:noAutofit/>
          </a:bodyPr>
          <a:lstStyle/>
          <a:p>
            <a:r>
              <a:rPr lang="en-US" sz="3200" dirty="0"/>
              <a:t>Polymorphism Example </a:t>
            </a:r>
            <a:br>
              <a:rPr lang="en-US" sz="3200" dirty="0"/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using Method Overriding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10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A93D7DC1-2299-3E91-01CA-A60B5F5992D9}"/>
              </a:ext>
            </a:extLst>
          </p:cNvPr>
          <p:cNvSpPr/>
          <p:nvPr/>
        </p:nvSpPr>
        <p:spPr>
          <a:xfrm>
            <a:off x="6251517" y="1358283"/>
            <a:ext cx="2636668" cy="136716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00"/>
                </a:solidFill>
              </a:rPr>
              <a:t>Subclass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56D56-5561-6DFA-4DC4-85047703E8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15" y="1270376"/>
            <a:ext cx="5692224" cy="5082980"/>
          </a:xfrm>
          <a:prstGeom prst="rect">
            <a:avLst/>
          </a:prstGeom>
        </p:spPr>
      </p:pic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F3151A0D-4D34-18EA-3AFA-C0305A1E19CC}"/>
              </a:ext>
            </a:extLst>
          </p:cNvPr>
          <p:cNvSpPr/>
          <p:nvPr/>
        </p:nvSpPr>
        <p:spPr>
          <a:xfrm>
            <a:off x="6156663" y="2873527"/>
            <a:ext cx="2636668" cy="1642368"/>
          </a:xfrm>
          <a:prstGeom prst="wedgeEllipseCallout">
            <a:avLst>
              <a:gd name="adj1" fmla="val -157612"/>
              <a:gd name="adj2" fmla="val 37635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FF00"/>
                </a:solidFill>
              </a:rPr>
              <a:t>Method Overriding</a:t>
            </a:r>
          </a:p>
        </p:txBody>
      </p:sp>
    </p:spTree>
    <p:extLst>
      <p:ext uri="{BB962C8B-B14F-4D97-AF65-F5344CB8AC3E}">
        <p14:creationId xmlns:p14="http://schemas.microsoft.com/office/powerpoint/2010/main" val="95552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0AAB8750-3DEE-797A-268D-E7FFB1F27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7" y="1347245"/>
            <a:ext cx="5425910" cy="44698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399" y="138223"/>
            <a:ext cx="7198557" cy="1220060"/>
          </a:xfrm>
        </p:spPr>
        <p:txBody>
          <a:bodyPr>
            <a:noAutofit/>
          </a:bodyPr>
          <a:lstStyle/>
          <a:p>
            <a:r>
              <a:rPr lang="en-US" sz="3200" dirty="0"/>
              <a:t>Polymorphism Example </a:t>
            </a:r>
            <a:br>
              <a:rPr lang="en-US" sz="3200" dirty="0"/>
            </a:br>
            <a:r>
              <a:rPr lang="en-US" sz="3200" dirty="0"/>
              <a:t>using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Method Overriding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11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2F0591-A9BE-6DAC-109B-B45378EE8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970" y="1990817"/>
            <a:ext cx="1979720" cy="1591362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2E038D-2440-1D76-CAB2-CE7B55056F36}"/>
              </a:ext>
            </a:extLst>
          </p:cNvPr>
          <p:cNvCxnSpPr>
            <a:cxnSpLocks/>
          </p:cNvCxnSpPr>
          <p:nvPr/>
        </p:nvCxnSpPr>
        <p:spPr>
          <a:xfrm flipV="1">
            <a:off x="2583330" y="3429000"/>
            <a:ext cx="4039412" cy="94773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9A8F68-28CD-4F12-3C99-586A3D12C88A}"/>
              </a:ext>
            </a:extLst>
          </p:cNvPr>
          <p:cNvCxnSpPr>
            <a:cxnSpLocks/>
          </p:cNvCxnSpPr>
          <p:nvPr/>
        </p:nvCxnSpPr>
        <p:spPr>
          <a:xfrm>
            <a:off x="2583330" y="5053876"/>
            <a:ext cx="3206309" cy="2756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66A5FE07-170D-F05D-46D8-DB943504F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274" y="3937246"/>
            <a:ext cx="3047911" cy="238078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35966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F0C94032-CD4C-4C25-B0C2-CEC720522D92}" type="slidenum">
              <a:rPr kumimoji="0" lang="en-US" smtClean="0"/>
              <a:pPr eaLnBrk="1" latinLnBrk="0" hangingPunct="1"/>
              <a:t>12</a:t>
            </a:fld>
            <a:endParaRPr kumimoji="0" lang="en-US" dirty="0">
              <a:solidFill>
                <a:srgbClr val="FFFFFF"/>
              </a:solidFill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7956B2D8-B2F1-FCB4-FF7A-1EE9BA955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805" y="2091729"/>
            <a:ext cx="2890500" cy="28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3928108"/>
      </p:ext>
    </p:extLst>
  </p:cSld>
  <p:clrMapOvr>
    <a:masterClrMapping/>
  </p:clrMapOvr>
</p:sld>
</file>

<file path=ppt/theme/theme1.xml><?xml version="1.0" encoding="utf-8"?>
<a:theme xmlns:a="http://schemas.openxmlformats.org/drawingml/2006/main" name="HSU ppt template_Office2010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12115</TotalTime>
  <Words>385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Myriad Pro</vt:lpstr>
      <vt:lpstr>proxima_novaregular</vt:lpstr>
      <vt:lpstr>Work Sans</vt:lpstr>
      <vt:lpstr>HSU ppt template_Office2010</vt:lpstr>
      <vt:lpstr>PowerPoint Presentation</vt:lpstr>
      <vt:lpstr>Contents</vt:lpstr>
      <vt:lpstr>Polymorphism</vt:lpstr>
      <vt:lpstr>Polymorphism in Java</vt:lpstr>
      <vt:lpstr>Static polymorphism</vt:lpstr>
      <vt:lpstr>Polymorphism Example  using Overloading method</vt:lpstr>
      <vt:lpstr>Polymorphism Example  using Overloading method</vt:lpstr>
      <vt:lpstr>Dynamic polymorphism</vt:lpstr>
      <vt:lpstr>Polymorphism Example  using Method Overriding</vt:lpstr>
      <vt:lpstr>Polymorphism Example  using Method Overriding</vt:lpstr>
      <vt:lpstr>Polymorphism Example  using Method Overriding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Thi Thanh</dc:creator>
  <cp:lastModifiedBy>SON Nguyen Van</cp:lastModifiedBy>
  <cp:revision>523</cp:revision>
  <dcterms:created xsi:type="dcterms:W3CDTF">2014-01-20T04:03:40Z</dcterms:created>
  <dcterms:modified xsi:type="dcterms:W3CDTF">2024-09-11T07:18:04Z</dcterms:modified>
</cp:coreProperties>
</file>