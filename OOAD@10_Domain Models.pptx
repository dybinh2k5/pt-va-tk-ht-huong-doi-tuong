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handoutMasterIdLst>
    <p:handoutMasterId r:id="rId32"/>
  </p:handoutMasterIdLst>
  <p:sldIdLst>
    <p:sldId id="401" r:id="rId2"/>
    <p:sldId id="362" r:id="rId3"/>
    <p:sldId id="403" r:id="rId4"/>
    <p:sldId id="363" r:id="rId5"/>
    <p:sldId id="338" r:id="rId6"/>
    <p:sldId id="366" r:id="rId7"/>
    <p:sldId id="408" r:id="rId8"/>
    <p:sldId id="343" r:id="rId9"/>
    <p:sldId id="369" r:id="rId10"/>
    <p:sldId id="353" r:id="rId11"/>
    <p:sldId id="387" r:id="rId12"/>
    <p:sldId id="384" r:id="rId13"/>
    <p:sldId id="385" r:id="rId14"/>
    <p:sldId id="386" r:id="rId15"/>
    <p:sldId id="358" r:id="rId16"/>
    <p:sldId id="407" r:id="rId17"/>
    <p:sldId id="405" r:id="rId18"/>
    <p:sldId id="406" r:id="rId19"/>
    <p:sldId id="388" r:id="rId20"/>
    <p:sldId id="389" r:id="rId21"/>
    <p:sldId id="390" r:id="rId22"/>
    <p:sldId id="392" r:id="rId23"/>
    <p:sldId id="393" r:id="rId24"/>
    <p:sldId id="394" r:id="rId25"/>
    <p:sldId id="395" r:id="rId26"/>
    <p:sldId id="397" r:id="rId27"/>
    <p:sldId id="398" r:id="rId28"/>
    <p:sldId id="391" r:id="rId29"/>
    <p:sldId id="404" r:id="rId30"/>
  </p:sldIdLst>
  <p:sldSz cx="9144000" cy="5943600"/>
  <p:notesSz cx="6858000" cy="9144000"/>
  <p:defaultTextStyle>
    <a:defPPr>
      <a:defRPr lang="en-US"/>
    </a:defPPr>
    <a:lvl1pPr marL="0" algn="l" defTabSz="724205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1pPr>
    <a:lvl2pPr marL="362102" algn="l" defTabSz="724205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2pPr>
    <a:lvl3pPr marL="724205" algn="l" defTabSz="724205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3pPr>
    <a:lvl4pPr marL="1086307" algn="l" defTabSz="724205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4pPr>
    <a:lvl5pPr marL="1448410" algn="l" defTabSz="724205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5pPr>
    <a:lvl6pPr marL="1810512" algn="l" defTabSz="724205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6pPr>
    <a:lvl7pPr marL="2172614" algn="l" defTabSz="724205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7pPr>
    <a:lvl8pPr marL="2534717" algn="l" defTabSz="724205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8pPr>
    <a:lvl9pPr marL="2896819" algn="l" defTabSz="724205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946" autoAdjust="0"/>
  </p:normalViewPr>
  <p:slideViewPr>
    <p:cSldViewPr snapToGrid="0">
      <p:cViewPr varScale="1">
        <p:scale>
          <a:sx n="72" d="100"/>
          <a:sy n="72" d="100"/>
        </p:scale>
        <p:origin x="1266" y="54"/>
      </p:cViewPr>
      <p:guideLst>
        <p:guide orient="horz" pos="18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84CE1A-3FE2-4F53-B6AD-F6960079A397}" type="doc">
      <dgm:prSet loTypeId="urn:microsoft.com/office/officeart/2005/8/layout/StepDownProcess" loCatId="process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A884F47-3369-4EC7-810D-3B56F820181B}">
      <dgm:prSet/>
      <dgm:spPr/>
      <dgm:t>
        <a:bodyPr/>
        <a:lstStyle/>
        <a:p>
          <a:pPr algn="l" rtl="0"/>
          <a:r>
            <a:rPr lang="en-AU" b="1" dirty="0" smtClean="0"/>
            <a:t>1. </a:t>
          </a:r>
          <a:r>
            <a:rPr lang="en-AU" b="1" dirty="0" err="1" smtClean="0"/>
            <a:t>Tìm</a:t>
          </a:r>
          <a:r>
            <a:rPr lang="en-AU" b="1" dirty="0" smtClean="0"/>
            <a:t> conceptual classes</a:t>
          </a:r>
          <a:endParaRPr lang="en-US" b="1" dirty="0"/>
        </a:p>
      </dgm:t>
    </dgm:pt>
    <dgm:pt modelId="{7EBC28FF-717D-4A0F-9764-92D143038E1C}" type="parTrans" cxnId="{28019115-44ED-4159-B19C-593F8C6B1F31}">
      <dgm:prSet/>
      <dgm:spPr/>
      <dgm:t>
        <a:bodyPr/>
        <a:lstStyle/>
        <a:p>
          <a:endParaRPr lang="en-US" b="1"/>
        </a:p>
      </dgm:t>
    </dgm:pt>
    <dgm:pt modelId="{1C7C3571-586F-4B1E-B34F-40942D63A8A2}" type="sibTrans" cxnId="{28019115-44ED-4159-B19C-593F8C6B1F31}">
      <dgm:prSet/>
      <dgm:spPr/>
      <dgm:t>
        <a:bodyPr/>
        <a:lstStyle/>
        <a:p>
          <a:endParaRPr lang="en-US" b="1"/>
        </a:p>
      </dgm:t>
    </dgm:pt>
    <dgm:pt modelId="{A5864CFB-575E-435F-9605-BDBBC645A9AE}">
      <dgm:prSet/>
      <dgm:spPr/>
      <dgm:t>
        <a:bodyPr/>
        <a:lstStyle/>
        <a:p>
          <a:pPr algn="l" rtl="0"/>
          <a:r>
            <a:rPr lang="en-AU" b="1" dirty="0" smtClean="0"/>
            <a:t>2. </a:t>
          </a:r>
          <a:r>
            <a:rPr lang="en-AU" b="1" dirty="0" err="1" smtClean="0"/>
            <a:t>Vẽ</a:t>
          </a:r>
          <a:r>
            <a:rPr lang="en-AU" b="1" dirty="0" smtClean="0"/>
            <a:t> </a:t>
          </a:r>
          <a:r>
            <a:rPr lang="en-AU" b="1" dirty="0" err="1" smtClean="0"/>
            <a:t>các</a:t>
          </a:r>
          <a:r>
            <a:rPr lang="en-AU" b="1" dirty="0" smtClean="0"/>
            <a:t> conceptual classes </a:t>
          </a:r>
          <a:r>
            <a:rPr lang="en-AU" b="1" dirty="0" err="1" smtClean="0"/>
            <a:t>bằng</a:t>
          </a:r>
          <a:r>
            <a:rPr lang="en-AU" b="1" dirty="0" smtClean="0"/>
            <a:t> UML</a:t>
          </a:r>
          <a:endParaRPr lang="en-US" b="1" dirty="0"/>
        </a:p>
      </dgm:t>
    </dgm:pt>
    <dgm:pt modelId="{7B77F210-7ED6-4C57-8463-399D15E62D85}" type="parTrans" cxnId="{DB7329D9-95B1-4744-8E8E-128484F4286E}">
      <dgm:prSet/>
      <dgm:spPr/>
      <dgm:t>
        <a:bodyPr/>
        <a:lstStyle/>
        <a:p>
          <a:endParaRPr lang="en-US" b="1"/>
        </a:p>
      </dgm:t>
    </dgm:pt>
    <dgm:pt modelId="{CEA544BB-2C14-4146-B1D1-C63E87C18A7F}" type="sibTrans" cxnId="{DB7329D9-95B1-4744-8E8E-128484F4286E}">
      <dgm:prSet/>
      <dgm:spPr/>
      <dgm:t>
        <a:bodyPr/>
        <a:lstStyle/>
        <a:p>
          <a:endParaRPr lang="en-US" b="1"/>
        </a:p>
      </dgm:t>
    </dgm:pt>
    <dgm:pt modelId="{D4B3BA85-515A-4383-AC6D-2FCFFDB925B9}">
      <dgm:prSet/>
      <dgm:spPr/>
      <dgm:t>
        <a:bodyPr/>
        <a:lstStyle/>
        <a:p>
          <a:pPr algn="l" rtl="0"/>
          <a:r>
            <a:rPr lang="en-AU" b="1" dirty="0" smtClean="0"/>
            <a:t>3. </a:t>
          </a:r>
          <a:r>
            <a:rPr lang="en-AU" b="1" dirty="0" err="1" smtClean="0"/>
            <a:t>Thêm</a:t>
          </a:r>
          <a:r>
            <a:rPr lang="en-AU" b="1" dirty="0" smtClean="0"/>
            <a:t> </a:t>
          </a:r>
          <a:r>
            <a:rPr lang="en-AU" b="1" dirty="0" err="1" smtClean="0"/>
            <a:t>mối</a:t>
          </a:r>
          <a:r>
            <a:rPr lang="en-AU" b="1" dirty="0" smtClean="0"/>
            <a:t> </a:t>
          </a:r>
          <a:r>
            <a:rPr lang="en-AU" b="1" dirty="0" err="1" smtClean="0"/>
            <a:t>quan</a:t>
          </a:r>
          <a:r>
            <a:rPr lang="en-AU" b="1" dirty="0" smtClean="0"/>
            <a:t> </a:t>
          </a:r>
          <a:r>
            <a:rPr lang="en-AU" b="1" dirty="0" err="1" smtClean="0"/>
            <a:t>hệ</a:t>
          </a:r>
          <a:r>
            <a:rPr lang="en-AU" b="1" dirty="0" smtClean="0"/>
            <a:t> (associations) </a:t>
          </a:r>
          <a:r>
            <a:rPr lang="en-AU" b="1" dirty="0" err="1" smtClean="0"/>
            <a:t>và</a:t>
          </a:r>
          <a:r>
            <a:rPr lang="en-AU" b="1" dirty="0" smtClean="0"/>
            <a:t> </a:t>
          </a:r>
          <a:r>
            <a:rPr lang="en-AU" b="1" dirty="0" err="1" smtClean="0"/>
            <a:t>thuộc</a:t>
          </a:r>
          <a:r>
            <a:rPr lang="en-AU" b="1" dirty="0" smtClean="0"/>
            <a:t> </a:t>
          </a:r>
          <a:r>
            <a:rPr lang="en-AU" b="1" dirty="0" err="1" smtClean="0"/>
            <a:t>tính</a:t>
          </a:r>
          <a:r>
            <a:rPr lang="en-AU" b="1" dirty="0" smtClean="0"/>
            <a:t> (attributes)</a:t>
          </a:r>
          <a:endParaRPr lang="en-US" b="1" dirty="0"/>
        </a:p>
      </dgm:t>
    </dgm:pt>
    <dgm:pt modelId="{6BDD33E7-D05A-4765-AC40-70EDBB0A131C}" type="parTrans" cxnId="{FA818196-1CE8-42EE-BB60-740BE1BF9192}">
      <dgm:prSet/>
      <dgm:spPr/>
      <dgm:t>
        <a:bodyPr/>
        <a:lstStyle/>
        <a:p>
          <a:endParaRPr lang="en-US" b="1"/>
        </a:p>
      </dgm:t>
    </dgm:pt>
    <dgm:pt modelId="{A0BAE976-AEFF-4A4D-96C4-B2EA54F4ECDB}" type="sibTrans" cxnId="{FA818196-1CE8-42EE-BB60-740BE1BF9192}">
      <dgm:prSet/>
      <dgm:spPr/>
      <dgm:t>
        <a:bodyPr/>
        <a:lstStyle/>
        <a:p>
          <a:endParaRPr lang="en-US" b="1"/>
        </a:p>
      </dgm:t>
    </dgm:pt>
    <dgm:pt modelId="{21FD1B3B-2B40-4596-AF4C-6027E7E8ED8D}" type="pres">
      <dgm:prSet presAssocID="{3984CE1A-3FE2-4F53-B6AD-F6960079A397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EC81277A-2E72-41C1-B26B-FE8C9A258496}" type="pres">
      <dgm:prSet presAssocID="{3A884F47-3369-4EC7-810D-3B56F820181B}" presName="composite" presStyleCnt="0"/>
      <dgm:spPr/>
    </dgm:pt>
    <dgm:pt modelId="{F892BDAB-736D-4272-8B33-CFD41FE06594}" type="pres">
      <dgm:prSet presAssocID="{3A884F47-3369-4EC7-810D-3B56F820181B}" presName="bentUpArrow1" presStyleLbl="alignImgPlace1" presStyleIdx="0" presStyleCnt="2"/>
      <dgm:spPr/>
    </dgm:pt>
    <dgm:pt modelId="{0193700A-FDE0-421E-B8F9-FE45E9760A86}" type="pres">
      <dgm:prSet presAssocID="{3A884F47-3369-4EC7-810D-3B56F820181B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E59BAB-FA1F-4C89-970E-E710877A8622}" type="pres">
      <dgm:prSet presAssocID="{3A884F47-3369-4EC7-810D-3B56F820181B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7EE1555E-AE78-48EE-83D4-285C6ECE78BA}" type="pres">
      <dgm:prSet presAssocID="{1C7C3571-586F-4B1E-B34F-40942D63A8A2}" presName="sibTrans" presStyleCnt="0"/>
      <dgm:spPr/>
    </dgm:pt>
    <dgm:pt modelId="{6182C152-C05A-4DDD-BF51-185A28154AF5}" type="pres">
      <dgm:prSet presAssocID="{A5864CFB-575E-435F-9605-BDBBC645A9AE}" presName="composite" presStyleCnt="0"/>
      <dgm:spPr/>
    </dgm:pt>
    <dgm:pt modelId="{2FB37878-DD41-4AC0-B7D4-4BD54B62C50A}" type="pres">
      <dgm:prSet presAssocID="{A5864CFB-575E-435F-9605-BDBBC645A9AE}" presName="bentUpArrow1" presStyleLbl="alignImgPlace1" presStyleIdx="1" presStyleCnt="2"/>
      <dgm:spPr/>
    </dgm:pt>
    <dgm:pt modelId="{D6EC08FA-BE7A-4035-BE5C-457C60191704}" type="pres">
      <dgm:prSet presAssocID="{A5864CFB-575E-435F-9605-BDBBC645A9AE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29C538-2450-4492-8255-7F3A25A4CF78}" type="pres">
      <dgm:prSet presAssocID="{A5864CFB-575E-435F-9605-BDBBC645A9AE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4FB7F7A0-6051-420E-9953-0C00412DA053}" type="pres">
      <dgm:prSet presAssocID="{CEA544BB-2C14-4146-B1D1-C63E87C18A7F}" presName="sibTrans" presStyleCnt="0"/>
      <dgm:spPr/>
    </dgm:pt>
    <dgm:pt modelId="{751B1000-504E-4156-9790-E4F62AB5B8CB}" type="pres">
      <dgm:prSet presAssocID="{D4B3BA85-515A-4383-AC6D-2FCFFDB925B9}" presName="composite" presStyleCnt="0"/>
      <dgm:spPr/>
    </dgm:pt>
    <dgm:pt modelId="{6A964CBB-1D09-4A6B-9228-D19F383A24E2}" type="pres">
      <dgm:prSet presAssocID="{D4B3BA85-515A-4383-AC6D-2FCFFDB925B9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A35E89-4143-47BC-9A1E-EE308D6EFBB5}" type="presOf" srcId="{3984CE1A-3FE2-4F53-B6AD-F6960079A397}" destId="{21FD1B3B-2B40-4596-AF4C-6027E7E8ED8D}" srcOrd="0" destOrd="0" presId="urn:microsoft.com/office/officeart/2005/8/layout/StepDownProcess"/>
    <dgm:cxn modelId="{DB7329D9-95B1-4744-8E8E-128484F4286E}" srcId="{3984CE1A-3FE2-4F53-B6AD-F6960079A397}" destId="{A5864CFB-575E-435F-9605-BDBBC645A9AE}" srcOrd="1" destOrd="0" parTransId="{7B77F210-7ED6-4C57-8463-399D15E62D85}" sibTransId="{CEA544BB-2C14-4146-B1D1-C63E87C18A7F}"/>
    <dgm:cxn modelId="{56BFE7B0-AC9D-40E8-9032-84F747B740E1}" type="presOf" srcId="{A5864CFB-575E-435F-9605-BDBBC645A9AE}" destId="{D6EC08FA-BE7A-4035-BE5C-457C60191704}" srcOrd="0" destOrd="0" presId="urn:microsoft.com/office/officeart/2005/8/layout/StepDownProcess"/>
    <dgm:cxn modelId="{28019115-44ED-4159-B19C-593F8C6B1F31}" srcId="{3984CE1A-3FE2-4F53-B6AD-F6960079A397}" destId="{3A884F47-3369-4EC7-810D-3B56F820181B}" srcOrd="0" destOrd="0" parTransId="{7EBC28FF-717D-4A0F-9764-92D143038E1C}" sibTransId="{1C7C3571-586F-4B1E-B34F-40942D63A8A2}"/>
    <dgm:cxn modelId="{CC5C6F08-C10D-40DE-A083-05B3F25F8D2E}" type="presOf" srcId="{3A884F47-3369-4EC7-810D-3B56F820181B}" destId="{0193700A-FDE0-421E-B8F9-FE45E9760A86}" srcOrd="0" destOrd="0" presId="urn:microsoft.com/office/officeart/2005/8/layout/StepDownProcess"/>
    <dgm:cxn modelId="{49F8CEF9-648A-4EE0-8F94-57B86783AD89}" type="presOf" srcId="{D4B3BA85-515A-4383-AC6D-2FCFFDB925B9}" destId="{6A964CBB-1D09-4A6B-9228-D19F383A24E2}" srcOrd="0" destOrd="0" presId="urn:microsoft.com/office/officeart/2005/8/layout/StepDownProcess"/>
    <dgm:cxn modelId="{FA818196-1CE8-42EE-BB60-740BE1BF9192}" srcId="{3984CE1A-3FE2-4F53-B6AD-F6960079A397}" destId="{D4B3BA85-515A-4383-AC6D-2FCFFDB925B9}" srcOrd="2" destOrd="0" parTransId="{6BDD33E7-D05A-4765-AC40-70EDBB0A131C}" sibTransId="{A0BAE976-AEFF-4A4D-96C4-B2EA54F4ECDB}"/>
    <dgm:cxn modelId="{D26B2052-8AE2-458C-AAA0-A94604DF3EE8}" type="presParOf" srcId="{21FD1B3B-2B40-4596-AF4C-6027E7E8ED8D}" destId="{EC81277A-2E72-41C1-B26B-FE8C9A258496}" srcOrd="0" destOrd="0" presId="urn:microsoft.com/office/officeart/2005/8/layout/StepDownProcess"/>
    <dgm:cxn modelId="{70A35F6C-A1CE-485A-828F-5C759602A3DC}" type="presParOf" srcId="{EC81277A-2E72-41C1-B26B-FE8C9A258496}" destId="{F892BDAB-736D-4272-8B33-CFD41FE06594}" srcOrd="0" destOrd="0" presId="urn:microsoft.com/office/officeart/2005/8/layout/StepDownProcess"/>
    <dgm:cxn modelId="{9FD817CE-F1F9-482F-B7E9-B9F37FAFB765}" type="presParOf" srcId="{EC81277A-2E72-41C1-B26B-FE8C9A258496}" destId="{0193700A-FDE0-421E-B8F9-FE45E9760A86}" srcOrd="1" destOrd="0" presId="urn:microsoft.com/office/officeart/2005/8/layout/StepDownProcess"/>
    <dgm:cxn modelId="{3AD53781-D06E-4198-881E-55F06317E732}" type="presParOf" srcId="{EC81277A-2E72-41C1-B26B-FE8C9A258496}" destId="{3DE59BAB-FA1F-4C89-970E-E710877A8622}" srcOrd="2" destOrd="0" presId="urn:microsoft.com/office/officeart/2005/8/layout/StepDownProcess"/>
    <dgm:cxn modelId="{62021E1F-2872-4935-9B9A-CA64DE2FA42F}" type="presParOf" srcId="{21FD1B3B-2B40-4596-AF4C-6027E7E8ED8D}" destId="{7EE1555E-AE78-48EE-83D4-285C6ECE78BA}" srcOrd="1" destOrd="0" presId="urn:microsoft.com/office/officeart/2005/8/layout/StepDownProcess"/>
    <dgm:cxn modelId="{5830F45D-F720-4E62-9447-9AD2ACC6A5FD}" type="presParOf" srcId="{21FD1B3B-2B40-4596-AF4C-6027E7E8ED8D}" destId="{6182C152-C05A-4DDD-BF51-185A28154AF5}" srcOrd="2" destOrd="0" presId="urn:microsoft.com/office/officeart/2005/8/layout/StepDownProcess"/>
    <dgm:cxn modelId="{96FB1E9E-3CF5-43BB-B088-F0013DFD2DAC}" type="presParOf" srcId="{6182C152-C05A-4DDD-BF51-185A28154AF5}" destId="{2FB37878-DD41-4AC0-B7D4-4BD54B62C50A}" srcOrd="0" destOrd="0" presId="urn:microsoft.com/office/officeart/2005/8/layout/StepDownProcess"/>
    <dgm:cxn modelId="{C3995C65-6D2D-4DFF-970E-9084DD341DBA}" type="presParOf" srcId="{6182C152-C05A-4DDD-BF51-185A28154AF5}" destId="{D6EC08FA-BE7A-4035-BE5C-457C60191704}" srcOrd="1" destOrd="0" presId="urn:microsoft.com/office/officeart/2005/8/layout/StepDownProcess"/>
    <dgm:cxn modelId="{594F20AC-F031-49BE-9174-184DB2070331}" type="presParOf" srcId="{6182C152-C05A-4DDD-BF51-185A28154AF5}" destId="{2B29C538-2450-4492-8255-7F3A25A4CF78}" srcOrd="2" destOrd="0" presId="urn:microsoft.com/office/officeart/2005/8/layout/StepDownProcess"/>
    <dgm:cxn modelId="{B881D6D2-50E1-4A51-A1AD-7B4EE916989F}" type="presParOf" srcId="{21FD1B3B-2B40-4596-AF4C-6027E7E8ED8D}" destId="{4FB7F7A0-6051-420E-9953-0C00412DA053}" srcOrd="3" destOrd="0" presId="urn:microsoft.com/office/officeart/2005/8/layout/StepDownProcess"/>
    <dgm:cxn modelId="{4F21236E-441A-4C8F-A7A0-C86A07F739F7}" type="presParOf" srcId="{21FD1B3B-2B40-4596-AF4C-6027E7E8ED8D}" destId="{751B1000-504E-4156-9790-E4F62AB5B8CB}" srcOrd="4" destOrd="0" presId="urn:microsoft.com/office/officeart/2005/8/layout/StepDownProcess"/>
    <dgm:cxn modelId="{42A45DEA-4C5B-45CC-9253-7EE2B55AB632}" type="presParOf" srcId="{751B1000-504E-4156-9790-E4F62AB5B8CB}" destId="{6A964CBB-1D09-4A6B-9228-D19F383A24E2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15B203-5FF0-4AF9-9E3F-E2F7043B1B3E}" type="doc">
      <dgm:prSet loTypeId="urn:microsoft.com/office/officeart/2005/8/layout/process1" loCatId="process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2843A05-D34E-4087-8BC0-3BE955860E89}">
      <dgm:prSet/>
      <dgm:spPr/>
      <dgm:t>
        <a:bodyPr/>
        <a:lstStyle/>
        <a:p>
          <a:pPr rtl="0"/>
          <a:r>
            <a:rPr lang="en-US" smtClean="0"/>
            <a:t>Đề bài</a:t>
          </a:r>
          <a:endParaRPr lang="en-US"/>
        </a:p>
      </dgm:t>
    </dgm:pt>
    <dgm:pt modelId="{FF9C9D55-E1E4-491B-9270-92BFCF5BFB87}" type="parTrans" cxnId="{8BDEB880-0E26-4A8A-A3FE-F384E9C74E04}">
      <dgm:prSet/>
      <dgm:spPr/>
      <dgm:t>
        <a:bodyPr/>
        <a:lstStyle/>
        <a:p>
          <a:endParaRPr lang="en-US"/>
        </a:p>
      </dgm:t>
    </dgm:pt>
    <dgm:pt modelId="{4796FFB7-29CB-4172-959E-05295951A026}" type="sibTrans" cxnId="{8BDEB880-0E26-4A8A-A3FE-F384E9C74E04}">
      <dgm:prSet/>
      <dgm:spPr/>
      <dgm:t>
        <a:bodyPr/>
        <a:lstStyle/>
        <a:p>
          <a:endParaRPr lang="en-US"/>
        </a:p>
      </dgm:t>
    </dgm:pt>
    <dgm:pt modelId="{FE4104ED-5B2F-4226-BED9-364217FB34BA}">
      <dgm:prSet/>
      <dgm:spPr/>
      <dgm:t>
        <a:bodyPr/>
        <a:lstStyle/>
        <a:p>
          <a:pPr rtl="0"/>
          <a:r>
            <a:rPr lang="en-US" dirty="0" smtClean="0"/>
            <a:t>Lược đồ use case</a:t>
          </a:r>
          <a:endParaRPr lang="en-US" dirty="0"/>
        </a:p>
      </dgm:t>
    </dgm:pt>
    <dgm:pt modelId="{A8800647-4986-4EF4-A990-61371C153DCF}" type="parTrans" cxnId="{1BE08EB3-0ACE-4202-B998-B277FAC212FB}">
      <dgm:prSet/>
      <dgm:spPr/>
      <dgm:t>
        <a:bodyPr/>
        <a:lstStyle/>
        <a:p>
          <a:endParaRPr lang="en-US"/>
        </a:p>
      </dgm:t>
    </dgm:pt>
    <dgm:pt modelId="{6FF0871C-8EDA-4809-AC2F-28FB4F325EF8}" type="sibTrans" cxnId="{1BE08EB3-0ACE-4202-B998-B277FAC212FB}">
      <dgm:prSet/>
      <dgm:spPr/>
      <dgm:t>
        <a:bodyPr/>
        <a:lstStyle/>
        <a:p>
          <a:endParaRPr lang="en-US"/>
        </a:p>
      </dgm:t>
    </dgm:pt>
    <dgm:pt modelId="{D5298764-343B-4134-BECC-0B3B4279DBE8}">
      <dgm:prSet/>
      <dgm:spPr/>
      <dgm:t>
        <a:bodyPr/>
        <a:lstStyle/>
        <a:p>
          <a:pPr rtl="0"/>
          <a:r>
            <a:rPr lang="en-US" smtClean="0"/>
            <a:t>Đặc tả use case</a:t>
          </a:r>
          <a:endParaRPr lang="en-US"/>
        </a:p>
      </dgm:t>
    </dgm:pt>
    <dgm:pt modelId="{6BFBE285-BFA3-4187-9DDC-0FFDFE373F17}" type="parTrans" cxnId="{31E28901-1581-4C1D-829F-3EDE08D0193C}">
      <dgm:prSet/>
      <dgm:spPr/>
      <dgm:t>
        <a:bodyPr/>
        <a:lstStyle/>
        <a:p>
          <a:endParaRPr lang="en-US"/>
        </a:p>
      </dgm:t>
    </dgm:pt>
    <dgm:pt modelId="{02BFD1C5-C3FC-4137-A4A8-955210F2A8B3}" type="sibTrans" cxnId="{31E28901-1581-4C1D-829F-3EDE08D0193C}">
      <dgm:prSet/>
      <dgm:spPr/>
      <dgm:t>
        <a:bodyPr/>
        <a:lstStyle/>
        <a:p>
          <a:endParaRPr lang="en-US"/>
        </a:p>
      </dgm:t>
    </dgm:pt>
    <dgm:pt modelId="{482DA8BE-42C2-46E4-8CD0-57D18DE3C814}">
      <dgm:prSet/>
      <dgm:spPr/>
      <dgm:t>
        <a:bodyPr/>
        <a:lstStyle/>
        <a:p>
          <a:pPr rtl="0"/>
          <a:r>
            <a:rPr lang="en-US" dirty="0" smtClean="0"/>
            <a:t>Domain model</a:t>
          </a:r>
          <a:endParaRPr lang="en-US" dirty="0"/>
        </a:p>
      </dgm:t>
    </dgm:pt>
    <dgm:pt modelId="{E2247A11-C3E8-4E0E-ADF5-4EA25C60B498}" type="parTrans" cxnId="{CDBD58C1-4455-4D97-AF18-331C615822CC}">
      <dgm:prSet/>
      <dgm:spPr/>
      <dgm:t>
        <a:bodyPr/>
        <a:lstStyle/>
        <a:p>
          <a:endParaRPr lang="en-US"/>
        </a:p>
      </dgm:t>
    </dgm:pt>
    <dgm:pt modelId="{742BB327-4FB0-4F86-BDCD-9C8028395274}" type="sibTrans" cxnId="{CDBD58C1-4455-4D97-AF18-331C615822CC}">
      <dgm:prSet/>
      <dgm:spPr/>
      <dgm:t>
        <a:bodyPr/>
        <a:lstStyle/>
        <a:p>
          <a:endParaRPr lang="en-US"/>
        </a:p>
      </dgm:t>
    </dgm:pt>
    <dgm:pt modelId="{52EDD73D-8AE7-4577-9958-D2CDD693FF3A}" type="pres">
      <dgm:prSet presAssocID="{0415B203-5FF0-4AF9-9E3F-E2F7043B1B3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8659F93-25BE-4C22-8AC1-481B6BA2D697}" type="pres">
      <dgm:prSet presAssocID="{22843A05-D34E-4087-8BC0-3BE955860E89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CE37DF-67D7-4933-849C-73005379964F}" type="pres">
      <dgm:prSet presAssocID="{4796FFB7-29CB-4172-959E-05295951A026}" presName="sibTrans" presStyleLbl="sibTrans2D1" presStyleIdx="0" presStyleCnt="3"/>
      <dgm:spPr/>
      <dgm:t>
        <a:bodyPr/>
        <a:lstStyle/>
        <a:p>
          <a:endParaRPr lang="en-US"/>
        </a:p>
      </dgm:t>
    </dgm:pt>
    <dgm:pt modelId="{2B2D0680-3D0C-4878-AE59-97C31B2737CE}" type="pres">
      <dgm:prSet presAssocID="{4796FFB7-29CB-4172-959E-05295951A026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1F28A3A8-7743-4325-A846-300B58B629A8}" type="pres">
      <dgm:prSet presAssocID="{FE4104ED-5B2F-4226-BED9-364217FB34BA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40B8A6-EEEA-44CA-A56D-8B76DEC39329}" type="pres">
      <dgm:prSet presAssocID="{6FF0871C-8EDA-4809-AC2F-28FB4F325EF8}" presName="sibTrans" presStyleLbl="sibTrans2D1" presStyleIdx="1" presStyleCnt="3"/>
      <dgm:spPr/>
      <dgm:t>
        <a:bodyPr/>
        <a:lstStyle/>
        <a:p>
          <a:endParaRPr lang="en-US"/>
        </a:p>
      </dgm:t>
    </dgm:pt>
    <dgm:pt modelId="{33E06472-33C8-43B2-BD91-D8333972B06A}" type="pres">
      <dgm:prSet presAssocID="{6FF0871C-8EDA-4809-AC2F-28FB4F325EF8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1D56DC59-1189-415E-AFA4-01F1DBD25FDA}" type="pres">
      <dgm:prSet presAssocID="{D5298764-343B-4134-BECC-0B3B4279DBE8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BFB555-497D-444D-AA0F-52368BA42C8C}" type="pres">
      <dgm:prSet presAssocID="{02BFD1C5-C3FC-4137-A4A8-955210F2A8B3}" presName="sibTrans" presStyleLbl="sibTrans2D1" presStyleIdx="2" presStyleCnt="3"/>
      <dgm:spPr/>
      <dgm:t>
        <a:bodyPr/>
        <a:lstStyle/>
        <a:p>
          <a:endParaRPr lang="en-US"/>
        </a:p>
      </dgm:t>
    </dgm:pt>
    <dgm:pt modelId="{C403CB40-410A-455C-92F5-9E75347FA44C}" type="pres">
      <dgm:prSet presAssocID="{02BFD1C5-C3FC-4137-A4A8-955210F2A8B3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27408D4F-1CBF-4569-9730-D5F0F48C706D}" type="pres">
      <dgm:prSet presAssocID="{482DA8BE-42C2-46E4-8CD0-57D18DE3C814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93C5452-14A5-4312-9383-3F37476554D7}" type="presOf" srcId="{4796FFB7-29CB-4172-959E-05295951A026}" destId="{2B2D0680-3D0C-4878-AE59-97C31B2737CE}" srcOrd="1" destOrd="0" presId="urn:microsoft.com/office/officeart/2005/8/layout/process1"/>
    <dgm:cxn modelId="{14693C7D-E9E5-4817-ABEC-12C0138677D3}" type="presOf" srcId="{02BFD1C5-C3FC-4137-A4A8-955210F2A8B3}" destId="{C403CB40-410A-455C-92F5-9E75347FA44C}" srcOrd="1" destOrd="0" presId="urn:microsoft.com/office/officeart/2005/8/layout/process1"/>
    <dgm:cxn modelId="{8BDEB880-0E26-4A8A-A3FE-F384E9C74E04}" srcId="{0415B203-5FF0-4AF9-9E3F-E2F7043B1B3E}" destId="{22843A05-D34E-4087-8BC0-3BE955860E89}" srcOrd="0" destOrd="0" parTransId="{FF9C9D55-E1E4-491B-9270-92BFCF5BFB87}" sibTransId="{4796FFB7-29CB-4172-959E-05295951A026}"/>
    <dgm:cxn modelId="{88295116-381C-4D90-A19A-6BF97DB441FF}" type="presOf" srcId="{4796FFB7-29CB-4172-959E-05295951A026}" destId="{4ECE37DF-67D7-4933-849C-73005379964F}" srcOrd="0" destOrd="0" presId="urn:microsoft.com/office/officeart/2005/8/layout/process1"/>
    <dgm:cxn modelId="{1BE08EB3-0ACE-4202-B998-B277FAC212FB}" srcId="{0415B203-5FF0-4AF9-9E3F-E2F7043B1B3E}" destId="{FE4104ED-5B2F-4226-BED9-364217FB34BA}" srcOrd="1" destOrd="0" parTransId="{A8800647-4986-4EF4-A990-61371C153DCF}" sibTransId="{6FF0871C-8EDA-4809-AC2F-28FB4F325EF8}"/>
    <dgm:cxn modelId="{C0403DD8-10EC-49CD-A7D2-58255160B226}" type="presOf" srcId="{02BFD1C5-C3FC-4137-A4A8-955210F2A8B3}" destId="{0BBFB555-497D-444D-AA0F-52368BA42C8C}" srcOrd="0" destOrd="0" presId="urn:microsoft.com/office/officeart/2005/8/layout/process1"/>
    <dgm:cxn modelId="{31E28901-1581-4C1D-829F-3EDE08D0193C}" srcId="{0415B203-5FF0-4AF9-9E3F-E2F7043B1B3E}" destId="{D5298764-343B-4134-BECC-0B3B4279DBE8}" srcOrd="2" destOrd="0" parTransId="{6BFBE285-BFA3-4187-9DDC-0FFDFE373F17}" sibTransId="{02BFD1C5-C3FC-4137-A4A8-955210F2A8B3}"/>
    <dgm:cxn modelId="{CEA23C70-BF1E-473C-B39C-4FFF7D406856}" type="presOf" srcId="{D5298764-343B-4134-BECC-0B3B4279DBE8}" destId="{1D56DC59-1189-415E-AFA4-01F1DBD25FDA}" srcOrd="0" destOrd="0" presId="urn:microsoft.com/office/officeart/2005/8/layout/process1"/>
    <dgm:cxn modelId="{746A8D51-9066-4A32-870E-1C567CCDBF27}" type="presOf" srcId="{6FF0871C-8EDA-4809-AC2F-28FB4F325EF8}" destId="{33E06472-33C8-43B2-BD91-D8333972B06A}" srcOrd="1" destOrd="0" presId="urn:microsoft.com/office/officeart/2005/8/layout/process1"/>
    <dgm:cxn modelId="{E7D0F114-C91C-416E-8E46-964B4DAF451B}" type="presOf" srcId="{482DA8BE-42C2-46E4-8CD0-57D18DE3C814}" destId="{27408D4F-1CBF-4569-9730-D5F0F48C706D}" srcOrd="0" destOrd="0" presId="urn:microsoft.com/office/officeart/2005/8/layout/process1"/>
    <dgm:cxn modelId="{EF49E580-D814-46EA-9FD4-C6F9F756E245}" type="presOf" srcId="{6FF0871C-8EDA-4809-AC2F-28FB4F325EF8}" destId="{2C40B8A6-EEEA-44CA-A56D-8B76DEC39329}" srcOrd="0" destOrd="0" presId="urn:microsoft.com/office/officeart/2005/8/layout/process1"/>
    <dgm:cxn modelId="{FA9D1D53-FF42-48CA-9FD5-ED5CFB101462}" type="presOf" srcId="{0415B203-5FF0-4AF9-9E3F-E2F7043B1B3E}" destId="{52EDD73D-8AE7-4577-9958-D2CDD693FF3A}" srcOrd="0" destOrd="0" presId="urn:microsoft.com/office/officeart/2005/8/layout/process1"/>
    <dgm:cxn modelId="{CD330161-986B-44BA-9EFA-C1A1E140817C}" type="presOf" srcId="{22843A05-D34E-4087-8BC0-3BE955860E89}" destId="{68659F93-25BE-4C22-8AC1-481B6BA2D697}" srcOrd="0" destOrd="0" presId="urn:microsoft.com/office/officeart/2005/8/layout/process1"/>
    <dgm:cxn modelId="{CDBD58C1-4455-4D97-AF18-331C615822CC}" srcId="{0415B203-5FF0-4AF9-9E3F-E2F7043B1B3E}" destId="{482DA8BE-42C2-46E4-8CD0-57D18DE3C814}" srcOrd="3" destOrd="0" parTransId="{E2247A11-C3E8-4E0E-ADF5-4EA25C60B498}" sibTransId="{742BB327-4FB0-4F86-BDCD-9C8028395274}"/>
    <dgm:cxn modelId="{8ADFFAC0-8706-4453-9135-BC5F992D36A1}" type="presOf" srcId="{FE4104ED-5B2F-4226-BED9-364217FB34BA}" destId="{1F28A3A8-7743-4325-A846-300B58B629A8}" srcOrd="0" destOrd="0" presId="urn:microsoft.com/office/officeart/2005/8/layout/process1"/>
    <dgm:cxn modelId="{DBDFADAB-3D89-4C3D-B138-3896EF535B3C}" type="presParOf" srcId="{52EDD73D-8AE7-4577-9958-D2CDD693FF3A}" destId="{68659F93-25BE-4C22-8AC1-481B6BA2D697}" srcOrd="0" destOrd="0" presId="urn:microsoft.com/office/officeart/2005/8/layout/process1"/>
    <dgm:cxn modelId="{BB5A0134-34F0-4722-A21D-B2F796438C3B}" type="presParOf" srcId="{52EDD73D-8AE7-4577-9958-D2CDD693FF3A}" destId="{4ECE37DF-67D7-4933-849C-73005379964F}" srcOrd="1" destOrd="0" presId="urn:microsoft.com/office/officeart/2005/8/layout/process1"/>
    <dgm:cxn modelId="{5A91442A-9517-4AE0-9CEB-BF9D53D09192}" type="presParOf" srcId="{4ECE37DF-67D7-4933-849C-73005379964F}" destId="{2B2D0680-3D0C-4878-AE59-97C31B2737CE}" srcOrd="0" destOrd="0" presId="urn:microsoft.com/office/officeart/2005/8/layout/process1"/>
    <dgm:cxn modelId="{99AF43B5-0AE9-4572-B704-71F015991B69}" type="presParOf" srcId="{52EDD73D-8AE7-4577-9958-D2CDD693FF3A}" destId="{1F28A3A8-7743-4325-A846-300B58B629A8}" srcOrd="2" destOrd="0" presId="urn:microsoft.com/office/officeart/2005/8/layout/process1"/>
    <dgm:cxn modelId="{D25841EC-695F-4963-AB2E-E0BF249E6298}" type="presParOf" srcId="{52EDD73D-8AE7-4577-9958-D2CDD693FF3A}" destId="{2C40B8A6-EEEA-44CA-A56D-8B76DEC39329}" srcOrd="3" destOrd="0" presId="urn:microsoft.com/office/officeart/2005/8/layout/process1"/>
    <dgm:cxn modelId="{61680C5D-34DF-4A55-BCE7-2480A790AA25}" type="presParOf" srcId="{2C40B8A6-EEEA-44CA-A56D-8B76DEC39329}" destId="{33E06472-33C8-43B2-BD91-D8333972B06A}" srcOrd="0" destOrd="0" presId="urn:microsoft.com/office/officeart/2005/8/layout/process1"/>
    <dgm:cxn modelId="{91FB3A85-5096-46A8-9FB4-DA7D045ACE55}" type="presParOf" srcId="{52EDD73D-8AE7-4577-9958-D2CDD693FF3A}" destId="{1D56DC59-1189-415E-AFA4-01F1DBD25FDA}" srcOrd="4" destOrd="0" presId="urn:microsoft.com/office/officeart/2005/8/layout/process1"/>
    <dgm:cxn modelId="{FFF3ECA4-77CD-44D5-9796-ED9A53EFA9BB}" type="presParOf" srcId="{52EDD73D-8AE7-4577-9958-D2CDD693FF3A}" destId="{0BBFB555-497D-444D-AA0F-52368BA42C8C}" srcOrd="5" destOrd="0" presId="urn:microsoft.com/office/officeart/2005/8/layout/process1"/>
    <dgm:cxn modelId="{79CBE4AC-B932-4A1F-9741-C06600D55E33}" type="presParOf" srcId="{0BBFB555-497D-444D-AA0F-52368BA42C8C}" destId="{C403CB40-410A-455C-92F5-9E75347FA44C}" srcOrd="0" destOrd="0" presId="urn:microsoft.com/office/officeart/2005/8/layout/process1"/>
    <dgm:cxn modelId="{AF4CA242-129A-4073-8818-A31316E59672}" type="presParOf" srcId="{52EDD73D-8AE7-4577-9958-D2CDD693FF3A}" destId="{27408D4F-1CBF-4569-9730-D5F0F48C706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92BDAB-736D-4272-8B33-CFD41FE06594}">
      <dsp:nvSpPr>
        <dsp:cNvPr id="0" name=""/>
        <dsp:cNvSpPr/>
      </dsp:nvSpPr>
      <dsp:spPr>
        <a:xfrm rot="5400000">
          <a:off x="2061531" y="1176995"/>
          <a:ext cx="1040950" cy="118508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193700A-FDE0-421E-B8F9-FE45E9760A86}">
      <dsp:nvSpPr>
        <dsp:cNvPr id="0" name=""/>
        <dsp:cNvSpPr/>
      </dsp:nvSpPr>
      <dsp:spPr>
        <a:xfrm>
          <a:off x="1785742" y="23080"/>
          <a:ext cx="1752348" cy="122658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500" b="1" kern="1200" dirty="0" smtClean="0"/>
            <a:t>1. </a:t>
          </a:r>
          <a:r>
            <a:rPr lang="en-AU" sz="1500" b="1" kern="1200" dirty="0" err="1" smtClean="0"/>
            <a:t>Tìm</a:t>
          </a:r>
          <a:r>
            <a:rPr lang="en-AU" sz="1500" b="1" kern="1200" dirty="0" smtClean="0"/>
            <a:t> conceptual classes</a:t>
          </a:r>
          <a:endParaRPr lang="en-US" sz="1500" b="1" kern="1200" dirty="0"/>
        </a:p>
      </dsp:txBody>
      <dsp:txXfrm>
        <a:off x="1845630" y="82968"/>
        <a:ext cx="1632572" cy="1106811"/>
      </dsp:txXfrm>
    </dsp:sp>
    <dsp:sp modelId="{3DE59BAB-FA1F-4C89-970E-E710877A8622}">
      <dsp:nvSpPr>
        <dsp:cNvPr id="0" name=""/>
        <dsp:cNvSpPr/>
      </dsp:nvSpPr>
      <dsp:spPr>
        <a:xfrm>
          <a:off x="3538091" y="140063"/>
          <a:ext cx="1274491" cy="991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B37878-DD41-4AC0-B7D4-4BD54B62C50A}">
      <dsp:nvSpPr>
        <dsp:cNvPr id="0" name=""/>
        <dsp:cNvSpPr/>
      </dsp:nvSpPr>
      <dsp:spPr>
        <a:xfrm rot="5400000">
          <a:off x="3514414" y="2554857"/>
          <a:ext cx="1040950" cy="118508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-2993177"/>
            <a:satOff val="35670"/>
            <a:lumOff val="16917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6EC08FA-BE7A-4035-BE5C-457C60191704}">
      <dsp:nvSpPr>
        <dsp:cNvPr id="0" name=""/>
        <dsp:cNvSpPr/>
      </dsp:nvSpPr>
      <dsp:spPr>
        <a:xfrm>
          <a:off x="3238625" y="1400942"/>
          <a:ext cx="1752348" cy="122658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4">
                <a:hueOff val="-2250323"/>
                <a:satOff val="0"/>
                <a:lumOff val="8236"/>
                <a:alphaOff val="0"/>
                <a:tint val="50000"/>
                <a:satMod val="300000"/>
              </a:schemeClr>
            </a:gs>
            <a:gs pos="35000">
              <a:schemeClr val="accent4">
                <a:hueOff val="-2250323"/>
                <a:satOff val="0"/>
                <a:lumOff val="8236"/>
                <a:alphaOff val="0"/>
                <a:tint val="37000"/>
                <a:satMod val="300000"/>
              </a:schemeClr>
            </a:gs>
            <a:gs pos="100000">
              <a:schemeClr val="accent4">
                <a:hueOff val="-2250323"/>
                <a:satOff val="0"/>
                <a:lumOff val="823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500" b="1" kern="1200" dirty="0" smtClean="0"/>
            <a:t>2. </a:t>
          </a:r>
          <a:r>
            <a:rPr lang="en-AU" sz="1500" b="1" kern="1200" dirty="0" err="1" smtClean="0"/>
            <a:t>Vẽ</a:t>
          </a:r>
          <a:r>
            <a:rPr lang="en-AU" sz="1500" b="1" kern="1200" dirty="0" smtClean="0"/>
            <a:t> </a:t>
          </a:r>
          <a:r>
            <a:rPr lang="en-AU" sz="1500" b="1" kern="1200" dirty="0" err="1" smtClean="0"/>
            <a:t>các</a:t>
          </a:r>
          <a:r>
            <a:rPr lang="en-AU" sz="1500" b="1" kern="1200" dirty="0" smtClean="0"/>
            <a:t> conceptual classes </a:t>
          </a:r>
          <a:r>
            <a:rPr lang="en-AU" sz="1500" b="1" kern="1200" dirty="0" err="1" smtClean="0"/>
            <a:t>bằng</a:t>
          </a:r>
          <a:r>
            <a:rPr lang="en-AU" sz="1500" b="1" kern="1200" dirty="0" smtClean="0"/>
            <a:t> UML</a:t>
          </a:r>
          <a:endParaRPr lang="en-US" sz="1500" b="1" kern="1200" dirty="0"/>
        </a:p>
      </dsp:txBody>
      <dsp:txXfrm>
        <a:off x="3298513" y="1460830"/>
        <a:ext cx="1632572" cy="1106811"/>
      </dsp:txXfrm>
    </dsp:sp>
    <dsp:sp modelId="{2B29C538-2450-4492-8255-7F3A25A4CF78}">
      <dsp:nvSpPr>
        <dsp:cNvPr id="0" name=""/>
        <dsp:cNvSpPr/>
      </dsp:nvSpPr>
      <dsp:spPr>
        <a:xfrm>
          <a:off x="4990974" y="1517925"/>
          <a:ext cx="1274491" cy="991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964CBB-1D09-4A6B-9228-D19F383A24E2}">
      <dsp:nvSpPr>
        <dsp:cNvPr id="0" name=""/>
        <dsp:cNvSpPr/>
      </dsp:nvSpPr>
      <dsp:spPr>
        <a:xfrm>
          <a:off x="4691508" y="2778804"/>
          <a:ext cx="1752348" cy="122658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4">
                <a:hueOff val="-4500646"/>
                <a:satOff val="0"/>
                <a:lumOff val="16471"/>
                <a:alphaOff val="0"/>
                <a:tint val="50000"/>
                <a:satMod val="300000"/>
              </a:schemeClr>
            </a:gs>
            <a:gs pos="35000">
              <a:schemeClr val="accent4">
                <a:hueOff val="-4500646"/>
                <a:satOff val="0"/>
                <a:lumOff val="16471"/>
                <a:alphaOff val="0"/>
                <a:tint val="37000"/>
                <a:satMod val="300000"/>
              </a:schemeClr>
            </a:gs>
            <a:gs pos="100000">
              <a:schemeClr val="accent4">
                <a:hueOff val="-4500646"/>
                <a:satOff val="0"/>
                <a:lumOff val="1647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500" b="1" kern="1200" dirty="0" smtClean="0"/>
            <a:t>3. </a:t>
          </a:r>
          <a:r>
            <a:rPr lang="en-AU" sz="1500" b="1" kern="1200" dirty="0" err="1" smtClean="0"/>
            <a:t>Thêm</a:t>
          </a:r>
          <a:r>
            <a:rPr lang="en-AU" sz="1500" b="1" kern="1200" dirty="0" smtClean="0"/>
            <a:t> </a:t>
          </a:r>
          <a:r>
            <a:rPr lang="en-AU" sz="1500" b="1" kern="1200" dirty="0" err="1" smtClean="0"/>
            <a:t>mối</a:t>
          </a:r>
          <a:r>
            <a:rPr lang="en-AU" sz="1500" b="1" kern="1200" dirty="0" smtClean="0"/>
            <a:t> </a:t>
          </a:r>
          <a:r>
            <a:rPr lang="en-AU" sz="1500" b="1" kern="1200" dirty="0" err="1" smtClean="0"/>
            <a:t>quan</a:t>
          </a:r>
          <a:r>
            <a:rPr lang="en-AU" sz="1500" b="1" kern="1200" dirty="0" smtClean="0"/>
            <a:t> </a:t>
          </a:r>
          <a:r>
            <a:rPr lang="en-AU" sz="1500" b="1" kern="1200" dirty="0" err="1" smtClean="0"/>
            <a:t>hệ</a:t>
          </a:r>
          <a:r>
            <a:rPr lang="en-AU" sz="1500" b="1" kern="1200" dirty="0" smtClean="0"/>
            <a:t> (associations) </a:t>
          </a:r>
          <a:r>
            <a:rPr lang="en-AU" sz="1500" b="1" kern="1200" dirty="0" err="1" smtClean="0"/>
            <a:t>và</a:t>
          </a:r>
          <a:r>
            <a:rPr lang="en-AU" sz="1500" b="1" kern="1200" dirty="0" smtClean="0"/>
            <a:t> </a:t>
          </a:r>
          <a:r>
            <a:rPr lang="en-AU" sz="1500" b="1" kern="1200" dirty="0" err="1" smtClean="0"/>
            <a:t>thuộc</a:t>
          </a:r>
          <a:r>
            <a:rPr lang="en-AU" sz="1500" b="1" kern="1200" dirty="0" smtClean="0"/>
            <a:t> </a:t>
          </a:r>
          <a:r>
            <a:rPr lang="en-AU" sz="1500" b="1" kern="1200" dirty="0" err="1" smtClean="0"/>
            <a:t>tính</a:t>
          </a:r>
          <a:r>
            <a:rPr lang="en-AU" sz="1500" b="1" kern="1200" dirty="0" smtClean="0"/>
            <a:t> (attributes)</a:t>
          </a:r>
          <a:endParaRPr lang="en-US" sz="1500" b="1" kern="1200" dirty="0"/>
        </a:p>
      </dsp:txBody>
      <dsp:txXfrm>
        <a:off x="4751396" y="2838692"/>
        <a:ext cx="1632572" cy="11068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659F93-25BE-4C22-8AC1-481B6BA2D697}">
      <dsp:nvSpPr>
        <dsp:cNvPr id="0" name=""/>
        <dsp:cNvSpPr/>
      </dsp:nvSpPr>
      <dsp:spPr>
        <a:xfrm>
          <a:off x="3616" y="173927"/>
          <a:ext cx="1581224" cy="9487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smtClean="0"/>
            <a:t>Đề bài</a:t>
          </a:r>
          <a:endParaRPr lang="en-US" sz="2500" kern="1200"/>
        </a:p>
      </dsp:txBody>
      <dsp:txXfrm>
        <a:off x="31403" y="201714"/>
        <a:ext cx="1525650" cy="893160"/>
      </dsp:txXfrm>
    </dsp:sp>
    <dsp:sp modelId="{4ECE37DF-67D7-4933-849C-73005379964F}">
      <dsp:nvSpPr>
        <dsp:cNvPr id="0" name=""/>
        <dsp:cNvSpPr/>
      </dsp:nvSpPr>
      <dsp:spPr>
        <a:xfrm>
          <a:off x="1742963" y="452223"/>
          <a:ext cx="335219" cy="39214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1742963" y="530652"/>
        <a:ext cx="234653" cy="235285"/>
      </dsp:txXfrm>
    </dsp:sp>
    <dsp:sp modelId="{1F28A3A8-7743-4325-A846-300B58B629A8}">
      <dsp:nvSpPr>
        <dsp:cNvPr id="0" name=""/>
        <dsp:cNvSpPr/>
      </dsp:nvSpPr>
      <dsp:spPr>
        <a:xfrm>
          <a:off x="2217330" y="173927"/>
          <a:ext cx="1581224" cy="9487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Lược đồ use case</a:t>
          </a:r>
          <a:endParaRPr lang="en-US" sz="2500" kern="1200" dirty="0"/>
        </a:p>
      </dsp:txBody>
      <dsp:txXfrm>
        <a:off x="2245117" y="201714"/>
        <a:ext cx="1525650" cy="893160"/>
      </dsp:txXfrm>
    </dsp:sp>
    <dsp:sp modelId="{2C40B8A6-EEEA-44CA-A56D-8B76DEC39329}">
      <dsp:nvSpPr>
        <dsp:cNvPr id="0" name=""/>
        <dsp:cNvSpPr/>
      </dsp:nvSpPr>
      <dsp:spPr>
        <a:xfrm>
          <a:off x="3956677" y="452223"/>
          <a:ext cx="335219" cy="39214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3956677" y="530652"/>
        <a:ext cx="234653" cy="235285"/>
      </dsp:txXfrm>
    </dsp:sp>
    <dsp:sp modelId="{1D56DC59-1189-415E-AFA4-01F1DBD25FDA}">
      <dsp:nvSpPr>
        <dsp:cNvPr id="0" name=""/>
        <dsp:cNvSpPr/>
      </dsp:nvSpPr>
      <dsp:spPr>
        <a:xfrm>
          <a:off x="4431044" y="173927"/>
          <a:ext cx="1581224" cy="9487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smtClean="0"/>
            <a:t>Đặc tả use case</a:t>
          </a:r>
          <a:endParaRPr lang="en-US" sz="2500" kern="1200"/>
        </a:p>
      </dsp:txBody>
      <dsp:txXfrm>
        <a:off x="4458831" y="201714"/>
        <a:ext cx="1525650" cy="893160"/>
      </dsp:txXfrm>
    </dsp:sp>
    <dsp:sp modelId="{0BBFB555-497D-444D-AA0F-52368BA42C8C}">
      <dsp:nvSpPr>
        <dsp:cNvPr id="0" name=""/>
        <dsp:cNvSpPr/>
      </dsp:nvSpPr>
      <dsp:spPr>
        <a:xfrm>
          <a:off x="6170391" y="452223"/>
          <a:ext cx="335219" cy="39214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6170391" y="530652"/>
        <a:ext cx="234653" cy="235285"/>
      </dsp:txXfrm>
    </dsp:sp>
    <dsp:sp modelId="{27408D4F-1CBF-4569-9730-D5F0F48C706D}">
      <dsp:nvSpPr>
        <dsp:cNvPr id="0" name=""/>
        <dsp:cNvSpPr/>
      </dsp:nvSpPr>
      <dsp:spPr>
        <a:xfrm>
          <a:off x="6644759" y="173927"/>
          <a:ext cx="1581224" cy="9487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Domain model</a:t>
          </a:r>
          <a:endParaRPr lang="en-US" sz="2500" kern="1200" dirty="0"/>
        </a:p>
      </dsp:txBody>
      <dsp:txXfrm>
        <a:off x="6672546" y="201714"/>
        <a:ext cx="1525650" cy="893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943DE-247A-450B-A352-19E7B86A8F8E}" type="datetimeFigureOut">
              <a:rPr lang="en-US" smtClean="0"/>
              <a:t>2/11/2017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8D3B0-5747-4E88-907E-18559D38E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051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077D8-A3B6-4B49-8E15-85E1D9995017}" type="datetimeFigureOut">
              <a:rPr lang="en-US" smtClean="0"/>
              <a:t>2/11/2017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5688" y="1143000"/>
            <a:ext cx="4746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348ED-14C6-42EB-8AB6-3B33A93AD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7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24205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1pPr>
    <a:lvl2pPr marL="362102" algn="l" defTabSz="724205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2pPr>
    <a:lvl3pPr marL="724205" algn="l" defTabSz="724205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3pPr>
    <a:lvl4pPr marL="1086307" algn="l" defTabSz="724205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4pPr>
    <a:lvl5pPr marL="1448410" algn="l" defTabSz="724205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5pPr>
    <a:lvl6pPr marL="1810512" algn="l" defTabSz="724205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6pPr>
    <a:lvl7pPr marL="2172614" algn="l" defTabSz="724205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7pPr>
    <a:lvl8pPr marL="2534717" algn="l" defTabSz="724205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8pPr>
    <a:lvl9pPr marL="2896819" algn="l" defTabSz="724205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65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dịch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bán</a:t>
            </a:r>
            <a:r>
              <a:rPr lang="en-US" baseline="0" dirty="0" smtClean="0"/>
              <a:t>/</a:t>
            </a:r>
            <a:r>
              <a:rPr lang="en-US" baseline="0" dirty="0" err="1" smtClean="0"/>
              <a:t>mua</a:t>
            </a:r>
            <a:r>
              <a:rPr lang="en-US" baseline="0" dirty="0" smtClean="0"/>
              <a:t> hang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ngày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bán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giờ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bán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787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Domain models have also been called: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dirty="0" smtClean="0"/>
              <a:t>conceptual models </a:t>
            </a:r>
          </a:p>
          <a:p>
            <a:pPr marL="171450" lvl="0" indent="-171450">
              <a:buFont typeface="Arial" pitchFamily="34" charset="0"/>
              <a:buChar char="•"/>
            </a:pPr>
            <a:r>
              <a:rPr lang="en-US" dirty="0" smtClean="0"/>
              <a:t>domain object models</a:t>
            </a:r>
          </a:p>
          <a:p>
            <a:pPr marL="171450" lvl="0" indent="-171450">
              <a:buFont typeface="Arial" pitchFamily="34" charset="0"/>
              <a:buChar char="•"/>
            </a:pPr>
            <a:r>
              <a:rPr lang="en-US" dirty="0" smtClean="0"/>
              <a:t>analysis object models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74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0" lvl="1" indent="-514350">
              <a:buFont typeface="+mj-lt"/>
              <a:buAutoNum type="arabicPeriod"/>
              <a:defRPr/>
            </a:pPr>
            <a:r>
              <a:rPr lang="en-AU" sz="2000" dirty="0" smtClean="0"/>
              <a:t>Find the conceptual classes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AU" sz="2000" dirty="0" smtClean="0"/>
              <a:t>Draw them as classes in a UML class diagram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AU" sz="2000" dirty="0" smtClean="0"/>
              <a:t>Add associations and attributes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85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Use a category list.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31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Ledger: </a:t>
            </a:r>
            <a:r>
              <a:rPr lang="en-US" dirty="0" err="1" smtClean="0"/>
              <a:t>hồ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sơ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sổ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sách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28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 smtClean="0"/>
              <a:t>imply : hàm</a:t>
            </a:r>
            <a:r>
              <a:rPr lang="vi-VN" baseline="0" dirty="0" smtClean="0"/>
              <a:t> ý, ngụ ý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B5F68E-2B0D-401A-8172-DA4CA3E761AC}" type="slidenum">
              <a:rPr lang="vi-VN" smtClean="0"/>
              <a:pPr>
                <a:defRPr/>
              </a:pPr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27005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55688" y="1143000"/>
            <a:ext cx="4746625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53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b="1" smtClean="0">
                <a:latin typeface="Arial" charset="0"/>
              </a:rPr>
              <a:t>5- LIÊN HỆ (ASSOCIATION)</a:t>
            </a:r>
            <a:endParaRPr lang="en-US" smtClean="0">
              <a:latin typeface="Arial" charset="0"/>
            </a:endParaRPr>
          </a:p>
          <a:p>
            <a:r>
              <a:rPr lang="en-US" dirty="0" err="1" smtClean="0">
                <a:latin typeface="Arial" charset="0"/>
              </a:rPr>
              <a:t>Một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liên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hệ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là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một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sự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nối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kết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giữa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các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lớp</a:t>
            </a:r>
            <a:r>
              <a:rPr lang="en-US" dirty="0" smtClean="0">
                <a:latin typeface="Arial" charset="0"/>
              </a:rPr>
              <a:t>, </a:t>
            </a:r>
            <a:r>
              <a:rPr lang="en-US" dirty="0" err="1" smtClean="0">
                <a:latin typeface="Arial" charset="0"/>
              </a:rPr>
              <a:t>một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liên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quan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về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ngữ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nghĩa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giữa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các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đối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tượng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của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các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lớp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tham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gia</a:t>
            </a:r>
            <a:r>
              <a:rPr lang="en-US" dirty="0" smtClean="0">
                <a:latin typeface="Arial" charset="0"/>
              </a:rPr>
              <a:t>. </a:t>
            </a:r>
            <a:r>
              <a:rPr lang="en-US" dirty="0" err="1" smtClean="0">
                <a:latin typeface="Arial" charset="0"/>
              </a:rPr>
              <a:t>Liên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hệ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thường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thường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mang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tính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hai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chiều</a:t>
            </a:r>
            <a:r>
              <a:rPr lang="en-US" dirty="0" smtClean="0">
                <a:latin typeface="Arial" charset="0"/>
              </a:rPr>
              <a:t>, </a:t>
            </a:r>
            <a:r>
              <a:rPr lang="en-US" dirty="0" err="1" smtClean="0">
                <a:latin typeface="Arial" charset="0"/>
              </a:rPr>
              <a:t>có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nghĩa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khi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một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đối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tượng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này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có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liên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hệ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với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một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đối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tượng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khác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thì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cả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hai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đối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tượng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này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nhận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thấy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nhau</a:t>
            </a:r>
            <a:r>
              <a:rPr lang="en-US" dirty="0" smtClean="0">
                <a:latin typeface="Arial" charset="0"/>
              </a:rPr>
              <a:t>. </a:t>
            </a:r>
            <a:r>
              <a:rPr lang="en-US" dirty="0" err="1" smtClean="0">
                <a:latin typeface="Arial" charset="0"/>
              </a:rPr>
              <a:t>Một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mối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liên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hệ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biểu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thị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bằng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các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đối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tượng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của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hai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lớp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có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nối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kết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với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nhau</a:t>
            </a:r>
            <a:r>
              <a:rPr lang="en-US" dirty="0" smtClean="0">
                <a:latin typeface="Arial" charset="0"/>
              </a:rPr>
              <a:t>, </a:t>
            </a:r>
            <a:r>
              <a:rPr lang="en-US" dirty="0" err="1" smtClean="0">
                <a:latin typeface="Arial" charset="0"/>
              </a:rPr>
              <a:t>ví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dụ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rằng</a:t>
            </a:r>
            <a:r>
              <a:rPr lang="en-US" dirty="0" smtClean="0">
                <a:latin typeface="Arial" charset="0"/>
              </a:rPr>
              <a:t> "</a:t>
            </a:r>
            <a:r>
              <a:rPr lang="en-US" dirty="0" err="1" smtClean="0">
                <a:latin typeface="Arial" charset="0"/>
              </a:rPr>
              <a:t>chúng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biết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về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nhau</a:t>
            </a:r>
            <a:r>
              <a:rPr lang="en-US" dirty="0" smtClean="0">
                <a:latin typeface="Arial" charset="0"/>
              </a:rPr>
              <a:t>", "</a:t>
            </a:r>
            <a:r>
              <a:rPr lang="en-US" dirty="0" err="1" smtClean="0">
                <a:latin typeface="Arial" charset="0"/>
              </a:rPr>
              <a:t>được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nối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với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nhau</a:t>
            </a:r>
            <a:r>
              <a:rPr lang="en-US" dirty="0" smtClean="0">
                <a:latin typeface="Arial" charset="0"/>
              </a:rPr>
              <a:t>", "</a:t>
            </a:r>
            <a:r>
              <a:rPr lang="en-US" dirty="0" err="1" smtClean="0">
                <a:latin typeface="Arial" charset="0"/>
              </a:rPr>
              <a:t>cứ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mỗi</a:t>
            </a:r>
            <a:r>
              <a:rPr lang="en-US" dirty="0" smtClean="0">
                <a:latin typeface="Arial" charset="0"/>
              </a:rPr>
              <a:t> X </a:t>
            </a:r>
            <a:r>
              <a:rPr lang="en-US" dirty="0" err="1" smtClean="0">
                <a:latin typeface="Arial" charset="0"/>
              </a:rPr>
              <a:t>lại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có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một</a:t>
            </a:r>
            <a:r>
              <a:rPr lang="en-US" dirty="0" smtClean="0">
                <a:latin typeface="Arial" charset="0"/>
              </a:rPr>
              <a:t> Y", .... </a:t>
            </a:r>
            <a:r>
              <a:rPr lang="en-US" dirty="0" err="1" smtClean="0">
                <a:latin typeface="Arial" charset="0"/>
              </a:rPr>
              <a:t>Lớp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và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liên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hệ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giữa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các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lớp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là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những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công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cụ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rất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mạnh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mẽ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cho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việc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mô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hình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hóa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các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hệ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thống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phức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tạp</a:t>
            </a:r>
            <a:r>
              <a:rPr lang="en-US" dirty="0" smtClean="0">
                <a:latin typeface="Arial" charset="0"/>
              </a:rPr>
              <a:t>, </a:t>
            </a:r>
            <a:r>
              <a:rPr lang="en-US" dirty="0" err="1" smtClean="0">
                <a:latin typeface="Arial" charset="0"/>
              </a:rPr>
              <a:t>ví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dụ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như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cấu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trúc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sản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phẩm</a:t>
            </a:r>
            <a:r>
              <a:rPr lang="en-US" dirty="0" smtClean="0">
                <a:latin typeface="Arial" charset="0"/>
              </a:rPr>
              <a:t>, </a:t>
            </a:r>
            <a:r>
              <a:rPr lang="en-US" dirty="0" err="1" smtClean="0">
                <a:latin typeface="Arial" charset="0"/>
              </a:rPr>
              <a:t>cấu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trúc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văn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bản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và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tất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cả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các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cấu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trúc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thông</a:t>
            </a:r>
            <a:r>
              <a:rPr lang="en-US" dirty="0" smtClean="0">
                <a:latin typeface="Arial" charset="0"/>
              </a:rPr>
              <a:t> tin </a:t>
            </a:r>
            <a:r>
              <a:rPr lang="en-US" dirty="0" err="1" smtClean="0">
                <a:latin typeface="Arial" charset="0"/>
              </a:rPr>
              <a:t>khác</a:t>
            </a:r>
            <a:r>
              <a:rPr lang="en-US" dirty="0" smtClean="0">
                <a:latin typeface="Arial" charset="0"/>
              </a:rPr>
              <a:t>.</a:t>
            </a:r>
          </a:p>
          <a:p>
            <a:r>
              <a:rPr lang="en-US" dirty="0" err="1" smtClean="0">
                <a:latin typeface="Arial" charset="0"/>
              </a:rPr>
              <a:t>Mối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liên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kết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được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thể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hiện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trong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biểu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đồ</a:t>
            </a:r>
            <a:r>
              <a:rPr lang="en-US" dirty="0" smtClean="0">
                <a:latin typeface="Arial" charset="0"/>
              </a:rPr>
              <a:t> UML </a:t>
            </a:r>
            <a:r>
              <a:rPr lang="en-US" dirty="0" err="1" smtClean="0">
                <a:latin typeface="Arial" charset="0"/>
              </a:rPr>
              <a:t>bằng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một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đường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thẳng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nối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hai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lớp</a:t>
            </a:r>
            <a:r>
              <a:rPr lang="en-US" dirty="0" smtClean="0">
                <a:latin typeface="Arial" charset="0"/>
              </a:rPr>
              <a:t>. </a:t>
            </a:r>
            <a:endParaRPr lang="de-DE" dirty="0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284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Multiplicity defines how many instances of a class A can be associated with one instance of class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04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Multiplicity values</a:t>
            </a:r>
          </a:p>
          <a:p>
            <a:r>
              <a:rPr lang="en-AU" dirty="0" smtClean="0"/>
              <a:t>Multiplicity : nhiều,</a:t>
            </a:r>
            <a:r>
              <a:rPr lang="en-AU" baseline="0" dirty="0" smtClean="0"/>
              <a:t> đa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77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dirty="0" smtClean="0"/>
              <a:t>Multiple association</a:t>
            </a:r>
            <a:r>
              <a:rPr lang="vi-VN" sz="1200" dirty="0" smtClean="0"/>
              <a:t>s</a:t>
            </a:r>
            <a:r>
              <a:rPr lang="en-AU" sz="1200" dirty="0" smtClean="0"/>
              <a:t> between two classes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13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Different perspectives with UML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64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ower point-06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48277"/>
            <a:ext cx="7772400" cy="1274022"/>
          </a:xfrm>
          <a:ln>
            <a:noFill/>
          </a:ln>
        </p:spPr>
        <p:txBody>
          <a:bodyPr>
            <a:normAutofit/>
          </a:bodyPr>
          <a:lstStyle>
            <a:lvl1pPr>
              <a:defRPr sz="3300" b="1" i="0">
                <a:solidFill>
                  <a:srgbClr val="00449E"/>
                </a:solidFill>
                <a:latin typeface="Myriad Pro"/>
                <a:cs typeface="Myriad Pro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98933"/>
            <a:ext cx="6400800" cy="1518920"/>
          </a:xfrm>
          <a:ln>
            <a:noFill/>
          </a:ln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40000"/>
                    <a:lumOff val="60000"/>
                  </a:schemeClr>
                </a:solidFill>
                <a:latin typeface="Myriad Pro"/>
                <a:cs typeface="Myriad Pro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58663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400" y="119795"/>
            <a:ext cx="6883400" cy="1058700"/>
          </a:xfrm>
        </p:spPr>
        <p:txBody>
          <a:bodyPr/>
          <a:lstStyle>
            <a:lvl1pPr>
              <a:defRPr>
                <a:solidFill>
                  <a:srgbClr val="00449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871"/>
            <a:ext cx="8229600" cy="4028472"/>
          </a:xfrm>
        </p:spPr>
        <p:txBody>
          <a:bodyPr/>
          <a:lstStyle>
            <a:lvl1pPr>
              <a:defRPr>
                <a:latin typeface="Myriad Pro"/>
                <a:cs typeface="Myriad Pro"/>
              </a:defRPr>
            </a:lvl1pPr>
            <a:lvl2pPr>
              <a:defRPr>
                <a:latin typeface="Myriad Pro"/>
                <a:cs typeface="Myriad Pro"/>
              </a:defRPr>
            </a:lvl2pPr>
            <a:lvl3pPr>
              <a:defRPr>
                <a:latin typeface="Myriad Pro"/>
                <a:cs typeface="Myriad Pro"/>
              </a:defRPr>
            </a:lvl3pPr>
            <a:lvl4pPr>
              <a:defRPr>
                <a:latin typeface="Myriad Pro"/>
                <a:cs typeface="Myriad Pro"/>
              </a:defRPr>
            </a:lvl4pPr>
            <a:lvl5pPr>
              <a:defRPr>
                <a:latin typeface="Myriad Pro"/>
                <a:cs typeface="Myriad Pro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825"/>
            </a:lvl1pPr>
          </a:lstStyle>
          <a:p>
            <a:pPr eaLnBrk="1" latinLnBrk="0" hangingPunct="1"/>
            <a:fld id="{58FEC44C-3F9D-1544-8214-25D7968B2E5A}" type="datetime1">
              <a:rPr lang="en-US" smtClean="0"/>
              <a:t>2/11/2017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 smtClean="0"/>
              <a:pPr/>
              <a:t>‹#›</a:t>
            </a:fld>
            <a:endParaRPr lang="en-US" sz="105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134644" y="5157216"/>
            <a:ext cx="717452" cy="5296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70"/>
          </a:p>
        </p:txBody>
      </p:sp>
    </p:spTree>
    <p:extLst>
      <p:ext uri="{BB962C8B-B14F-4D97-AF65-F5344CB8AC3E}">
        <p14:creationId xmlns:p14="http://schemas.microsoft.com/office/powerpoint/2010/main" val="33245164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819315"/>
            <a:ext cx="7772400" cy="118046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19152"/>
            <a:ext cx="7772400" cy="1300162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1888ED-BA33-BE40-BF29-F50D5175FC1E}" type="datetime1">
              <a:rPr lang="en-US" smtClean="0"/>
              <a:t>2/11/2017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 smtClean="0"/>
              <a:pPr/>
              <a:t>‹#›</a:t>
            </a:fld>
            <a:endParaRPr lang="en-US" sz="1050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134644" y="5157216"/>
            <a:ext cx="717452" cy="5296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70"/>
          </a:p>
        </p:txBody>
      </p:sp>
    </p:spTree>
    <p:extLst>
      <p:ext uri="{BB962C8B-B14F-4D97-AF65-F5344CB8AC3E}">
        <p14:creationId xmlns:p14="http://schemas.microsoft.com/office/powerpoint/2010/main" val="3783661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86841"/>
            <a:ext cx="4038600" cy="3922501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86841"/>
            <a:ext cx="4038600" cy="3922501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F119C21-0AE2-BC4D-843C-BE82E03062E5}" type="datetime1">
              <a:rPr lang="en-US" smtClean="0"/>
              <a:t>2/11/2017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 smtClean="0"/>
              <a:pPr/>
              <a:t>‹#›</a:t>
            </a:fld>
            <a:endParaRPr lang="en-US" sz="1050" dirty="0"/>
          </a:p>
        </p:txBody>
      </p:sp>
      <p:sp>
        <p:nvSpPr>
          <p:cNvPr id="8" name="Freeform 11"/>
          <p:cNvSpPr>
            <a:spLocks/>
          </p:cNvSpPr>
          <p:nvPr userDrawn="1"/>
        </p:nvSpPr>
        <p:spPr bwMode="auto">
          <a:xfrm flipV="1">
            <a:off x="8256672" y="5370094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70"/>
          </a:p>
        </p:txBody>
      </p:sp>
    </p:spTree>
    <p:extLst>
      <p:ext uri="{BB962C8B-B14F-4D97-AF65-F5344CB8AC3E}">
        <p14:creationId xmlns:p14="http://schemas.microsoft.com/office/powerpoint/2010/main" val="499501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31724"/>
            <a:ext cx="4040188" cy="453168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84891"/>
            <a:ext cx="4040188" cy="342445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431724"/>
            <a:ext cx="4041775" cy="453168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84891"/>
            <a:ext cx="4041775" cy="342445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150FC7B-5044-DE40-9EF1-4B21023D85EE}" type="datetime1">
              <a:rPr lang="en-US" smtClean="0"/>
              <a:t>2/11/2017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 smtClean="0"/>
              <a:pPr/>
              <a:t>‹#›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062880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5AC67D2-079C-6745-A936-43BC6E106AD5}" type="datetime1">
              <a:rPr lang="en-US" smtClean="0"/>
              <a:t>2/11/2017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 smtClean="0"/>
              <a:pPr/>
              <a:t>‹#›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005848687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9DD40BE-C346-4746-AF7E-3493C08330BD}" type="datetime1">
              <a:rPr lang="en-US" smtClean="0"/>
              <a:t>2/11/2017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 smtClean="0"/>
              <a:pPr/>
              <a:t>‹#›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89859706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937895"/>
            <a:ext cx="3008313" cy="100711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37895"/>
            <a:ext cx="5111750" cy="43714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945006"/>
            <a:ext cx="3008313" cy="336433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D83A1EC-0728-0C41-ABCE-875DE802A9AF}" type="datetime1">
              <a:rPr lang="en-US" smtClean="0"/>
              <a:t>2/11/2017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 smtClean="0"/>
              <a:pPr/>
              <a:t>‹#›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5976327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160520"/>
            <a:ext cx="5486400" cy="491173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37607"/>
            <a:ext cx="5486400" cy="3259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651693"/>
            <a:ext cx="5486400" cy="6975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741E869-144A-2342-8662-45B9046CCDA7}" type="datetime1">
              <a:rPr lang="en-US" smtClean="0"/>
              <a:t>2/11/2017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 smtClean="0"/>
              <a:pPr/>
              <a:t>‹#›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93108943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73B61A7-E2FC-4841-8D50-D99D90597A6B}" type="datetime1">
              <a:rPr lang="en-US" smtClean="0"/>
              <a:t>2/11/2017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 smtClean="0"/>
              <a:pPr/>
              <a:t>‹#›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3626106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827867"/>
            <a:ext cx="2057400" cy="448147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827867"/>
            <a:ext cx="6019800" cy="448147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16FE0F7-F64C-4E48-A724-F85AC4A61B60}" type="datetime1">
              <a:rPr lang="en-US" smtClean="0"/>
              <a:t>2/11/2017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 smtClean="0"/>
              <a:pPr/>
              <a:t>‹#›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67668531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54630" y="1390315"/>
            <a:ext cx="3441127" cy="376719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2579" y="1383921"/>
            <a:ext cx="3441127" cy="376719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Freeform 11"/>
          <p:cNvSpPr>
            <a:spLocks/>
          </p:cNvSpPr>
          <p:nvPr userDrawn="1"/>
        </p:nvSpPr>
        <p:spPr bwMode="auto">
          <a:xfrm flipV="1">
            <a:off x="8256672" y="5370094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7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03955" y="5386388"/>
            <a:ext cx="584597" cy="316442"/>
          </a:xfrm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1050" smtClean="0"/>
              <a:pPr/>
              <a:t>‹#›</a:t>
            </a:fld>
            <a:endParaRPr lang="en-US" sz="105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448374" y="540896"/>
            <a:ext cx="7196102" cy="762525"/>
          </a:xfrm>
        </p:spPr>
        <p:txBody>
          <a:bodyPr>
            <a:normAutofit/>
          </a:bodyPr>
          <a:lstStyle>
            <a:lvl1pPr>
              <a:defRPr sz="24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4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ower point-07.png"/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6755" y="238019"/>
            <a:ext cx="6720046" cy="10670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86841"/>
            <a:ext cx="8229600" cy="39225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723468"/>
            <a:ext cx="1155700" cy="2173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bg1"/>
                </a:solidFill>
                <a:latin typeface="Myriad Pro"/>
                <a:cs typeface="Myriad Pro"/>
              </a:defRPr>
            </a:lvl1pPr>
          </a:lstStyle>
          <a:p>
            <a:fld id="{F644F9BB-235D-0341-BBB7-B521C4CF5A02}" type="datetime1">
              <a:rPr lang="en-US" smtClean="0"/>
              <a:pPr/>
              <a:t>2/11/2017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6910" y="5726219"/>
            <a:ext cx="464110" cy="2173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/>
                </a:solidFill>
                <a:latin typeface="Myriad Pro"/>
                <a:cs typeface="Myriad Pro"/>
              </a:defRPr>
            </a:lvl1pPr>
          </a:lstStyle>
          <a:p>
            <a:fld id="{16845AD9-D1F4-4EC2-844C-79E58D9B0E6B}" type="slidenum">
              <a:rPr lang="en-US" sz="1050" smtClean="0"/>
              <a:pPr/>
              <a:t>‹#›</a:t>
            </a:fld>
            <a:endParaRPr lang="en-US" sz="1050" dirty="0"/>
          </a:p>
        </p:txBody>
      </p:sp>
      <p:sp>
        <p:nvSpPr>
          <p:cNvPr id="7" name="Freeform 11"/>
          <p:cNvSpPr>
            <a:spLocks/>
          </p:cNvSpPr>
          <p:nvPr userDrawn="1"/>
        </p:nvSpPr>
        <p:spPr bwMode="auto">
          <a:xfrm flipV="1">
            <a:off x="8256672" y="5370094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70"/>
          </a:p>
        </p:txBody>
      </p:sp>
    </p:spTree>
    <p:extLst>
      <p:ext uri="{BB962C8B-B14F-4D97-AF65-F5344CB8AC3E}">
        <p14:creationId xmlns:p14="http://schemas.microsoft.com/office/powerpoint/2010/main" val="215147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64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342900" rtl="0" eaLnBrk="1" latinLnBrk="0" hangingPunct="1">
        <a:spcBef>
          <a:spcPct val="0"/>
        </a:spcBef>
        <a:buNone/>
        <a:defRPr sz="3000" kern="1200">
          <a:solidFill>
            <a:schemeClr val="accent5">
              <a:lumMod val="75000"/>
            </a:schemeClr>
          </a:solidFill>
          <a:latin typeface="Myriad Pro"/>
          <a:ea typeface="+mj-ea"/>
          <a:cs typeface="Myriad Pro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yriad Pro"/>
          <a:ea typeface="+mn-ea"/>
          <a:cs typeface="Myriad Pro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Myriad Pro"/>
          <a:ea typeface="+mn-ea"/>
          <a:cs typeface="Myriad Pro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Myriad Pro"/>
          <a:ea typeface="+mn-ea"/>
          <a:cs typeface="Myriad Pro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Myriad Pro"/>
          <a:ea typeface="+mn-ea"/>
          <a:cs typeface="Myriad Pro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Myriad Pro"/>
          <a:ea typeface="+mn-ea"/>
          <a:cs typeface="Myriad Pro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41680" y="2248277"/>
            <a:ext cx="7726680" cy="127402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 TÍCH VÀ THIẾT KẾ 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HƯỚNG ĐỐI TƯỢNG</a:t>
            </a:r>
            <a:endParaRPr lang="en-US" sz="3120" dirty="0">
              <a:solidFill>
                <a:srgbClr val="002060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600200" y="3522298"/>
            <a:ext cx="6009640" cy="1518920"/>
          </a:xfrm>
        </p:spPr>
        <p:txBody>
          <a:bodyPr>
            <a:normAutofit/>
          </a:bodyPr>
          <a:lstStyle/>
          <a:p>
            <a:r>
              <a:rPr lang="en-US" sz="2427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MÔ HÌNH </a:t>
            </a:r>
            <a:r>
              <a:rPr lang="en-US" sz="2427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LĨNH VỰC – DOMAIN MODEL</a:t>
            </a:r>
            <a:endParaRPr lang="en-US" sz="242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09600" y="5726219"/>
            <a:ext cx="401743" cy="217382"/>
          </a:xfrm>
        </p:spPr>
        <p:txBody>
          <a:bodyPr/>
          <a:lstStyle/>
          <a:p>
            <a:fld id="{8FAE3475-1547-493A-BDEF-95746F296EC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58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 bài học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Giới thiệu về mô hình lĩnh vực</a:t>
            </a:r>
          </a:p>
          <a:p>
            <a:r>
              <a:rPr lang="en-US" dirty="0" smtClean="0"/>
              <a:t>Cách vẽ mô hình lĩnh vực</a:t>
            </a:r>
          </a:p>
          <a:p>
            <a:r>
              <a:rPr lang="en-US" dirty="0" smtClean="0"/>
              <a:t>Câu hỏi ôn tập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2</a:t>
            </a:fld>
            <a:endParaRPr lang="en-US" sz="1050" dirty="0"/>
          </a:p>
        </p:txBody>
      </p:sp>
      <p:sp>
        <p:nvSpPr>
          <p:cNvPr id="5" name="AutoShape 4" descr="mk:@MSITStore:D:\2.%20Hoasen\3.%20OOAD\eBooks\%5b1%5d%20Applying%20UML%20and%20Patterns_Object-Oriented%20Analysis%20and%20Design.chm::/0131489062/images/0131489062/graphics/01inf02_alt.gif;380137"/>
          <p:cNvSpPr>
            <a:spLocks noChangeAspect="1" noChangeArrowheads="1"/>
          </p:cNvSpPr>
          <p:nvPr/>
        </p:nvSpPr>
        <p:spPr bwMode="auto">
          <a:xfrm>
            <a:off x="47625" y="297656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70"/>
          </a:p>
        </p:txBody>
      </p:sp>
    </p:spTree>
    <p:extLst>
      <p:ext uri="{BB962C8B-B14F-4D97-AF65-F5344CB8AC3E}">
        <p14:creationId xmlns:p14="http://schemas.microsoft.com/office/powerpoint/2010/main" val="1742531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Các khái niệm về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3</a:t>
            </a:fld>
            <a:endParaRPr lang="en-US" sz="1050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208925" y="1300572"/>
            <a:ext cx="2695861" cy="3767199"/>
          </a:xfr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1800" dirty="0"/>
              <a:t>Conceptual </a:t>
            </a:r>
            <a:r>
              <a:rPr lang="en-US" sz="1800" dirty="0" smtClean="0"/>
              <a:t>class</a:t>
            </a:r>
          </a:p>
          <a:p>
            <a:endParaRPr lang="en-US" sz="18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210542" y="1300571"/>
            <a:ext cx="2695861" cy="3767199"/>
          </a:xfrm>
          <a:prstGeom prst="rect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dk1"/>
                </a:solidFill>
                <a:latin typeface="Myriad Pro"/>
                <a:ea typeface="+mn-ea"/>
                <a:cs typeface="Myriad Pro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dk1"/>
                </a:solidFill>
                <a:latin typeface="Myriad Pro"/>
                <a:ea typeface="+mn-ea"/>
                <a:cs typeface="Myriad Pro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dk1"/>
                </a:solidFill>
                <a:latin typeface="Myriad Pro"/>
                <a:ea typeface="+mn-ea"/>
                <a:cs typeface="Myriad Pro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dk1"/>
                </a:solidFill>
                <a:latin typeface="Myriad Pro"/>
                <a:ea typeface="+mn-ea"/>
                <a:cs typeface="Myriad Pro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dk1"/>
                </a:solidFill>
                <a:latin typeface="Myriad Pro"/>
                <a:ea typeface="+mn-ea"/>
                <a:cs typeface="Myriad Pro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Software</a:t>
            </a:r>
            <a:r>
              <a:rPr lang="en-US" sz="1800" dirty="0" smtClean="0"/>
              <a:t> class</a:t>
            </a:r>
          </a:p>
          <a:p>
            <a:endParaRPr lang="en-US" sz="18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212159" y="1300571"/>
            <a:ext cx="2695861" cy="3767199"/>
          </a:xfrm>
          <a:prstGeom prst="rect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dk1"/>
                </a:solidFill>
                <a:latin typeface="Myriad Pro"/>
                <a:ea typeface="+mn-ea"/>
                <a:cs typeface="Myriad Pro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dk1"/>
                </a:solidFill>
                <a:latin typeface="Myriad Pro"/>
                <a:ea typeface="+mn-ea"/>
                <a:cs typeface="Myriad Pro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dk1"/>
                </a:solidFill>
                <a:latin typeface="Myriad Pro"/>
                <a:ea typeface="+mn-ea"/>
                <a:cs typeface="Myriad Pro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dk1"/>
                </a:solidFill>
                <a:latin typeface="Myriad Pro"/>
                <a:ea typeface="+mn-ea"/>
                <a:cs typeface="Myriad Pro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dk1"/>
                </a:solidFill>
                <a:latin typeface="Myriad Pro"/>
                <a:ea typeface="+mn-ea"/>
                <a:cs typeface="Myriad Pro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Implementation</a:t>
            </a:r>
            <a:r>
              <a:rPr lang="en-US" sz="1800" dirty="0" smtClean="0"/>
              <a:t> class</a:t>
            </a:r>
          </a:p>
          <a:p>
            <a:endParaRPr lang="en-US" sz="1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9300"/>
            <a:ext cx="1734845" cy="130471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994" y="1849299"/>
            <a:ext cx="1917632" cy="142275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34728" y="1849299"/>
            <a:ext cx="25647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DateTime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date;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DateTime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time;</a:t>
            </a: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Print()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0421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Model là gì?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Domain </a:t>
            </a:r>
            <a:r>
              <a:rPr lang="en-US" dirty="0"/>
              <a:t>Model </a:t>
            </a:r>
            <a:r>
              <a:rPr lang="en-US" dirty="0" smtClean="0"/>
              <a:t>chứa các lớp khái </a:t>
            </a:r>
            <a:r>
              <a:rPr lang="en-US" dirty="0" err="1" smtClean="0"/>
              <a:t>niệm</a:t>
            </a:r>
            <a:r>
              <a:rPr lang="en-US" dirty="0" smtClean="0"/>
              <a:t> </a:t>
            </a:r>
            <a:r>
              <a:rPr lang="en-US" dirty="0"/>
              <a:t>(real-world concepts)</a:t>
            </a:r>
          </a:p>
          <a:p>
            <a:r>
              <a:rPr lang="en-US" dirty="0" smtClean="0"/>
              <a:t>Domain model có các tên gọi khác: </a:t>
            </a:r>
          </a:p>
          <a:p>
            <a:pPr lvl="1"/>
            <a:r>
              <a:rPr lang="en-US" dirty="0" smtClean="0"/>
              <a:t>conceptual model </a:t>
            </a:r>
          </a:p>
          <a:p>
            <a:pPr lvl="1"/>
            <a:r>
              <a:rPr lang="en-US" dirty="0"/>
              <a:t>domain object </a:t>
            </a:r>
            <a:r>
              <a:rPr lang="en-US" dirty="0" smtClean="0"/>
              <a:t>model</a:t>
            </a:r>
            <a:endParaRPr lang="en-US" dirty="0"/>
          </a:p>
          <a:p>
            <a:pPr lvl="1"/>
            <a:r>
              <a:rPr lang="en-US" dirty="0"/>
              <a:t>analysis object </a:t>
            </a:r>
            <a:r>
              <a:rPr lang="en-US" dirty="0" smtClean="0"/>
              <a:t>model</a:t>
            </a:r>
          </a:p>
          <a:p>
            <a:pPr lvl="1"/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4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2204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 dirty="0" smtClean="0"/>
              <a:t>Các bước để tạo một Domain Model</a:t>
            </a:r>
            <a:endParaRPr lang="en-AU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5</a:t>
            </a:fld>
            <a:endParaRPr lang="en-US" sz="1050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5877867"/>
              </p:ext>
            </p:extLst>
          </p:nvPr>
        </p:nvGraphicFramePr>
        <p:xfrm>
          <a:off x="457200" y="1280871"/>
          <a:ext cx="8229600" cy="402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496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4143" y="230066"/>
            <a:ext cx="6883400" cy="916183"/>
          </a:xfrm>
        </p:spPr>
        <p:txBody>
          <a:bodyPr/>
          <a:lstStyle/>
          <a:p>
            <a:r>
              <a:rPr lang="en-US" dirty="0" smtClean="0"/>
              <a:t>Bước 1: Tìm </a:t>
            </a:r>
            <a:r>
              <a:rPr lang="en-AU" dirty="0">
                <a:solidFill>
                  <a:schemeClr val="accent6"/>
                </a:solidFill>
              </a:rPr>
              <a:t>conceptual </a:t>
            </a:r>
            <a:r>
              <a:rPr lang="en-AU" dirty="0" smtClean="0">
                <a:solidFill>
                  <a:schemeClr val="accent6"/>
                </a:solidFill>
              </a:rPr>
              <a:t>classes (1)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3" y="1508496"/>
            <a:ext cx="2691561" cy="3486178"/>
          </a:xfrm>
        </p:spPr>
        <p:txBody>
          <a:bodyPr>
            <a:normAutofit/>
          </a:bodyPr>
          <a:lstStyle/>
          <a:p>
            <a:r>
              <a:rPr lang="en-US" dirty="0" smtClean="0"/>
              <a:t>Tìm ra các cụm </a:t>
            </a:r>
            <a:r>
              <a:rPr lang="en-US" dirty="0"/>
              <a:t>danh từ </a:t>
            </a:r>
            <a:r>
              <a:rPr lang="en-US" dirty="0" smtClean="0"/>
              <a:t>(noun phrases) từ đặc tả chức năng Process Sale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6</a:t>
            </a:fld>
            <a:endParaRPr lang="en-US" sz="105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980" y="1572495"/>
            <a:ext cx="5653005" cy="3992282"/>
          </a:xfrm>
          <a:prstGeom prst="rect">
            <a:avLst/>
          </a:prstGeom>
          <a:ln/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pic>
      <p:sp>
        <p:nvSpPr>
          <p:cNvPr id="9" name="Bent Arrow 8"/>
          <p:cNvSpPr/>
          <p:nvPr/>
        </p:nvSpPr>
        <p:spPr>
          <a:xfrm flipV="1">
            <a:off x="1489472" y="3518297"/>
            <a:ext cx="1489472" cy="1050131"/>
          </a:xfrm>
          <a:prstGeom prst="bentArrow">
            <a:avLst>
              <a:gd name="adj1" fmla="val 25000"/>
              <a:gd name="adj2" fmla="val 35854"/>
              <a:gd name="adj3" fmla="val 25000"/>
              <a:gd name="adj4" fmla="val 4375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endParaRPr lang="en-US" sz="107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84" y="198916"/>
            <a:ext cx="7956110" cy="5618788"/>
          </a:xfrm>
          <a:prstGeom prst="rect">
            <a:avLst/>
          </a:prstGeom>
          <a:ln/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70650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Bước 1: Tìm </a:t>
            </a:r>
            <a:r>
              <a:rPr lang="en-AU" dirty="0">
                <a:solidFill>
                  <a:schemeClr val="accent6"/>
                </a:solidFill>
              </a:rPr>
              <a:t>conceptual classes</a:t>
            </a:r>
            <a:r>
              <a:rPr lang="en-US" dirty="0"/>
              <a:t> </a:t>
            </a:r>
            <a:r>
              <a:rPr lang="en-US" dirty="0" smtClean="0"/>
              <a:t>(2) </a:t>
            </a:r>
            <a:endParaRPr lang="vi-VN" sz="2400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8</a:t>
            </a:fld>
            <a:endParaRPr lang="en-US" sz="105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508434"/>
              </p:ext>
            </p:extLst>
          </p:nvPr>
        </p:nvGraphicFramePr>
        <p:xfrm>
          <a:off x="3473207" y="3118532"/>
          <a:ext cx="4924270" cy="2005968"/>
        </p:xfrm>
        <a:graphic>
          <a:graphicData uri="http://schemas.openxmlformats.org/drawingml/2006/table">
            <a:tbl>
              <a:tblPr firstRow="1" firstCol="1" bandRow="1"/>
              <a:tblGrid>
                <a:gridCol w="2400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3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vi-VN" sz="15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Sale</a:t>
                      </a:r>
                      <a:endParaRPr lang="vi-VN" sz="1500" dirty="0"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47625" marR="47625" marT="35719" marB="3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vi-VN" sz="15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Cashier</a:t>
                      </a:r>
                      <a:endParaRPr lang="vi-VN" sz="1500" dirty="0"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47625" marR="47625" marT="35719" marB="35719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vi-VN" sz="15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CashPayment</a:t>
                      </a:r>
                      <a:endParaRPr lang="vi-VN" sz="1500"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47625" marR="47625" marT="35719" marB="3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vi-VN" sz="15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Customer</a:t>
                      </a:r>
                      <a:endParaRPr lang="vi-VN" sz="1500" dirty="0"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47625" marR="47625" marT="35719" marB="35719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vi-VN" sz="15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SalesLineItem</a:t>
                      </a:r>
                      <a:endParaRPr lang="vi-VN" sz="1500" dirty="0"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47625" marR="47625" marT="35719" marB="3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vi-VN" sz="15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Store</a:t>
                      </a:r>
                      <a:endParaRPr lang="vi-VN" sz="1500"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47625" marR="47625" marT="35719" marB="35719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vi-VN" sz="15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Item</a:t>
                      </a:r>
                      <a:endParaRPr lang="vi-VN" sz="1500" dirty="0"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47625" marR="47625" marT="35719" marB="3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vi-VN" sz="15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ProductDescription</a:t>
                      </a:r>
                      <a:endParaRPr lang="vi-VN" sz="1500" dirty="0"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47625" marR="47625" marT="35719" marB="35719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vi-VN" sz="15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Register</a:t>
                      </a:r>
                      <a:endParaRPr lang="vi-VN" sz="1500"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47625" marR="47625" marT="35719" marB="3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vi-VN" sz="15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ProductCatalog</a:t>
                      </a:r>
                      <a:endParaRPr lang="vi-VN" sz="1500"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47625" marR="47625" marT="35719" marB="35719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3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vi-VN" sz="15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Ledger</a:t>
                      </a:r>
                      <a:endParaRPr lang="vi-VN" sz="1500" dirty="0"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47625" marR="47625" marT="35719" marB="3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vi-VN" sz="1500" dirty="0">
                        <a:effectLst/>
                        <a:latin typeface="Arial"/>
                        <a:cs typeface="Times New Roman"/>
                      </a:endParaRPr>
                    </a:p>
                  </a:txBody>
                  <a:tcPr marL="47625" marR="47625" marT="35719" marB="35719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542925" y="1508496"/>
            <a:ext cx="2521744" cy="3486178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Myriad Pro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Myriad Pro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Myriad Pro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Myriad Pro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Myriad Pro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Chọn ra các ứng cử viên có thể trở thành conceptual classes </a:t>
            </a:r>
          </a:p>
        </p:txBody>
      </p:sp>
      <p:sp>
        <p:nvSpPr>
          <p:cNvPr id="8" name="Bent Arrow 7"/>
          <p:cNvSpPr/>
          <p:nvPr/>
        </p:nvSpPr>
        <p:spPr>
          <a:xfrm flipV="1">
            <a:off x="1489472" y="3518297"/>
            <a:ext cx="1489472" cy="1050131"/>
          </a:xfrm>
          <a:prstGeom prst="bentArrow">
            <a:avLst>
              <a:gd name="adj1" fmla="val 25000"/>
              <a:gd name="adj2" fmla="val 35854"/>
              <a:gd name="adj3" fmla="val 25000"/>
              <a:gd name="adj4" fmla="val 4375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endParaRPr lang="en-US" sz="107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55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Bước 2: Vẽ lược đồ UML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9</a:t>
            </a:fld>
            <a:endParaRPr lang="en-US" sz="105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908" y="1964473"/>
            <a:ext cx="5459549" cy="2123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667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 dirty="0" smtClean="0"/>
              <a:t>Bước 3: Thêm </a:t>
            </a:r>
            <a:r>
              <a:rPr lang="en-AU" dirty="0" err="1" smtClean="0"/>
              <a:t>thuộc</a:t>
            </a:r>
            <a:r>
              <a:rPr lang="en-AU" dirty="0" smtClean="0"/>
              <a:t> </a:t>
            </a:r>
            <a:r>
              <a:rPr lang="en-AU" dirty="0" err="1" smtClean="0"/>
              <a:t>tính</a:t>
            </a:r>
            <a:r>
              <a:rPr lang="en-AU" dirty="0" smtClean="0"/>
              <a:t> (</a:t>
            </a:r>
            <a:r>
              <a:rPr lang="en-AU" dirty="0" err="1" smtClean="0"/>
              <a:t>nếu</a:t>
            </a:r>
            <a:r>
              <a:rPr lang="en-AU" dirty="0" smtClean="0"/>
              <a:t> </a:t>
            </a:r>
            <a:r>
              <a:rPr lang="en-AU" dirty="0" err="1" smtClean="0"/>
              <a:t>có</a:t>
            </a:r>
            <a:r>
              <a:rPr lang="en-AU" dirty="0" smtClean="0"/>
              <a:t>)</a:t>
            </a:r>
            <a:endParaRPr lang="en-AU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10</a:t>
            </a:fld>
            <a:endParaRPr lang="en-US" sz="1050" dirty="0"/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79" y="1871751"/>
            <a:ext cx="7854993" cy="2010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024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AU" dirty="0" smtClean="0"/>
              <a:t>Bước 3: Thêm mối </a:t>
            </a:r>
            <a:r>
              <a:rPr lang="en-AU" dirty="0" err="1" smtClean="0"/>
              <a:t>quan</a:t>
            </a:r>
            <a:r>
              <a:rPr lang="en-AU" dirty="0" smtClean="0"/>
              <a:t> </a:t>
            </a:r>
            <a:r>
              <a:rPr lang="en-AU" dirty="0" err="1" smtClean="0"/>
              <a:t>hệ</a:t>
            </a:r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11</a:t>
            </a:fld>
            <a:endParaRPr lang="en-US" sz="1050" dirty="0"/>
          </a:p>
        </p:txBody>
      </p:sp>
      <p:graphicFrame>
        <p:nvGraphicFramePr>
          <p:cNvPr id="22530" name="Object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42095351"/>
              </p:ext>
            </p:extLst>
          </p:nvPr>
        </p:nvGraphicFramePr>
        <p:xfrm>
          <a:off x="1803400" y="2065587"/>
          <a:ext cx="5308857" cy="1541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0" name="Visio" r:id="rId4" imgW="3010680" imgH="1164960" progId="Visio.Drawing.11">
                  <p:embed/>
                </p:oleObj>
              </mc:Choice>
              <mc:Fallback>
                <p:oleObj name="Visio" r:id="rId4" imgW="3010680" imgH="1164960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2065587"/>
                        <a:ext cx="5308857" cy="1541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472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Lượng số quan hệ (Multiplicity)</a:t>
            </a: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12</a:t>
            </a:fld>
            <a:endParaRPr lang="en-US" sz="1050" dirty="0"/>
          </a:p>
        </p:txBody>
      </p:sp>
      <p:graphicFrame>
        <p:nvGraphicFramePr>
          <p:cNvPr id="24578" name="Object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34092606"/>
              </p:ext>
            </p:extLst>
          </p:nvPr>
        </p:nvGraphicFramePr>
        <p:xfrm>
          <a:off x="1391451" y="2050080"/>
          <a:ext cx="6439448" cy="1962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4" name="Visio" r:id="rId4" imgW="3010680" imgH="1222200" progId="Visio.Drawing.11">
                  <p:embed/>
                </p:oleObj>
              </mc:Choice>
              <mc:Fallback>
                <p:oleObj name="Visio" r:id="rId4" imgW="3010680" imgH="1222200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1451" y="2050080"/>
                        <a:ext cx="6439448" cy="19620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643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 dirty="0" smtClean="0"/>
              <a:t>Giá trị của lượng số</a:t>
            </a:r>
            <a:endParaRPr lang="en-AU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13</a:t>
            </a:fld>
            <a:endParaRPr lang="en-US" sz="1050" dirty="0"/>
          </a:p>
        </p:txBody>
      </p:sp>
      <p:graphicFrame>
        <p:nvGraphicFramePr>
          <p:cNvPr id="6" name="Object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62766179"/>
              </p:ext>
            </p:extLst>
          </p:nvPr>
        </p:nvGraphicFramePr>
        <p:xfrm>
          <a:off x="2269351" y="1553588"/>
          <a:ext cx="3315890" cy="3561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8" name="Visio" r:id="rId4" imgW="2471017" imgH="2654347" progId="Visio.Drawing.11">
                  <p:embed/>
                </p:oleObj>
              </mc:Choice>
              <mc:Fallback>
                <p:oleObj name="Visio" r:id="rId4" imgW="2471017" imgH="2654347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9351" y="1553588"/>
                        <a:ext cx="3315890" cy="3561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093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AU" dirty="0" smtClean="0"/>
              <a:t>Đa quan hệ giữa 2 lớp</a:t>
            </a:r>
            <a:endParaRPr lang="en-AU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14</a:t>
            </a:fld>
            <a:endParaRPr lang="en-US" sz="1050" dirty="0"/>
          </a:p>
        </p:txBody>
      </p:sp>
      <p:graphicFrame>
        <p:nvGraphicFramePr>
          <p:cNvPr id="27650" name="Object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282212995"/>
              </p:ext>
            </p:extLst>
          </p:nvPr>
        </p:nvGraphicFramePr>
        <p:xfrm>
          <a:off x="960266" y="1980693"/>
          <a:ext cx="6965724" cy="1598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3" name="Visio" r:id="rId4" imgW="3010680" imgH="920160" progId="Visio.Drawing.11">
                  <p:embed/>
                </p:oleObj>
              </mc:Choice>
              <mc:Fallback>
                <p:oleObj name="Visio" r:id="rId4" imgW="3010680" imgH="920160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266" y="1980693"/>
                        <a:ext cx="6965724" cy="1598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7293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041" y="1283569"/>
            <a:ext cx="4677875" cy="3962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POS partial domain </a:t>
            </a:r>
            <a:r>
              <a:rPr lang="vi-VN" dirty="0" smtClean="0"/>
              <a:t>model</a:t>
            </a: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15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076981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16</a:t>
            </a:fld>
            <a:endParaRPr lang="en-US" sz="1050" dirty="0"/>
          </a:p>
        </p:txBody>
      </p:sp>
      <p:graphicFrame>
        <p:nvGraphicFramePr>
          <p:cNvPr id="7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2655626"/>
              </p:ext>
            </p:extLst>
          </p:nvPr>
        </p:nvGraphicFramePr>
        <p:xfrm>
          <a:off x="457200" y="2037886"/>
          <a:ext cx="8229600" cy="1296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615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02" y="1036300"/>
            <a:ext cx="5121098" cy="23635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 smtClean="0"/>
              <a:pPr/>
              <a:t>17</a:t>
            </a:fld>
            <a:endParaRPr lang="en-US" sz="10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740" y="1621321"/>
            <a:ext cx="4271963" cy="19716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148" y="2069528"/>
            <a:ext cx="4664869" cy="19716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877" y="2487694"/>
            <a:ext cx="4664869" cy="19716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377" y="2893268"/>
            <a:ext cx="4664869" cy="19716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2716" y="3296674"/>
            <a:ext cx="4743450" cy="19716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7718" y="3690374"/>
            <a:ext cx="4743450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5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tả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400" dirty="0" err="1" smtClean="0"/>
              <a:t>Màn</a:t>
            </a:r>
            <a:r>
              <a:rPr lang="en-US" sz="1400" dirty="0" smtClean="0"/>
              <a:t> </a:t>
            </a:r>
            <a:r>
              <a:rPr lang="en-US" sz="1400" dirty="0" err="1" smtClean="0"/>
              <a:t>hình</a:t>
            </a:r>
            <a:r>
              <a:rPr lang="en-US" sz="1400" dirty="0" smtClean="0"/>
              <a:t> </a:t>
            </a:r>
            <a:r>
              <a:rPr lang="en-US" sz="1400" dirty="0" err="1" smtClean="0"/>
              <a:t>chính</a:t>
            </a:r>
            <a:r>
              <a:rPr lang="en-US" sz="1400" dirty="0" smtClean="0"/>
              <a:t> </a:t>
            </a:r>
            <a:r>
              <a:rPr lang="en-US" sz="1400" dirty="0" err="1" smtClean="0"/>
              <a:t>được</a:t>
            </a:r>
            <a:r>
              <a:rPr lang="en-US" sz="1400" dirty="0" smtClean="0"/>
              <a:t> </a:t>
            </a:r>
            <a:r>
              <a:rPr lang="en-US" sz="1400" dirty="0" err="1" smtClean="0"/>
              <a:t>hiển</a:t>
            </a:r>
            <a:r>
              <a:rPr lang="en-US" sz="1400" dirty="0" smtClean="0"/>
              <a:t> </a:t>
            </a:r>
            <a:r>
              <a:rPr lang="en-US" sz="1400" dirty="0" err="1" smtClean="0"/>
              <a:t>thị</a:t>
            </a:r>
            <a:r>
              <a:rPr lang="en-US" sz="1400" dirty="0" smtClean="0"/>
              <a:t>, </a:t>
            </a:r>
            <a:r>
              <a:rPr lang="en-US" sz="1400" dirty="0" err="1" smtClean="0"/>
              <a:t>chương</a:t>
            </a:r>
            <a:r>
              <a:rPr lang="en-US" sz="1400" dirty="0" smtClean="0"/>
              <a:t> </a:t>
            </a:r>
            <a:r>
              <a:rPr lang="en-US" sz="1400" dirty="0" err="1" smtClean="0"/>
              <a:t>trình</a:t>
            </a:r>
            <a:r>
              <a:rPr lang="en-US" sz="1400" dirty="0" smtClean="0"/>
              <a:t> </a:t>
            </a:r>
            <a:r>
              <a:rPr lang="en-US" sz="1400" dirty="0" err="1" smtClean="0"/>
              <a:t>yêu</a:t>
            </a:r>
            <a:r>
              <a:rPr lang="en-US" sz="1400" dirty="0" smtClean="0"/>
              <a:t> </a:t>
            </a:r>
            <a:r>
              <a:rPr lang="en-US" sz="1400" dirty="0" err="1" smtClean="0"/>
              <a:t>cầu</a:t>
            </a:r>
            <a:r>
              <a:rPr lang="en-US" sz="1400" dirty="0" smtClean="0"/>
              <a:t> </a:t>
            </a:r>
            <a:r>
              <a:rPr lang="en-US" sz="1400" dirty="0" err="1" smtClean="0"/>
              <a:t>người</a:t>
            </a:r>
            <a:r>
              <a:rPr lang="en-US" sz="1400" dirty="0" smtClean="0"/>
              <a:t> </a:t>
            </a:r>
            <a:r>
              <a:rPr lang="en-US" sz="1400" dirty="0" err="1" smtClean="0"/>
              <a:t>dùng</a:t>
            </a:r>
            <a:r>
              <a:rPr lang="en-US" sz="1400" dirty="0" smtClean="0"/>
              <a:t> </a:t>
            </a:r>
            <a:r>
              <a:rPr lang="en-US" sz="1400" dirty="0" err="1" smtClean="0"/>
              <a:t>chọn</a:t>
            </a:r>
            <a:r>
              <a:rPr lang="en-US" sz="1400" dirty="0" smtClean="0"/>
              <a:t> </a:t>
            </a:r>
            <a:r>
              <a:rPr lang="en-US" sz="1400" dirty="0" err="1" smtClean="0"/>
              <a:t>chức</a:t>
            </a:r>
            <a:r>
              <a:rPr lang="en-US" sz="1400" dirty="0" smtClean="0"/>
              <a:t> </a:t>
            </a:r>
            <a:r>
              <a:rPr lang="en-US" sz="1400" dirty="0" err="1" smtClean="0"/>
              <a:t>năng</a:t>
            </a:r>
            <a:r>
              <a:rPr lang="en-US" sz="1400" dirty="0" smtClean="0"/>
              <a:t> </a:t>
            </a:r>
            <a:r>
              <a:rPr lang="en-US" sz="1400" dirty="0" err="1" smtClean="0"/>
              <a:t>bằng</a:t>
            </a:r>
            <a:r>
              <a:rPr lang="en-US" sz="1400" dirty="0" smtClean="0"/>
              <a:t> </a:t>
            </a:r>
            <a:r>
              <a:rPr lang="en-US" sz="1400" dirty="0" err="1" smtClean="0"/>
              <a:t>cách</a:t>
            </a:r>
            <a:r>
              <a:rPr lang="en-US" sz="1400" dirty="0" smtClean="0"/>
              <a:t> </a:t>
            </a:r>
            <a:r>
              <a:rPr lang="en-US" sz="1400" dirty="0" err="1" smtClean="0"/>
              <a:t>nhập</a:t>
            </a:r>
            <a:r>
              <a:rPr lang="en-US" sz="1400" dirty="0" smtClean="0"/>
              <a:t> </a:t>
            </a:r>
            <a:r>
              <a:rPr lang="en-US" sz="1400" dirty="0" err="1" smtClean="0"/>
              <a:t>một</a:t>
            </a:r>
            <a:r>
              <a:rPr lang="en-US" sz="1400" dirty="0" smtClean="0"/>
              <a:t> </a:t>
            </a:r>
            <a:r>
              <a:rPr lang="en-US" sz="1400" dirty="0" err="1" smtClean="0"/>
              <a:t>số</a:t>
            </a:r>
            <a:r>
              <a:rPr lang="en-US" sz="1400" dirty="0" smtClean="0"/>
              <a:t> </a:t>
            </a:r>
            <a:r>
              <a:rPr lang="en-US" sz="1400" dirty="0" err="1" smtClean="0"/>
              <a:t>từ</a:t>
            </a:r>
            <a:r>
              <a:rPr lang="en-US" sz="1400" dirty="0" smtClean="0"/>
              <a:t> 1-4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err="1" smtClean="0"/>
              <a:t>Người</a:t>
            </a:r>
            <a:r>
              <a:rPr lang="en-US" sz="1400" dirty="0" smtClean="0"/>
              <a:t> </a:t>
            </a:r>
            <a:r>
              <a:rPr lang="en-US" sz="1400" dirty="0" err="1" smtClean="0"/>
              <a:t>dùng</a:t>
            </a:r>
            <a:r>
              <a:rPr lang="en-US" sz="1400" dirty="0" smtClean="0"/>
              <a:t> </a:t>
            </a:r>
            <a:r>
              <a:rPr lang="en-US" sz="1400" dirty="0" err="1" smtClean="0"/>
              <a:t>nhập</a:t>
            </a:r>
            <a:r>
              <a:rPr lang="en-US" sz="1400" dirty="0" smtClean="0"/>
              <a:t> </a:t>
            </a:r>
            <a:r>
              <a:rPr lang="en-US" sz="1400" dirty="0" err="1" smtClean="0"/>
              <a:t>số</a:t>
            </a:r>
            <a:r>
              <a:rPr lang="en-US" sz="1400" dirty="0" smtClean="0"/>
              <a:t> 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err="1" smtClean="0"/>
              <a:t>Hệ</a:t>
            </a:r>
            <a:r>
              <a:rPr lang="en-US" sz="1400" dirty="0" smtClean="0"/>
              <a:t> </a:t>
            </a:r>
            <a:r>
              <a:rPr lang="en-US" sz="1400" dirty="0" err="1" smtClean="0"/>
              <a:t>thống</a:t>
            </a:r>
            <a:r>
              <a:rPr lang="en-US" sz="1400" dirty="0" smtClean="0"/>
              <a:t> </a:t>
            </a:r>
            <a:r>
              <a:rPr lang="en-US" sz="1400" dirty="0" err="1" smtClean="0"/>
              <a:t>hiển</a:t>
            </a:r>
            <a:r>
              <a:rPr lang="en-US" sz="1400" dirty="0" smtClean="0"/>
              <a:t> </a:t>
            </a:r>
            <a:r>
              <a:rPr lang="en-US" sz="1400" dirty="0" err="1" smtClean="0"/>
              <a:t>thị</a:t>
            </a:r>
            <a:r>
              <a:rPr lang="en-US" sz="1400" dirty="0" smtClean="0"/>
              <a:t> </a:t>
            </a:r>
            <a:r>
              <a:rPr lang="en-US" sz="1400" dirty="0" err="1" smtClean="0"/>
              <a:t>thông</a:t>
            </a:r>
            <a:r>
              <a:rPr lang="en-US" sz="1400" dirty="0" smtClean="0"/>
              <a:t> </a:t>
            </a:r>
            <a:r>
              <a:rPr lang="en-US" sz="1400" dirty="0" err="1" smtClean="0"/>
              <a:t>báo</a:t>
            </a:r>
            <a:r>
              <a:rPr lang="en-US" sz="1400" dirty="0" smtClean="0"/>
              <a:t>: </a:t>
            </a:r>
            <a:r>
              <a:rPr lang="en-US" sz="1400" b="1" dirty="0" smtClean="0"/>
              <a:t>Ban dang </a:t>
            </a:r>
            <a:r>
              <a:rPr lang="en-US" sz="1400" b="1" dirty="0" err="1" smtClean="0"/>
              <a:t>thuc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hien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chuc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nang</a:t>
            </a:r>
            <a:r>
              <a:rPr lang="en-US" sz="1400" b="1" dirty="0" smtClean="0"/>
              <a:t> them </a:t>
            </a:r>
            <a:r>
              <a:rPr lang="en-US" sz="1400" b="1" dirty="0" err="1" smtClean="0"/>
              <a:t>sinh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vien</a:t>
            </a:r>
            <a:r>
              <a:rPr lang="en-US" sz="1400" dirty="0" smtClean="0"/>
              <a:t>. </a:t>
            </a:r>
            <a:r>
              <a:rPr lang="en-US" sz="1400" dirty="0" err="1" smtClean="0"/>
              <a:t>Hệ</a:t>
            </a:r>
            <a:r>
              <a:rPr lang="en-US" sz="1400" dirty="0" smtClean="0"/>
              <a:t> </a:t>
            </a:r>
            <a:r>
              <a:rPr lang="en-US" sz="1400" dirty="0" err="1" smtClean="0"/>
              <a:t>thống</a:t>
            </a:r>
            <a:r>
              <a:rPr lang="en-US" sz="1400" dirty="0" smtClean="0"/>
              <a:t> </a:t>
            </a:r>
            <a:r>
              <a:rPr lang="en-US" sz="1400" dirty="0" err="1" smtClean="0"/>
              <a:t>yêu</a:t>
            </a:r>
            <a:r>
              <a:rPr lang="en-US" sz="1400" dirty="0" smtClean="0"/>
              <a:t> </a:t>
            </a:r>
            <a:r>
              <a:rPr lang="en-US" sz="1400" dirty="0" err="1" smtClean="0"/>
              <a:t>cầu</a:t>
            </a:r>
            <a:r>
              <a:rPr lang="en-US" sz="1400" dirty="0" smtClean="0"/>
              <a:t> </a:t>
            </a:r>
            <a:r>
              <a:rPr lang="en-US" sz="1400" dirty="0" err="1" smtClean="0"/>
              <a:t>nhấn</a:t>
            </a:r>
            <a:r>
              <a:rPr lang="en-US" sz="1400" dirty="0" smtClean="0"/>
              <a:t> Enter </a:t>
            </a:r>
            <a:r>
              <a:rPr lang="en-US" sz="1400" dirty="0" err="1" smtClean="0"/>
              <a:t>để</a:t>
            </a:r>
            <a:r>
              <a:rPr lang="en-US" sz="1400" dirty="0" smtClean="0"/>
              <a:t> </a:t>
            </a:r>
            <a:r>
              <a:rPr lang="en-US" sz="1400" dirty="0" err="1" smtClean="0"/>
              <a:t>tiếp</a:t>
            </a:r>
            <a:r>
              <a:rPr lang="en-US" sz="1400" dirty="0" smtClean="0"/>
              <a:t> </a:t>
            </a:r>
            <a:r>
              <a:rPr lang="en-US" sz="1400" dirty="0" err="1" smtClean="0"/>
              <a:t>tục</a:t>
            </a:r>
            <a:endParaRPr lang="en-US" sz="1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1400" dirty="0" err="1" smtClean="0"/>
              <a:t>Người</a:t>
            </a:r>
            <a:r>
              <a:rPr lang="en-US" sz="1400" dirty="0" smtClean="0"/>
              <a:t> </a:t>
            </a:r>
            <a:r>
              <a:rPr lang="en-US" sz="1400" dirty="0" err="1" smtClean="0"/>
              <a:t>dùng</a:t>
            </a:r>
            <a:r>
              <a:rPr lang="en-US" sz="1400" dirty="0" smtClean="0"/>
              <a:t> </a:t>
            </a:r>
            <a:r>
              <a:rPr lang="en-US" sz="1400" dirty="0" err="1" smtClean="0"/>
              <a:t>nhấn</a:t>
            </a:r>
            <a:r>
              <a:rPr lang="en-US" sz="1400" dirty="0" smtClean="0"/>
              <a:t> Enter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err="1" smtClean="0"/>
              <a:t>Hệ</a:t>
            </a:r>
            <a:r>
              <a:rPr lang="en-US" sz="1400" dirty="0" smtClean="0"/>
              <a:t> </a:t>
            </a:r>
            <a:r>
              <a:rPr lang="en-US" sz="1400" dirty="0" err="1" smtClean="0"/>
              <a:t>thống</a:t>
            </a:r>
            <a:r>
              <a:rPr lang="en-US" sz="1400" dirty="0" smtClean="0"/>
              <a:t> </a:t>
            </a:r>
            <a:r>
              <a:rPr lang="en-US" sz="1400" dirty="0" err="1" smtClean="0"/>
              <a:t>yêu</a:t>
            </a:r>
            <a:r>
              <a:rPr lang="en-US" sz="1400" dirty="0" smtClean="0"/>
              <a:t> </a:t>
            </a:r>
            <a:r>
              <a:rPr lang="en-US" sz="1400" dirty="0" err="1" smtClean="0"/>
              <a:t>cầu</a:t>
            </a:r>
            <a:r>
              <a:rPr lang="en-US" sz="1400" dirty="0" smtClean="0"/>
              <a:t> </a:t>
            </a:r>
            <a:r>
              <a:rPr lang="en-US" sz="1400" dirty="0" err="1" smtClean="0"/>
              <a:t>nhập</a:t>
            </a:r>
            <a:r>
              <a:rPr lang="en-US" sz="1400" dirty="0" smtClean="0"/>
              <a:t> </a:t>
            </a:r>
            <a:r>
              <a:rPr lang="en-US" sz="1400" dirty="0" err="1" smtClean="0"/>
              <a:t>Họ</a:t>
            </a:r>
            <a:r>
              <a:rPr lang="en-US" sz="1400" dirty="0" smtClean="0"/>
              <a:t> </a:t>
            </a:r>
            <a:r>
              <a:rPr lang="en-US" sz="1400" dirty="0" err="1" smtClean="0"/>
              <a:t>và</a:t>
            </a:r>
            <a:r>
              <a:rPr lang="en-US" sz="1400" dirty="0" smtClean="0"/>
              <a:t> </a:t>
            </a:r>
            <a:r>
              <a:rPr lang="en-US" sz="1400" dirty="0" err="1"/>
              <a:t>T</a:t>
            </a:r>
            <a:r>
              <a:rPr lang="en-US" sz="1400" dirty="0" err="1" smtClean="0"/>
              <a:t>ên</a:t>
            </a:r>
            <a:r>
              <a:rPr lang="en-US" sz="1400" dirty="0" smtClean="0"/>
              <a:t> </a:t>
            </a:r>
            <a:r>
              <a:rPr lang="en-US" sz="1400" dirty="0" err="1" smtClean="0"/>
              <a:t>sinh</a:t>
            </a:r>
            <a:r>
              <a:rPr lang="en-US" sz="1400" dirty="0" smtClean="0"/>
              <a:t> </a:t>
            </a:r>
            <a:r>
              <a:rPr lang="en-US" sz="1400" dirty="0" err="1" smtClean="0"/>
              <a:t>viên</a:t>
            </a:r>
            <a:endParaRPr lang="en-US" sz="1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1400" dirty="0" err="1" smtClean="0"/>
              <a:t>Người</a:t>
            </a:r>
            <a:r>
              <a:rPr lang="en-US" sz="1400" dirty="0" smtClean="0"/>
              <a:t> </a:t>
            </a:r>
            <a:r>
              <a:rPr lang="en-US" sz="1400" dirty="0" err="1" smtClean="0"/>
              <a:t>dùng</a:t>
            </a:r>
            <a:r>
              <a:rPr lang="en-US" sz="1400" dirty="0" smtClean="0"/>
              <a:t> </a:t>
            </a:r>
            <a:r>
              <a:rPr lang="en-US" sz="1400" dirty="0" err="1" smtClean="0"/>
              <a:t>nhập</a:t>
            </a:r>
            <a:r>
              <a:rPr lang="en-US" sz="1400" dirty="0" smtClean="0"/>
              <a:t> </a:t>
            </a:r>
            <a:r>
              <a:rPr lang="en-US" sz="1400" dirty="0" err="1" smtClean="0"/>
              <a:t>Họ</a:t>
            </a:r>
            <a:r>
              <a:rPr lang="en-US" sz="1400" dirty="0" smtClean="0"/>
              <a:t> </a:t>
            </a:r>
            <a:r>
              <a:rPr lang="en-US" sz="1400" dirty="0" err="1" smtClean="0"/>
              <a:t>Tên</a:t>
            </a:r>
            <a:endParaRPr lang="en-US" sz="1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1400" dirty="0" err="1"/>
              <a:t>Hệ</a:t>
            </a:r>
            <a:r>
              <a:rPr lang="en-US" sz="1400" dirty="0"/>
              <a:t> </a:t>
            </a:r>
            <a:r>
              <a:rPr lang="en-US" sz="1400" dirty="0" err="1"/>
              <a:t>thống</a:t>
            </a:r>
            <a:r>
              <a:rPr lang="en-US" sz="1400" dirty="0"/>
              <a:t> </a:t>
            </a:r>
            <a:r>
              <a:rPr lang="en-US" sz="1400" dirty="0" err="1"/>
              <a:t>yêu</a:t>
            </a:r>
            <a:r>
              <a:rPr lang="en-US" sz="1400" dirty="0"/>
              <a:t> </a:t>
            </a:r>
            <a:r>
              <a:rPr lang="en-US" sz="1400" dirty="0" err="1"/>
              <a:t>cầu</a:t>
            </a:r>
            <a:r>
              <a:rPr lang="en-US" sz="1400" dirty="0"/>
              <a:t> </a:t>
            </a:r>
            <a:r>
              <a:rPr lang="en-US" sz="1400" dirty="0" err="1"/>
              <a:t>nhập</a:t>
            </a:r>
            <a:r>
              <a:rPr lang="en-US" sz="1400" dirty="0"/>
              <a:t> </a:t>
            </a:r>
            <a:r>
              <a:rPr lang="en-US" sz="1400" dirty="0" err="1" smtClean="0"/>
              <a:t>Mã</a:t>
            </a:r>
            <a:r>
              <a:rPr lang="en-US" sz="1400" dirty="0" smtClean="0"/>
              <a:t> </a:t>
            </a:r>
            <a:r>
              <a:rPr lang="en-US" sz="1400" dirty="0" err="1" smtClean="0"/>
              <a:t>Số</a:t>
            </a:r>
            <a:r>
              <a:rPr lang="en-US" sz="1400" dirty="0" smtClean="0"/>
              <a:t> </a:t>
            </a:r>
            <a:r>
              <a:rPr lang="en-US" sz="1400" dirty="0" err="1" smtClean="0"/>
              <a:t>sinh</a:t>
            </a:r>
            <a:r>
              <a:rPr lang="en-US" sz="1400" dirty="0" smtClean="0"/>
              <a:t> </a:t>
            </a:r>
            <a:r>
              <a:rPr lang="en-US" sz="1400" dirty="0" err="1"/>
              <a:t>viên</a:t>
            </a:r>
            <a:endParaRPr lang="en-US" sz="1400" dirty="0"/>
          </a:p>
          <a:p>
            <a:pPr marL="457200" indent="-457200">
              <a:buFont typeface="+mj-lt"/>
              <a:buAutoNum type="arabicPeriod"/>
            </a:pPr>
            <a:r>
              <a:rPr lang="en-US" sz="1400" dirty="0" err="1"/>
              <a:t>Người</a:t>
            </a:r>
            <a:r>
              <a:rPr lang="en-US" sz="1400" dirty="0"/>
              <a:t> </a:t>
            </a:r>
            <a:r>
              <a:rPr lang="en-US" sz="1400" dirty="0" err="1"/>
              <a:t>dùng</a:t>
            </a:r>
            <a:r>
              <a:rPr lang="en-US" sz="1400" dirty="0"/>
              <a:t> </a:t>
            </a:r>
            <a:r>
              <a:rPr lang="en-US" sz="1400" dirty="0" err="1"/>
              <a:t>nhập</a:t>
            </a:r>
            <a:r>
              <a:rPr lang="en-US" sz="1400" dirty="0"/>
              <a:t> </a:t>
            </a:r>
            <a:r>
              <a:rPr lang="en-US" sz="1400" dirty="0" err="1" smtClean="0"/>
              <a:t>Mã</a:t>
            </a:r>
            <a:r>
              <a:rPr lang="en-US" sz="1400" dirty="0" smtClean="0"/>
              <a:t> </a:t>
            </a:r>
            <a:r>
              <a:rPr lang="en-US" sz="1400" dirty="0" err="1" smtClean="0"/>
              <a:t>Số</a:t>
            </a:r>
            <a:endParaRPr lang="en-US" sz="1400" dirty="0"/>
          </a:p>
          <a:p>
            <a:pPr marL="457200" indent="-457200">
              <a:buFont typeface="+mj-lt"/>
              <a:buAutoNum type="arabicPeriod"/>
            </a:pPr>
            <a:r>
              <a:rPr lang="en-US" sz="1400" dirty="0" err="1"/>
              <a:t>Hệ</a:t>
            </a:r>
            <a:r>
              <a:rPr lang="en-US" sz="1400" dirty="0"/>
              <a:t> </a:t>
            </a:r>
            <a:r>
              <a:rPr lang="en-US" sz="1400" dirty="0" err="1"/>
              <a:t>thống</a:t>
            </a:r>
            <a:r>
              <a:rPr lang="en-US" sz="1400" dirty="0"/>
              <a:t> </a:t>
            </a:r>
            <a:r>
              <a:rPr lang="en-US" sz="1400" dirty="0" err="1"/>
              <a:t>yêu</a:t>
            </a:r>
            <a:r>
              <a:rPr lang="en-US" sz="1400" dirty="0"/>
              <a:t> </a:t>
            </a:r>
            <a:r>
              <a:rPr lang="en-US" sz="1400" dirty="0" err="1"/>
              <a:t>cầu</a:t>
            </a:r>
            <a:r>
              <a:rPr lang="en-US" sz="1400" dirty="0"/>
              <a:t> </a:t>
            </a:r>
            <a:r>
              <a:rPr lang="en-US" sz="1400" dirty="0" err="1"/>
              <a:t>nhập</a:t>
            </a:r>
            <a:r>
              <a:rPr lang="en-US" sz="1400" dirty="0"/>
              <a:t> </a:t>
            </a:r>
            <a:r>
              <a:rPr lang="en-US" sz="1400" dirty="0" err="1" smtClean="0"/>
              <a:t>Số</a:t>
            </a:r>
            <a:r>
              <a:rPr lang="en-US" sz="1400" dirty="0" smtClean="0"/>
              <a:t> </a:t>
            </a:r>
            <a:r>
              <a:rPr lang="en-US" sz="1400" dirty="0" err="1" smtClean="0"/>
              <a:t>Điện</a:t>
            </a:r>
            <a:r>
              <a:rPr lang="en-US" sz="1400" dirty="0" smtClean="0"/>
              <a:t> </a:t>
            </a:r>
            <a:r>
              <a:rPr lang="en-US" sz="1400" dirty="0" err="1" smtClean="0"/>
              <a:t>Thoại</a:t>
            </a:r>
            <a:endParaRPr lang="en-US" sz="1400" dirty="0"/>
          </a:p>
          <a:p>
            <a:pPr marL="457200" indent="-457200">
              <a:buFont typeface="+mj-lt"/>
              <a:buAutoNum type="arabicPeriod"/>
            </a:pPr>
            <a:r>
              <a:rPr lang="en-US" sz="1400" dirty="0" err="1"/>
              <a:t>Người</a:t>
            </a:r>
            <a:r>
              <a:rPr lang="en-US" sz="1400" dirty="0"/>
              <a:t> </a:t>
            </a:r>
            <a:r>
              <a:rPr lang="en-US" sz="1400" dirty="0" err="1"/>
              <a:t>dùng</a:t>
            </a:r>
            <a:r>
              <a:rPr lang="en-US" sz="1400" dirty="0"/>
              <a:t> </a:t>
            </a:r>
            <a:r>
              <a:rPr lang="en-US" sz="1400" dirty="0" err="1"/>
              <a:t>nhập</a:t>
            </a:r>
            <a:r>
              <a:rPr lang="en-US" sz="1400" dirty="0"/>
              <a:t> </a:t>
            </a:r>
            <a:r>
              <a:rPr lang="en-US" sz="1400" dirty="0" err="1" smtClean="0"/>
              <a:t>Số</a:t>
            </a:r>
            <a:r>
              <a:rPr lang="en-US" sz="1400" dirty="0" smtClean="0"/>
              <a:t> </a:t>
            </a:r>
            <a:r>
              <a:rPr lang="en-US" sz="1400" dirty="0" err="1" smtClean="0"/>
              <a:t>Điện</a:t>
            </a:r>
            <a:r>
              <a:rPr lang="en-US" sz="1400" dirty="0" smtClean="0"/>
              <a:t> </a:t>
            </a:r>
            <a:r>
              <a:rPr lang="en-US" sz="1400" dirty="0" err="1" smtClean="0"/>
              <a:t>Thoại</a:t>
            </a:r>
            <a:endParaRPr lang="en-US" sz="1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1400" dirty="0" err="1" smtClean="0"/>
              <a:t>Hệ</a:t>
            </a:r>
            <a:r>
              <a:rPr lang="en-US" sz="1400" dirty="0" smtClean="0"/>
              <a:t> </a:t>
            </a:r>
            <a:r>
              <a:rPr lang="en-US" sz="1400" dirty="0" err="1" smtClean="0"/>
              <a:t>thống</a:t>
            </a:r>
            <a:r>
              <a:rPr lang="en-US" sz="1400" dirty="0" smtClean="0"/>
              <a:t> </a:t>
            </a:r>
            <a:r>
              <a:rPr lang="en-US" sz="1400" dirty="0" err="1" smtClean="0"/>
              <a:t>hiển</a:t>
            </a:r>
            <a:r>
              <a:rPr lang="en-US" sz="1400" dirty="0" smtClean="0"/>
              <a:t> </a:t>
            </a:r>
            <a:r>
              <a:rPr lang="en-US" sz="1400" dirty="0" err="1" smtClean="0"/>
              <a:t>thị</a:t>
            </a:r>
            <a:r>
              <a:rPr lang="en-US" sz="1400" dirty="0" smtClean="0"/>
              <a:t> </a:t>
            </a:r>
            <a:r>
              <a:rPr lang="en-US" sz="1400" dirty="0" err="1" smtClean="0"/>
              <a:t>các</a:t>
            </a:r>
            <a:r>
              <a:rPr lang="en-US" sz="1400" dirty="0" smtClean="0"/>
              <a:t> </a:t>
            </a:r>
            <a:r>
              <a:rPr lang="en-US" sz="1400" dirty="0" err="1" smtClean="0"/>
              <a:t>thông</a:t>
            </a:r>
            <a:r>
              <a:rPr lang="en-US" sz="1400" dirty="0" smtClean="0"/>
              <a:t> tin </a:t>
            </a:r>
            <a:r>
              <a:rPr lang="en-US" sz="1400" dirty="0" err="1" smtClean="0"/>
              <a:t>đã</a:t>
            </a:r>
            <a:r>
              <a:rPr lang="en-US" sz="1400" dirty="0" smtClean="0"/>
              <a:t> </a:t>
            </a:r>
            <a:r>
              <a:rPr lang="en-US" sz="1400" dirty="0" err="1" smtClean="0"/>
              <a:t>nhập</a:t>
            </a:r>
            <a:r>
              <a:rPr lang="en-US" sz="1400" dirty="0" smtClean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err="1" smtClean="0"/>
              <a:t>Hệ</a:t>
            </a:r>
            <a:r>
              <a:rPr lang="en-US" sz="1400" dirty="0" smtClean="0"/>
              <a:t> </a:t>
            </a:r>
            <a:r>
              <a:rPr lang="en-US" sz="1400" dirty="0" err="1" smtClean="0"/>
              <a:t>thống</a:t>
            </a:r>
            <a:r>
              <a:rPr lang="en-US" sz="1400" dirty="0" smtClean="0"/>
              <a:t> </a:t>
            </a:r>
            <a:r>
              <a:rPr lang="en-US" sz="1400" dirty="0" err="1" smtClean="0"/>
              <a:t>hiển</a:t>
            </a:r>
            <a:r>
              <a:rPr lang="en-US" sz="1400" dirty="0" smtClean="0"/>
              <a:t> </a:t>
            </a:r>
            <a:r>
              <a:rPr lang="en-US" sz="1400" dirty="0" err="1" smtClean="0"/>
              <a:t>thị</a:t>
            </a:r>
            <a:r>
              <a:rPr lang="en-US" sz="1400" dirty="0" smtClean="0"/>
              <a:t> </a:t>
            </a:r>
            <a:r>
              <a:rPr lang="en-US" sz="1400" dirty="0" err="1" smtClean="0"/>
              <a:t>thông</a:t>
            </a:r>
            <a:r>
              <a:rPr lang="en-US" sz="1400" dirty="0" smtClean="0"/>
              <a:t> </a:t>
            </a:r>
            <a:r>
              <a:rPr lang="en-US" sz="1400" dirty="0" err="1" smtClean="0"/>
              <a:t>báo</a:t>
            </a:r>
            <a:r>
              <a:rPr lang="en-US" sz="1400" dirty="0" smtClean="0"/>
              <a:t>: </a:t>
            </a:r>
            <a:r>
              <a:rPr lang="en-US" sz="1400" b="1" dirty="0" smtClean="0"/>
              <a:t>Ban co muon </a:t>
            </a:r>
            <a:r>
              <a:rPr lang="en-US" sz="1400" b="1" dirty="0" err="1" smtClean="0"/>
              <a:t>luu</a:t>
            </a:r>
            <a:r>
              <a:rPr lang="en-US" sz="1400" b="1" dirty="0" smtClean="0"/>
              <a:t> thong tin </a:t>
            </a:r>
            <a:r>
              <a:rPr lang="en-US" sz="1400" b="1" dirty="0" err="1" smtClean="0"/>
              <a:t>vao</a:t>
            </a:r>
            <a:r>
              <a:rPr lang="en-US" sz="1400" b="1" dirty="0" smtClean="0"/>
              <a:t> file </a:t>
            </a:r>
            <a:r>
              <a:rPr lang="en-US" sz="1400" b="1" dirty="0" err="1" smtClean="0"/>
              <a:t>khong</a:t>
            </a:r>
            <a:r>
              <a:rPr lang="en-US" sz="1400" b="1" dirty="0" smtClean="0"/>
              <a:t> (c/k)? </a:t>
            </a:r>
            <a:r>
              <a:rPr lang="en-US" sz="1400" dirty="0" err="1" smtClean="0"/>
              <a:t>Và</a:t>
            </a:r>
            <a:r>
              <a:rPr lang="en-US" sz="1400" dirty="0" smtClean="0"/>
              <a:t> </a:t>
            </a:r>
            <a:r>
              <a:rPr lang="en-US" sz="1400" dirty="0" err="1" smtClean="0"/>
              <a:t>yêu</a:t>
            </a:r>
            <a:r>
              <a:rPr lang="en-US" sz="1400" dirty="0" smtClean="0"/>
              <a:t> </a:t>
            </a:r>
            <a:r>
              <a:rPr lang="en-US" sz="1400" dirty="0" err="1" smtClean="0"/>
              <a:t>cầu</a:t>
            </a:r>
            <a:r>
              <a:rPr lang="en-US" sz="1400" dirty="0" smtClean="0"/>
              <a:t> </a:t>
            </a:r>
            <a:r>
              <a:rPr lang="en-US" sz="1400" dirty="0" err="1" smtClean="0"/>
              <a:t>người</a:t>
            </a:r>
            <a:r>
              <a:rPr lang="en-US" sz="1400" dirty="0" smtClean="0"/>
              <a:t> </a:t>
            </a:r>
            <a:r>
              <a:rPr lang="en-US" sz="1400" dirty="0" err="1" smtClean="0"/>
              <a:t>dùng</a:t>
            </a:r>
            <a:r>
              <a:rPr lang="en-US" sz="1400" dirty="0" smtClean="0"/>
              <a:t> </a:t>
            </a:r>
            <a:r>
              <a:rPr lang="en-US" sz="1400" dirty="0" err="1" smtClean="0"/>
              <a:t>nhập</a:t>
            </a:r>
            <a:r>
              <a:rPr lang="en-US" sz="1400" dirty="0" smtClean="0"/>
              <a:t> c </a:t>
            </a:r>
            <a:r>
              <a:rPr lang="en-US" sz="1400" dirty="0" err="1" smtClean="0"/>
              <a:t>hoặc</a:t>
            </a:r>
            <a:r>
              <a:rPr lang="en-US" sz="1400" dirty="0" smtClean="0"/>
              <a:t> 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err="1" smtClean="0"/>
              <a:t>Người</a:t>
            </a:r>
            <a:r>
              <a:rPr lang="en-US" sz="1400" dirty="0" smtClean="0"/>
              <a:t> dung </a:t>
            </a:r>
            <a:r>
              <a:rPr lang="en-US" sz="1400" dirty="0" err="1" smtClean="0"/>
              <a:t>nhập</a:t>
            </a:r>
            <a:r>
              <a:rPr lang="en-US" sz="1400" dirty="0" smtClean="0"/>
              <a:t> c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err="1" smtClean="0"/>
              <a:t>Hệ</a:t>
            </a:r>
            <a:r>
              <a:rPr lang="en-US" sz="1400" dirty="0" smtClean="0"/>
              <a:t> </a:t>
            </a:r>
            <a:r>
              <a:rPr lang="en-US" sz="1400" dirty="0" err="1" smtClean="0"/>
              <a:t>thống</a:t>
            </a:r>
            <a:r>
              <a:rPr lang="en-US" sz="1400" dirty="0" smtClean="0"/>
              <a:t> </a:t>
            </a:r>
            <a:r>
              <a:rPr lang="en-US" sz="1400" dirty="0" err="1" smtClean="0"/>
              <a:t>thông</a:t>
            </a:r>
            <a:r>
              <a:rPr lang="en-US" sz="1400" dirty="0" smtClean="0"/>
              <a:t> </a:t>
            </a:r>
            <a:r>
              <a:rPr lang="en-US" sz="1400" dirty="0" err="1" smtClean="0"/>
              <a:t>báo</a:t>
            </a:r>
            <a:r>
              <a:rPr lang="en-US" sz="1400" dirty="0" smtClean="0"/>
              <a:t>: </a:t>
            </a:r>
            <a:r>
              <a:rPr lang="en-US" sz="1400" b="1" dirty="0" smtClean="0"/>
              <a:t>Thong tin da </a:t>
            </a:r>
            <a:r>
              <a:rPr lang="en-US" sz="1400" b="1" dirty="0" err="1" smtClean="0"/>
              <a:t>duoc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luu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vao</a:t>
            </a:r>
            <a:r>
              <a:rPr lang="en-US" sz="1400" b="1" dirty="0" smtClean="0"/>
              <a:t> file </a:t>
            </a:r>
            <a:r>
              <a:rPr lang="en-US" sz="1400" b="1" dirty="0" err="1" smtClean="0"/>
              <a:t>thanh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cong</a:t>
            </a:r>
            <a:r>
              <a:rPr lang="en-US" sz="1400" b="1" dirty="0" smtClean="0"/>
              <a:t>!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err="1" smtClean="0"/>
              <a:t>Kết</a:t>
            </a:r>
            <a:r>
              <a:rPr lang="en-US" sz="1400" dirty="0" smtClean="0"/>
              <a:t> </a:t>
            </a:r>
            <a:r>
              <a:rPr lang="en-US" sz="1400" dirty="0" err="1" smtClean="0"/>
              <a:t>thúc</a:t>
            </a:r>
            <a:r>
              <a:rPr lang="en-US" sz="1400" dirty="0" smtClean="0"/>
              <a:t> </a:t>
            </a:r>
            <a:r>
              <a:rPr lang="en-US" sz="1400" dirty="0" err="1" smtClean="0"/>
              <a:t>chức</a:t>
            </a:r>
            <a:r>
              <a:rPr lang="en-US" sz="1400" dirty="0" smtClean="0"/>
              <a:t> </a:t>
            </a:r>
            <a:r>
              <a:rPr lang="en-US" sz="1400" dirty="0" err="1" smtClean="0"/>
              <a:t>năng</a:t>
            </a:r>
            <a:r>
              <a:rPr lang="en-US" sz="1400" dirty="0" smtClean="0"/>
              <a:t> </a:t>
            </a:r>
            <a:r>
              <a:rPr lang="en-US" sz="1400" dirty="0" err="1" smtClean="0"/>
              <a:t>Thêm</a:t>
            </a:r>
            <a:r>
              <a:rPr lang="en-US" sz="1400" dirty="0" smtClean="0"/>
              <a:t> </a:t>
            </a:r>
            <a:r>
              <a:rPr lang="en-US" sz="1400" dirty="0" err="1" smtClean="0"/>
              <a:t>sinh</a:t>
            </a:r>
            <a:r>
              <a:rPr lang="en-US" sz="1400" dirty="0" smtClean="0"/>
              <a:t> </a:t>
            </a:r>
            <a:r>
              <a:rPr lang="en-US" sz="1400" dirty="0" err="1" smtClean="0"/>
              <a:t>viên</a:t>
            </a:r>
            <a:endParaRPr lang="en-US" sz="1400" dirty="0" smtClean="0"/>
          </a:p>
          <a:p>
            <a:pPr marL="457200" indent="-457200">
              <a:buFont typeface="+mj-lt"/>
              <a:buAutoNum type="arabicPeriod"/>
            </a:pPr>
            <a:endParaRPr lang="en-US" sz="1400" dirty="0"/>
          </a:p>
          <a:p>
            <a:pPr marL="457200" indent="-457200"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 smtClean="0"/>
              <a:pPr/>
              <a:t>18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83643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Câu hỏi ôn tập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19</a:t>
            </a:fld>
            <a:endParaRPr lang="en-US" sz="1050" dirty="0"/>
          </a:p>
        </p:txBody>
      </p:sp>
      <p:pic>
        <p:nvPicPr>
          <p:cNvPr id="15362" name="Picture 2" descr="http://images.careerbuilder.vn/content/news/20131002/2013_10_02%20-%203%20question%20mark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2" y="2175272"/>
            <a:ext cx="3214688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67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Câu 01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Mô hình lĩnh vực là gì?</a:t>
            </a:r>
          </a:p>
          <a:p>
            <a:pPr marL="728663" lvl="1" indent="-385763">
              <a:buFont typeface="+mj-lt"/>
              <a:buAutoNum type="alphaLcParenR"/>
            </a:pPr>
            <a:r>
              <a:rPr lang="en-US" dirty="0" smtClean="0"/>
              <a:t>Là mô hình chứa các conceptual class</a:t>
            </a:r>
          </a:p>
          <a:p>
            <a:pPr marL="728663" lvl="1" indent="-385763">
              <a:buFont typeface="+mj-lt"/>
              <a:buAutoNum type="alphaLcParenR"/>
            </a:pPr>
            <a:r>
              <a:rPr lang="en-US" dirty="0"/>
              <a:t>Là mô hình chứa </a:t>
            </a:r>
            <a:r>
              <a:rPr lang="en-US" dirty="0" smtClean="0"/>
              <a:t>các software class</a:t>
            </a:r>
            <a:endParaRPr lang="en-US" dirty="0"/>
          </a:p>
          <a:p>
            <a:pPr marL="728663" lvl="1" indent="-385763">
              <a:buFont typeface="+mj-lt"/>
              <a:buAutoNum type="alphaLcParenR"/>
            </a:pPr>
            <a:r>
              <a:rPr lang="en-US" dirty="0"/>
              <a:t>Là mô hình chứa </a:t>
            </a:r>
            <a:r>
              <a:rPr lang="en-US" dirty="0" smtClean="0"/>
              <a:t>các implementation class</a:t>
            </a:r>
          </a:p>
          <a:p>
            <a:pPr marL="728663" lvl="1" indent="-385763">
              <a:buFont typeface="+mj-lt"/>
              <a:buAutoNum type="alphaLcParenR"/>
            </a:pPr>
            <a:r>
              <a:rPr lang="en-US" dirty="0" smtClean="0"/>
              <a:t>Tất cả đều đúng</a:t>
            </a:r>
            <a:endParaRPr lang="en-US" dirty="0"/>
          </a:p>
          <a:p>
            <a:pPr marL="728663" lvl="1" indent="-385763">
              <a:buFont typeface="+mj-lt"/>
              <a:buAutoNum type="alphaLcParenR"/>
            </a:pPr>
            <a:endParaRPr lang="en-US" dirty="0" smtClean="0"/>
          </a:p>
          <a:p>
            <a:pPr marL="728663" lvl="1" indent="-385763">
              <a:buFont typeface="+mj-lt"/>
              <a:buAutoNum type="alphaL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20</a:t>
            </a:fld>
            <a:endParaRPr lang="en-US" sz="1050" dirty="0"/>
          </a:p>
        </p:txBody>
      </p:sp>
      <p:sp>
        <p:nvSpPr>
          <p:cNvPr id="10" name="Oval 9"/>
          <p:cNvSpPr/>
          <p:nvPr/>
        </p:nvSpPr>
        <p:spPr>
          <a:xfrm>
            <a:off x="778669" y="1709961"/>
            <a:ext cx="389335" cy="417910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0"/>
          </a:p>
        </p:txBody>
      </p:sp>
    </p:spTree>
    <p:extLst>
      <p:ext uri="{BB962C8B-B14F-4D97-AF65-F5344CB8AC3E}">
        <p14:creationId xmlns:p14="http://schemas.microsoft.com/office/powerpoint/2010/main" val="220146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Câu 02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Để xây dựng mô hình lĩnh vực cần thực hiện bao nhiêu bước?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1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2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3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4</a:t>
            </a:r>
          </a:p>
          <a:p>
            <a:pPr marL="385763" indent="-385763">
              <a:buFont typeface="+mj-lt"/>
              <a:buAutoNum type="alphaL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21</a:t>
            </a:fld>
            <a:endParaRPr lang="en-US" sz="1050" dirty="0"/>
          </a:p>
        </p:txBody>
      </p:sp>
      <p:sp>
        <p:nvSpPr>
          <p:cNvPr id="7" name="Oval 6"/>
          <p:cNvSpPr/>
          <p:nvPr/>
        </p:nvSpPr>
        <p:spPr>
          <a:xfrm>
            <a:off x="457200" y="2995370"/>
            <a:ext cx="389335" cy="417910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0"/>
          </a:p>
        </p:txBody>
      </p:sp>
    </p:spTree>
    <p:extLst>
      <p:ext uri="{BB962C8B-B14F-4D97-AF65-F5344CB8AC3E}">
        <p14:creationId xmlns:p14="http://schemas.microsoft.com/office/powerpoint/2010/main" val="70290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Câu 03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Bước 1 để xây dựng mô hình lĩnh vực là: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/>
              <a:t>Tìm các lớp khái </a:t>
            </a:r>
            <a:r>
              <a:rPr lang="en-US" dirty="0" smtClean="0"/>
              <a:t>niệm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Tìm conceptual class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Tìm software class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Câu a và b đúng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Tất cả đều đúng</a:t>
            </a:r>
          </a:p>
          <a:p>
            <a:pPr marL="385763" indent="-385763">
              <a:buFont typeface="+mj-lt"/>
              <a:buAutoNum type="alphaL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22</a:t>
            </a:fld>
            <a:endParaRPr lang="en-US" sz="1050" dirty="0"/>
          </a:p>
        </p:txBody>
      </p:sp>
      <p:sp>
        <p:nvSpPr>
          <p:cNvPr id="5" name="Oval 4"/>
          <p:cNvSpPr/>
          <p:nvPr/>
        </p:nvSpPr>
        <p:spPr>
          <a:xfrm>
            <a:off x="469557" y="3070832"/>
            <a:ext cx="389335" cy="417910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0"/>
          </a:p>
        </p:txBody>
      </p:sp>
    </p:spTree>
    <p:extLst>
      <p:ext uri="{BB962C8B-B14F-4D97-AF65-F5344CB8AC3E}">
        <p14:creationId xmlns:p14="http://schemas.microsoft.com/office/powerpoint/2010/main" val="306849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Câu 04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Tìm conceptual class bằng </a:t>
            </a:r>
            <a:r>
              <a:rPr lang="en-US" dirty="0" smtClean="0"/>
              <a:t>cách: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/>
              <a:t>L</a:t>
            </a:r>
            <a:r>
              <a:rPr lang="en-US" dirty="0" smtClean="0"/>
              <a:t>iệt kê các động từ trong tất cả các đặc tả use-case, từ đó chọn ra các ứng cử viên có thể trở thành conceptual classes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Liệt </a:t>
            </a:r>
            <a:r>
              <a:rPr lang="en-US" dirty="0"/>
              <a:t>kê các danh từ hoặc cụm danh từ trong </a:t>
            </a:r>
            <a:r>
              <a:rPr lang="en-US" dirty="0" smtClean="0"/>
              <a:t>use-case diagram.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Liệt </a:t>
            </a:r>
            <a:r>
              <a:rPr lang="en-US" dirty="0"/>
              <a:t>kê các danh từ hoặc cụm danh từ trong </a:t>
            </a:r>
            <a:r>
              <a:rPr lang="en-US" dirty="0" smtClean="0"/>
              <a:t>một đặc </a:t>
            </a:r>
            <a:r>
              <a:rPr lang="en-US" dirty="0"/>
              <a:t>tả </a:t>
            </a:r>
            <a:r>
              <a:rPr lang="en-US" dirty="0" smtClean="0"/>
              <a:t>use-case nào đó.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/>
              <a:t>Liệt kê các danh từ hoặc cụm danh từ trong </a:t>
            </a:r>
            <a:r>
              <a:rPr lang="en-US" dirty="0" smtClean="0"/>
              <a:t>tất cả các đặc </a:t>
            </a:r>
            <a:r>
              <a:rPr lang="en-US" dirty="0"/>
              <a:t>tả </a:t>
            </a:r>
            <a:r>
              <a:rPr lang="en-US" dirty="0" smtClean="0"/>
              <a:t>use-case, </a:t>
            </a:r>
            <a:r>
              <a:rPr lang="en-US" dirty="0"/>
              <a:t>từ đó chọn ra các ứng cử viên có thể trở thành conceptual </a:t>
            </a:r>
            <a:r>
              <a:rPr lang="en-US" dirty="0" smtClean="0"/>
              <a:t>classes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23</a:t>
            </a:fld>
            <a:endParaRPr lang="en-US" sz="1050" dirty="0"/>
          </a:p>
        </p:txBody>
      </p:sp>
      <p:sp>
        <p:nvSpPr>
          <p:cNvPr id="5" name="Oval 4"/>
          <p:cNvSpPr/>
          <p:nvPr/>
        </p:nvSpPr>
        <p:spPr>
          <a:xfrm>
            <a:off x="469557" y="4208054"/>
            <a:ext cx="389335" cy="417910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0"/>
          </a:p>
        </p:txBody>
      </p:sp>
    </p:spTree>
    <p:extLst>
      <p:ext uri="{BB962C8B-B14F-4D97-AF65-F5344CB8AC3E}">
        <p14:creationId xmlns:p14="http://schemas.microsoft.com/office/powerpoint/2010/main" val="331262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Câu 05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Bước 2 để xây dựng mô hình lĩnh vực là: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Vẽ UML class diagram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Vẽ lược đồ lớp bằng cách dùng ký hiệu hình chữ nhật để thể hiện một lớp khái niệm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Cả 2 câu a và b đều đúng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/>
              <a:t>Cả 2 câu a và b </a:t>
            </a:r>
            <a:r>
              <a:rPr lang="en-US" dirty="0" smtClean="0"/>
              <a:t>đều sai</a:t>
            </a:r>
          </a:p>
          <a:p>
            <a:pPr marL="385763" indent="-385763">
              <a:buFont typeface="+mj-lt"/>
              <a:buAutoNum type="alphaL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24</a:t>
            </a:fld>
            <a:endParaRPr lang="en-US" sz="1050" dirty="0"/>
          </a:p>
        </p:txBody>
      </p:sp>
      <p:sp>
        <p:nvSpPr>
          <p:cNvPr id="5" name="Oval 4"/>
          <p:cNvSpPr/>
          <p:nvPr/>
        </p:nvSpPr>
        <p:spPr>
          <a:xfrm>
            <a:off x="457200" y="2994182"/>
            <a:ext cx="389335" cy="417910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0"/>
          </a:p>
        </p:txBody>
      </p:sp>
    </p:spTree>
    <p:extLst>
      <p:ext uri="{BB962C8B-B14F-4D97-AF65-F5344CB8AC3E}">
        <p14:creationId xmlns:p14="http://schemas.microsoft.com/office/powerpoint/2010/main" val="222487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Câu 06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Bước 3 để xây dựng mô hình lĩnh vực là: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Thêm mối quan hệ giữa các lớp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Thêm thuộc tính (nếu có) vào các lớp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/>
              <a:t>Thêm thuộc tính </a:t>
            </a:r>
            <a:r>
              <a:rPr lang="en-US" dirty="0" smtClean="0"/>
              <a:t>và phương thức (nếu </a:t>
            </a:r>
            <a:r>
              <a:rPr lang="en-US" dirty="0"/>
              <a:t>có) vào các lớp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Chỉ có câu c sai</a:t>
            </a:r>
          </a:p>
          <a:p>
            <a:pPr marL="385763" indent="-385763">
              <a:buFont typeface="+mj-lt"/>
              <a:buAutoNum type="alphaL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25</a:t>
            </a:fld>
            <a:endParaRPr lang="en-US" sz="1050" dirty="0"/>
          </a:p>
        </p:txBody>
      </p:sp>
      <p:sp>
        <p:nvSpPr>
          <p:cNvPr id="5" name="Oval 4"/>
          <p:cNvSpPr/>
          <p:nvPr/>
        </p:nvSpPr>
        <p:spPr>
          <a:xfrm>
            <a:off x="481914" y="3058479"/>
            <a:ext cx="389335" cy="417910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0"/>
          </a:p>
        </p:txBody>
      </p:sp>
    </p:spTree>
    <p:extLst>
      <p:ext uri="{BB962C8B-B14F-4D97-AF65-F5344CB8AC3E}">
        <p14:creationId xmlns:p14="http://schemas.microsoft.com/office/powerpoint/2010/main" val="304960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Câu 07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Giá trị của lượng số quan hệ có thể là: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* hoặc </a:t>
            </a:r>
            <a:r>
              <a:rPr lang="en-US" dirty="0"/>
              <a:t>1</a:t>
            </a:r>
            <a:r>
              <a:rPr lang="en-US" dirty="0" smtClean="0"/>
              <a:t>..*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10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1..100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1,2,3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Tất cả đều đúng</a:t>
            </a:r>
          </a:p>
          <a:p>
            <a:pPr marL="385763" indent="-385763">
              <a:buFont typeface="+mj-lt"/>
              <a:buAutoNum type="alphaLcParenR"/>
            </a:pPr>
            <a:endParaRPr lang="en-US" dirty="0" smtClean="0"/>
          </a:p>
          <a:p>
            <a:pPr marL="385763" indent="-385763">
              <a:buFont typeface="+mj-lt"/>
              <a:buAutoNum type="alphaL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26</a:t>
            </a:fld>
            <a:endParaRPr lang="en-US" sz="1050" dirty="0"/>
          </a:p>
        </p:txBody>
      </p:sp>
      <p:sp>
        <p:nvSpPr>
          <p:cNvPr id="5" name="Oval 4"/>
          <p:cNvSpPr/>
          <p:nvPr/>
        </p:nvSpPr>
        <p:spPr>
          <a:xfrm>
            <a:off x="471198" y="3522531"/>
            <a:ext cx="389335" cy="417910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0"/>
          </a:p>
        </p:txBody>
      </p:sp>
    </p:spTree>
    <p:extLst>
      <p:ext uri="{BB962C8B-B14F-4D97-AF65-F5344CB8AC3E}">
        <p14:creationId xmlns:p14="http://schemas.microsoft.com/office/powerpoint/2010/main" val="166175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Câu 08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Giữa 2 lớp khái niệm có bao nhiêu mối quan hệ: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Có thể không có mối quan hệ nào cả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/>
              <a:t>Có thể </a:t>
            </a:r>
            <a:r>
              <a:rPr lang="en-US" dirty="0" smtClean="0"/>
              <a:t>có một mối </a:t>
            </a:r>
            <a:r>
              <a:rPr lang="en-US" dirty="0"/>
              <a:t>quan hệ </a:t>
            </a:r>
            <a:endParaRPr lang="en-US" dirty="0" smtClean="0"/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Có </a:t>
            </a:r>
            <a:r>
              <a:rPr lang="en-US" dirty="0"/>
              <a:t>thể có </a:t>
            </a:r>
            <a:r>
              <a:rPr lang="en-US" dirty="0" smtClean="0"/>
              <a:t>nhiều </a:t>
            </a:r>
            <a:r>
              <a:rPr lang="en-US" dirty="0"/>
              <a:t>mối quan </a:t>
            </a:r>
            <a:r>
              <a:rPr lang="en-US" dirty="0" smtClean="0"/>
              <a:t>hệ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Tất cả đều sai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Câu a, b và c đúng</a:t>
            </a:r>
          </a:p>
          <a:p>
            <a:pPr marL="385763" indent="-385763">
              <a:buFont typeface="+mj-lt"/>
              <a:buAutoNum type="alphaLcParenR"/>
            </a:pPr>
            <a:endParaRPr lang="en-US" dirty="0" smtClean="0"/>
          </a:p>
          <a:p>
            <a:pPr marL="385763" indent="-385763">
              <a:buFont typeface="+mj-lt"/>
              <a:buAutoNum type="alphaL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27</a:t>
            </a:fld>
            <a:endParaRPr lang="en-US" sz="1050" dirty="0"/>
          </a:p>
        </p:txBody>
      </p:sp>
      <p:sp>
        <p:nvSpPr>
          <p:cNvPr id="6" name="Oval 5"/>
          <p:cNvSpPr/>
          <p:nvPr/>
        </p:nvSpPr>
        <p:spPr>
          <a:xfrm>
            <a:off x="471198" y="3522531"/>
            <a:ext cx="389335" cy="417910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0"/>
          </a:p>
        </p:txBody>
      </p:sp>
    </p:spTree>
    <p:extLst>
      <p:ext uri="{BB962C8B-B14F-4D97-AF65-F5344CB8AC3E}">
        <p14:creationId xmlns:p14="http://schemas.microsoft.com/office/powerpoint/2010/main" val="398365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Câu 09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Xây dựng mô hình lĩnh vực để làm gì?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28</a:t>
            </a:fld>
            <a:endParaRPr lang="en-US" sz="1050" dirty="0"/>
          </a:p>
        </p:txBody>
      </p:sp>
      <p:pic>
        <p:nvPicPr>
          <p:cNvPr id="15362" name="Picture 2" descr="http://2.bp.blogspot.com/-TThtkz54w_c/UUlyKr_v92I/AAAAAAAAAdI/oKxuTVdWPO0/s1600/SUY+NGH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910" y="2334816"/>
            <a:ext cx="1871663" cy="213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56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Các khái niệm về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Conceptual </a:t>
            </a:r>
            <a:r>
              <a:rPr lang="en-US" dirty="0" smtClean="0"/>
              <a:t>class:</a:t>
            </a:r>
          </a:p>
          <a:p>
            <a:pPr lvl="1"/>
            <a:r>
              <a:rPr lang="en-US" dirty="0" smtClean="0"/>
              <a:t>Những khái niệm trong thực tiễn (</a:t>
            </a:r>
            <a:r>
              <a:rPr lang="en-US" dirty="0"/>
              <a:t>real-world </a:t>
            </a:r>
            <a:r>
              <a:rPr lang="en-US" dirty="0" smtClean="0"/>
              <a:t>concepts)</a:t>
            </a:r>
          </a:p>
          <a:p>
            <a:r>
              <a:rPr lang="en-US" dirty="0" smtClean="0"/>
              <a:t>Software class: 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hể hiện các đặc tả </a:t>
            </a:r>
            <a:r>
              <a:rPr lang="en-US" dirty="0"/>
              <a:t>(</a:t>
            </a:r>
            <a:r>
              <a:rPr lang="en-US" dirty="0" smtClean="0"/>
              <a:t>specification) hoặc hiện </a:t>
            </a:r>
            <a:r>
              <a:rPr lang="en-US" dirty="0"/>
              <a:t>thực (</a:t>
            </a:r>
            <a:r>
              <a:rPr lang="en-US" dirty="0" smtClean="0"/>
              <a:t>implementation) các thành phần của software.</a:t>
            </a:r>
          </a:p>
          <a:p>
            <a:r>
              <a:rPr lang="en-US" dirty="0" smtClean="0"/>
              <a:t>Implementation class: </a:t>
            </a:r>
          </a:p>
          <a:p>
            <a:pPr lvl="1"/>
            <a:r>
              <a:rPr lang="en-US" dirty="0" smtClean="0"/>
              <a:t>Được hiện thực bằng một ngôn ngữ hướng đối tượng cụ thể.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29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06205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SU ppt template_Office2010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SU Slides temp_NFP_En.pptx" id="{634F575B-5034-4544-8569-25C47EB1743F}" vid="{FD67F0E7-E8FA-45EF-B3A5-6D91208EA8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3937</TotalTime>
  <Words>1171</Words>
  <Application>Microsoft Office PowerPoint</Application>
  <PresentationFormat>Custom</PresentationFormat>
  <Paragraphs>192</Paragraphs>
  <Slides>29</Slides>
  <Notes>12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Consolas</vt:lpstr>
      <vt:lpstr>Myriad Pro</vt:lpstr>
      <vt:lpstr>Times New Roman</vt:lpstr>
      <vt:lpstr>Verdana</vt:lpstr>
      <vt:lpstr>HSU ppt template_Office2010</vt:lpstr>
      <vt:lpstr>Visio</vt:lpstr>
      <vt:lpstr>PHÂN TÍCH VÀ THIẾT KẾ  HƯỚNG ĐỐI TƯỢNG</vt:lpstr>
      <vt:lpstr>Nội dung bài học</vt:lpstr>
      <vt:lpstr>Các khái niệm về class</vt:lpstr>
      <vt:lpstr>Domain Model là gì?</vt:lpstr>
      <vt:lpstr>Các bước để tạo một Domain Model</vt:lpstr>
      <vt:lpstr>Bước 1: Tìm conceptual classes (1) </vt:lpstr>
      <vt:lpstr>PowerPoint Presentation</vt:lpstr>
      <vt:lpstr>Bước 1: Tìm conceptual classes (2) </vt:lpstr>
      <vt:lpstr>Bước 2: Vẽ lược đồ UML</vt:lpstr>
      <vt:lpstr>Bước 3: Thêm thuộc tính (nếu có)</vt:lpstr>
      <vt:lpstr>Bước 3: Thêm mối quan hệ </vt:lpstr>
      <vt:lpstr>Lượng số quan hệ (Multiplicity)</vt:lpstr>
      <vt:lpstr>Giá trị của lượng số</vt:lpstr>
      <vt:lpstr>Đa quan hệ giữa 2 lớp</vt:lpstr>
      <vt:lpstr>POS partial domain model</vt:lpstr>
      <vt:lpstr>Bài tập tại lớp</vt:lpstr>
      <vt:lpstr>Chương trình Quản lý sinh viên</vt:lpstr>
      <vt:lpstr>Đặc tả chức năng Thêm sinh viên</vt:lpstr>
      <vt:lpstr>PowerPoint Presentation</vt:lpstr>
      <vt:lpstr>Câu 01</vt:lpstr>
      <vt:lpstr>Câu 02</vt:lpstr>
      <vt:lpstr>Câu 03</vt:lpstr>
      <vt:lpstr>Câu 04</vt:lpstr>
      <vt:lpstr>Câu 05</vt:lpstr>
      <vt:lpstr>Câu 06</vt:lpstr>
      <vt:lpstr>Câu 07</vt:lpstr>
      <vt:lpstr>Câu 08</vt:lpstr>
      <vt:lpstr>Câu 09</vt:lpstr>
      <vt:lpstr>Các khái niệm về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Nguyễn Thị Thanh</dc:creator>
  <cp:lastModifiedBy>Nguyen Thi Thanh</cp:lastModifiedBy>
  <cp:revision>287</cp:revision>
  <dcterms:created xsi:type="dcterms:W3CDTF">2012-08-17T11:15:49Z</dcterms:created>
  <dcterms:modified xsi:type="dcterms:W3CDTF">2017-02-11T07:45:29Z</dcterms:modified>
</cp:coreProperties>
</file>