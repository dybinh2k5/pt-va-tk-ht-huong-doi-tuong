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  <p:sldMasterId id="2147483908" r:id="rId2"/>
  </p:sldMasterIdLst>
  <p:notesMasterIdLst>
    <p:notesMasterId r:id="rId26"/>
  </p:notesMasterIdLst>
  <p:handoutMasterIdLst>
    <p:handoutMasterId r:id="rId27"/>
  </p:handoutMasterIdLst>
  <p:sldIdLst>
    <p:sldId id="415" r:id="rId3"/>
    <p:sldId id="387" r:id="rId4"/>
    <p:sldId id="390" r:id="rId5"/>
    <p:sldId id="385" r:id="rId6"/>
    <p:sldId id="405" r:id="rId7"/>
    <p:sldId id="419" r:id="rId8"/>
    <p:sldId id="406" r:id="rId9"/>
    <p:sldId id="386" r:id="rId10"/>
    <p:sldId id="367" r:id="rId11"/>
    <p:sldId id="392" r:id="rId12"/>
    <p:sldId id="409" r:id="rId13"/>
    <p:sldId id="412" r:id="rId14"/>
    <p:sldId id="411" r:id="rId15"/>
    <p:sldId id="431" r:id="rId16"/>
    <p:sldId id="424" r:id="rId17"/>
    <p:sldId id="425" r:id="rId18"/>
    <p:sldId id="428" r:id="rId19"/>
    <p:sldId id="429" r:id="rId20"/>
    <p:sldId id="430" r:id="rId21"/>
    <p:sldId id="357" r:id="rId22"/>
    <p:sldId id="400" r:id="rId23"/>
    <p:sldId id="401" r:id="rId24"/>
    <p:sldId id="423" r:id="rId25"/>
  </p:sldIdLst>
  <p:sldSz cx="9144000" cy="5943600"/>
  <p:notesSz cx="6858000" cy="9144000"/>
  <p:defaultTextStyle>
    <a:defPPr>
      <a:defRPr lang="en-US"/>
    </a:defPPr>
    <a:lvl1pPr marL="0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1pPr>
    <a:lvl2pPr marL="566014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2pPr>
    <a:lvl3pPr marL="1132027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3pPr>
    <a:lvl4pPr marL="1698041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4pPr>
    <a:lvl5pPr marL="2264054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5pPr>
    <a:lvl6pPr marL="2830068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6pPr>
    <a:lvl7pPr marL="3396082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7pPr>
    <a:lvl8pPr marL="3962095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8pPr>
    <a:lvl9pPr marL="4528109" algn="l" defTabSz="1132027" rtl="0" eaLnBrk="1" latinLnBrk="0" hangingPunct="1">
      <a:defRPr sz="22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236" autoAdjust="0"/>
  </p:normalViewPr>
  <p:slideViewPr>
    <p:cSldViewPr snapToGrid="0">
      <p:cViewPr varScale="1">
        <p:scale>
          <a:sx n="72" d="100"/>
          <a:sy n="72" d="100"/>
        </p:scale>
        <p:origin x="1266" y="60"/>
      </p:cViewPr>
      <p:guideLst>
        <p:guide orient="horz" pos="18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7AC9E3-BE35-4D08-AD7D-91B4A2EB9A47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4A50F00-9115-4359-87CA-E7467E15CC23}">
      <dgm:prSet/>
      <dgm:spPr/>
      <dgm:t>
        <a:bodyPr/>
        <a:lstStyle/>
        <a:p>
          <a:pPr rtl="0"/>
          <a:r>
            <a:rPr lang="en-US" dirty="0" smtClean="0"/>
            <a:t>Người dùng nhập mã số sinh viên</a:t>
          </a:r>
          <a:endParaRPr lang="en-US" dirty="0"/>
        </a:p>
      </dgm:t>
    </dgm:pt>
    <dgm:pt modelId="{D3586C03-109C-46F7-8681-B8880F0C4950}" type="parTrans" cxnId="{D1139DF2-0E35-4E76-BBD9-81AADD5960EF}">
      <dgm:prSet/>
      <dgm:spPr/>
      <dgm:t>
        <a:bodyPr/>
        <a:lstStyle/>
        <a:p>
          <a:endParaRPr lang="en-US"/>
        </a:p>
      </dgm:t>
    </dgm:pt>
    <dgm:pt modelId="{4831FFD0-5E24-4024-A8B2-B381C532392E}" type="sibTrans" cxnId="{D1139DF2-0E35-4E76-BBD9-81AADD5960EF}">
      <dgm:prSet/>
      <dgm:spPr/>
      <dgm:t>
        <a:bodyPr/>
        <a:lstStyle/>
        <a:p>
          <a:endParaRPr lang="en-US"/>
        </a:p>
      </dgm:t>
    </dgm:pt>
    <dgm:pt modelId="{0FECBFFC-ACE4-417C-B41E-C96B0884B219}">
      <dgm:prSet/>
      <dgm:spPr/>
      <dgm:t>
        <a:bodyPr/>
        <a:lstStyle/>
        <a:p>
          <a:pPr rtl="0"/>
          <a:r>
            <a:rPr lang="en-US" dirty="0" err="1" smtClean="0"/>
            <a:t>Hệ</a:t>
          </a:r>
          <a:r>
            <a:rPr lang="en-US" dirty="0" smtClean="0"/>
            <a:t> </a:t>
          </a:r>
          <a:r>
            <a:rPr lang="en-US" dirty="0" err="1" smtClean="0"/>
            <a:t>thống</a:t>
          </a:r>
          <a:r>
            <a:rPr lang="en-US" dirty="0" smtClean="0"/>
            <a:t> </a:t>
          </a:r>
          <a:r>
            <a:rPr lang="en-US" dirty="0" err="1" smtClean="0"/>
            <a:t>hiển</a:t>
          </a:r>
          <a:r>
            <a:rPr lang="en-US" dirty="0" smtClean="0"/>
            <a:t> </a:t>
          </a:r>
          <a:r>
            <a:rPr lang="en-US" dirty="0" err="1" smtClean="0"/>
            <a:t>thị</a:t>
          </a:r>
          <a:r>
            <a:rPr lang="en-US" dirty="0" smtClean="0"/>
            <a:t> </a:t>
          </a:r>
          <a:r>
            <a:rPr lang="en-US" dirty="0" err="1" smtClean="0"/>
            <a:t>thông</a:t>
          </a:r>
          <a:r>
            <a:rPr lang="en-US" dirty="0" smtClean="0"/>
            <a:t> tin </a:t>
          </a:r>
          <a:r>
            <a:rPr lang="en-US" dirty="0" err="1" smtClean="0"/>
            <a:t>của</a:t>
          </a:r>
          <a:r>
            <a:rPr lang="en-US" dirty="0" smtClean="0"/>
            <a:t> </a:t>
          </a:r>
          <a:r>
            <a:rPr lang="en-US" dirty="0" err="1" smtClean="0"/>
            <a:t>sinh</a:t>
          </a:r>
          <a:r>
            <a:rPr lang="en-US" dirty="0" smtClean="0"/>
            <a:t> </a:t>
          </a:r>
          <a:r>
            <a:rPr lang="en-US" dirty="0" err="1" smtClean="0"/>
            <a:t>viên</a:t>
          </a:r>
          <a:r>
            <a:rPr lang="en-US" dirty="0" smtClean="0"/>
            <a:t> </a:t>
          </a:r>
          <a:r>
            <a:rPr lang="en-US" dirty="0" err="1" smtClean="0"/>
            <a:t>ra</a:t>
          </a:r>
          <a:r>
            <a:rPr lang="en-US" dirty="0" smtClean="0"/>
            <a:t> </a:t>
          </a:r>
          <a:r>
            <a:rPr lang="en-US" dirty="0" err="1" smtClean="0"/>
            <a:t>màn</a:t>
          </a:r>
          <a:r>
            <a:rPr lang="en-US" dirty="0" smtClean="0"/>
            <a:t> </a:t>
          </a:r>
          <a:r>
            <a:rPr lang="en-US" dirty="0" err="1" smtClean="0"/>
            <a:t>hình</a:t>
          </a:r>
          <a:endParaRPr lang="en-US" dirty="0"/>
        </a:p>
      </dgm:t>
    </dgm:pt>
    <dgm:pt modelId="{006AF0EE-CFBB-4782-A8B3-B290371740CD}" type="parTrans" cxnId="{223B73FD-7DB0-4807-9A7D-8517E7837361}">
      <dgm:prSet/>
      <dgm:spPr/>
      <dgm:t>
        <a:bodyPr/>
        <a:lstStyle/>
        <a:p>
          <a:endParaRPr lang="en-US"/>
        </a:p>
      </dgm:t>
    </dgm:pt>
    <dgm:pt modelId="{F4075AFC-B39B-4077-A37A-0245F30C49B8}" type="sibTrans" cxnId="{223B73FD-7DB0-4807-9A7D-8517E7837361}">
      <dgm:prSet/>
      <dgm:spPr/>
      <dgm:t>
        <a:bodyPr/>
        <a:lstStyle/>
        <a:p>
          <a:endParaRPr lang="en-US"/>
        </a:p>
      </dgm:t>
    </dgm:pt>
    <dgm:pt modelId="{EC39150D-8D87-4BD2-8CC5-E184B2977B52}" type="pres">
      <dgm:prSet presAssocID="{3F7AC9E3-BE35-4D08-AD7D-91B4A2EB9A4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23AA36-AC7D-461F-B251-4D8E382D8400}" type="pres">
      <dgm:prSet presAssocID="{3F7AC9E3-BE35-4D08-AD7D-91B4A2EB9A47}" presName="dummyMaxCanvas" presStyleCnt="0">
        <dgm:presLayoutVars/>
      </dgm:prSet>
      <dgm:spPr/>
    </dgm:pt>
    <dgm:pt modelId="{616C9B0B-DD0B-4FB8-B58E-1DB0F666FDE7}" type="pres">
      <dgm:prSet presAssocID="{3F7AC9E3-BE35-4D08-AD7D-91B4A2EB9A47}" presName="TwoNodes_1" presStyleLbl="node1" presStyleIdx="0" presStyleCnt="2" custLinFactNeighborX="-3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C17A61-6CC9-416D-AAC9-39B0EE000F02}" type="pres">
      <dgm:prSet presAssocID="{3F7AC9E3-BE35-4D08-AD7D-91B4A2EB9A47}" presName="TwoNodes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93D122-DF98-4E0D-9F2D-7612A3517390}" type="pres">
      <dgm:prSet presAssocID="{3F7AC9E3-BE35-4D08-AD7D-91B4A2EB9A47}" presName="TwoConn_1-2" presStyleLbl="f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CFE29B-A2CF-472A-B49F-53FED0D47E4D}" type="pres">
      <dgm:prSet presAssocID="{3F7AC9E3-BE35-4D08-AD7D-91B4A2EB9A47}" presName="TwoNodes_1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1D1987-80F7-47B5-B4F7-5ECC71071E56}" type="pres">
      <dgm:prSet presAssocID="{3F7AC9E3-BE35-4D08-AD7D-91B4A2EB9A47}" presName="TwoNodes_2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1139DF2-0E35-4E76-BBD9-81AADD5960EF}" srcId="{3F7AC9E3-BE35-4D08-AD7D-91B4A2EB9A47}" destId="{64A50F00-9115-4359-87CA-E7467E15CC23}" srcOrd="0" destOrd="0" parTransId="{D3586C03-109C-46F7-8681-B8880F0C4950}" sibTransId="{4831FFD0-5E24-4024-A8B2-B381C532392E}"/>
    <dgm:cxn modelId="{0410C448-DB55-408E-A6F8-25EBF253EFA5}" type="presOf" srcId="{0FECBFFC-ACE4-417C-B41E-C96B0884B219}" destId="{9FC17A61-6CC9-416D-AAC9-39B0EE000F02}" srcOrd="0" destOrd="0" presId="urn:microsoft.com/office/officeart/2005/8/layout/vProcess5"/>
    <dgm:cxn modelId="{76ECEC3A-AB0A-44CE-858A-FE27A371FEE1}" type="presOf" srcId="{64A50F00-9115-4359-87CA-E7467E15CC23}" destId="{616C9B0B-DD0B-4FB8-B58E-1DB0F666FDE7}" srcOrd="0" destOrd="0" presId="urn:microsoft.com/office/officeart/2005/8/layout/vProcess5"/>
    <dgm:cxn modelId="{9A149407-7049-44E9-8A5E-CD5299A4D9C5}" type="presOf" srcId="{3F7AC9E3-BE35-4D08-AD7D-91B4A2EB9A47}" destId="{EC39150D-8D87-4BD2-8CC5-E184B2977B52}" srcOrd="0" destOrd="0" presId="urn:microsoft.com/office/officeart/2005/8/layout/vProcess5"/>
    <dgm:cxn modelId="{223B73FD-7DB0-4807-9A7D-8517E7837361}" srcId="{3F7AC9E3-BE35-4D08-AD7D-91B4A2EB9A47}" destId="{0FECBFFC-ACE4-417C-B41E-C96B0884B219}" srcOrd="1" destOrd="0" parTransId="{006AF0EE-CFBB-4782-A8B3-B290371740CD}" sibTransId="{F4075AFC-B39B-4077-A37A-0245F30C49B8}"/>
    <dgm:cxn modelId="{A5AFD9E1-7103-4F7F-A264-418A5096AC6F}" type="presOf" srcId="{0FECBFFC-ACE4-417C-B41E-C96B0884B219}" destId="{801D1987-80F7-47B5-B4F7-5ECC71071E56}" srcOrd="1" destOrd="0" presId="urn:microsoft.com/office/officeart/2005/8/layout/vProcess5"/>
    <dgm:cxn modelId="{E5AB798A-159B-4217-BAE4-6C6708E6DDA3}" type="presOf" srcId="{64A50F00-9115-4359-87CA-E7467E15CC23}" destId="{1ACFE29B-A2CF-472A-B49F-53FED0D47E4D}" srcOrd="1" destOrd="0" presId="urn:microsoft.com/office/officeart/2005/8/layout/vProcess5"/>
    <dgm:cxn modelId="{9E500585-C229-4787-B76B-423384AFFE58}" type="presOf" srcId="{4831FFD0-5E24-4024-A8B2-B381C532392E}" destId="{9493D122-DF98-4E0D-9F2D-7612A3517390}" srcOrd="0" destOrd="0" presId="urn:microsoft.com/office/officeart/2005/8/layout/vProcess5"/>
    <dgm:cxn modelId="{B683B4A6-8EBC-4704-AD3A-FF7C65CD8AD8}" type="presParOf" srcId="{EC39150D-8D87-4BD2-8CC5-E184B2977B52}" destId="{DF23AA36-AC7D-461F-B251-4D8E382D8400}" srcOrd="0" destOrd="0" presId="urn:microsoft.com/office/officeart/2005/8/layout/vProcess5"/>
    <dgm:cxn modelId="{300FF98D-C838-4804-BE92-3F8D4B179E5C}" type="presParOf" srcId="{EC39150D-8D87-4BD2-8CC5-E184B2977B52}" destId="{616C9B0B-DD0B-4FB8-B58E-1DB0F666FDE7}" srcOrd="1" destOrd="0" presId="urn:microsoft.com/office/officeart/2005/8/layout/vProcess5"/>
    <dgm:cxn modelId="{E2CAF65E-38D0-4D7E-99BF-A1EF52B51D90}" type="presParOf" srcId="{EC39150D-8D87-4BD2-8CC5-E184B2977B52}" destId="{9FC17A61-6CC9-416D-AAC9-39B0EE000F02}" srcOrd="2" destOrd="0" presId="urn:microsoft.com/office/officeart/2005/8/layout/vProcess5"/>
    <dgm:cxn modelId="{9E47ED82-CBE0-4A4A-AD7D-1CA68ACB5F60}" type="presParOf" srcId="{EC39150D-8D87-4BD2-8CC5-E184B2977B52}" destId="{9493D122-DF98-4E0D-9F2D-7612A3517390}" srcOrd="3" destOrd="0" presId="urn:microsoft.com/office/officeart/2005/8/layout/vProcess5"/>
    <dgm:cxn modelId="{9FCC59CE-A7FD-4AF3-96F3-08B45422EBAC}" type="presParOf" srcId="{EC39150D-8D87-4BD2-8CC5-E184B2977B52}" destId="{1ACFE29B-A2CF-472A-B49F-53FED0D47E4D}" srcOrd="4" destOrd="0" presId="urn:microsoft.com/office/officeart/2005/8/layout/vProcess5"/>
    <dgm:cxn modelId="{1C9F7A2B-78B9-466D-9E29-83B661DB1236}" type="presParOf" srcId="{EC39150D-8D87-4BD2-8CC5-E184B2977B52}" destId="{801D1987-80F7-47B5-B4F7-5ECC71071E56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7AC9E3-BE35-4D08-AD7D-91B4A2EB9A47}" type="doc">
      <dgm:prSet loTypeId="urn:microsoft.com/office/officeart/2005/8/layout/vProcess5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4A50F00-9115-4359-87CA-E7467E15CC23}">
      <dgm:prSet/>
      <dgm:spPr/>
      <dgm:t>
        <a:bodyPr/>
        <a:lstStyle/>
        <a:p>
          <a:pPr rtl="0"/>
          <a:r>
            <a:rPr lang="en-US" dirty="0" smtClean="0"/>
            <a:t>Người dùng nhập ngày sinh</a:t>
          </a:r>
          <a:endParaRPr lang="en-US" dirty="0"/>
        </a:p>
      </dgm:t>
    </dgm:pt>
    <dgm:pt modelId="{D3586C03-109C-46F7-8681-B8880F0C4950}" type="parTrans" cxnId="{D1139DF2-0E35-4E76-BBD9-81AADD5960EF}">
      <dgm:prSet/>
      <dgm:spPr/>
      <dgm:t>
        <a:bodyPr/>
        <a:lstStyle/>
        <a:p>
          <a:endParaRPr lang="en-US"/>
        </a:p>
      </dgm:t>
    </dgm:pt>
    <dgm:pt modelId="{4831FFD0-5E24-4024-A8B2-B381C532392E}" type="sibTrans" cxnId="{D1139DF2-0E35-4E76-BBD9-81AADD5960EF}">
      <dgm:prSet/>
      <dgm:spPr/>
      <dgm:t>
        <a:bodyPr/>
        <a:lstStyle/>
        <a:p>
          <a:endParaRPr lang="en-US"/>
        </a:p>
      </dgm:t>
    </dgm:pt>
    <dgm:pt modelId="{0FECBFFC-ACE4-417C-B41E-C96B0884B219}">
      <dgm:prSet/>
      <dgm:spPr/>
      <dgm:t>
        <a:bodyPr/>
        <a:lstStyle/>
        <a:p>
          <a:pPr rtl="0"/>
          <a:r>
            <a:rPr lang="en-US" dirty="0" smtClean="0"/>
            <a:t>Hệ thống hiển thị thông báo: Ngày sinh không hợp lệ</a:t>
          </a:r>
          <a:endParaRPr lang="en-US" dirty="0"/>
        </a:p>
      </dgm:t>
    </dgm:pt>
    <dgm:pt modelId="{006AF0EE-CFBB-4782-A8B3-B290371740CD}" type="parTrans" cxnId="{223B73FD-7DB0-4807-9A7D-8517E7837361}">
      <dgm:prSet/>
      <dgm:spPr/>
      <dgm:t>
        <a:bodyPr/>
        <a:lstStyle/>
        <a:p>
          <a:endParaRPr lang="en-US"/>
        </a:p>
      </dgm:t>
    </dgm:pt>
    <dgm:pt modelId="{F4075AFC-B39B-4077-A37A-0245F30C49B8}" type="sibTrans" cxnId="{223B73FD-7DB0-4807-9A7D-8517E7837361}">
      <dgm:prSet/>
      <dgm:spPr/>
      <dgm:t>
        <a:bodyPr/>
        <a:lstStyle/>
        <a:p>
          <a:endParaRPr lang="en-US"/>
        </a:p>
      </dgm:t>
    </dgm:pt>
    <dgm:pt modelId="{EC39150D-8D87-4BD2-8CC5-E184B2977B52}" type="pres">
      <dgm:prSet presAssocID="{3F7AC9E3-BE35-4D08-AD7D-91B4A2EB9A4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23AA36-AC7D-461F-B251-4D8E382D8400}" type="pres">
      <dgm:prSet presAssocID="{3F7AC9E3-BE35-4D08-AD7D-91B4A2EB9A47}" presName="dummyMaxCanvas" presStyleCnt="0">
        <dgm:presLayoutVars/>
      </dgm:prSet>
      <dgm:spPr/>
    </dgm:pt>
    <dgm:pt modelId="{616C9B0B-DD0B-4FB8-B58E-1DB0F666FDE7}" type="pres">
      <dgm:prSet presAssocID="{3F7AC9E3-BE35-4D08-AD7D-91B4A2EB9A47}" presName="TwoNodes_1" presStyleLbl="node1" presStyleIdx="0" presStyleCnt="2" custLinFactNeighborX="-3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C17A61-6CC9-416D-AAC9-39B0EE000F02}" type="pres">
      <dgm:prSet presAssocID="{3F7AC9E3-BE35-4D08-AD7D-91B4A2EB9A47}" presName="TwoNodes_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93D122-DF98-4E0D-9F2D-7612A3517390}" type="pres">
      <dgm:prSet presAssocID="{3F7AC9E3-BE35-4D08-AD7D-91B4A2EB9A47}" presName="TwoConn_1-2" presStyleLbl="f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CFE29B-A2CF-472A-B49F-53FED0D47E4D}" type="pres">
      <dgm:prSet presAssocID="{3F7AC9E3-BE35-4D08-AD7D-91B4A2EB9A47}" presName="TwoNodes_1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1D1987-80F7-47B5-B4F7-5ECC71071E56}" type="pres">
      <dgm:prSet presAssocID="{3F7AC9E3-BE35-4D08-AD7D-91B4A2EB9A47}" presName="TwoNodes_2_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CB21420-38CB-42C5-845B-8716F250BA8F}" type="presOf" srcId="{0FECBFFC-ACE4-417C-B41E-C96B0884B219}" destId="{9FC17A61-6CC9-416D-AAC9-39B0EE000F02}" srcOrd="0" destOrd="0" presId="urn:microsoft.com/office/officeart/2005/8/layout/vProcess5"/>
    <dgm:cxn modelId="{D1139DF2-0E35-4E76-BBD9-81AADD5960EF}" srcId="{3F7AC9E3-BE35-4D08-AD7D-91B4A2EB9A47}" destId="{64A50F00-9115-4359-87CA-E7467E15CC23}" srcOrd="0" destOrd="0" parTransId="{D3586C03-109C-46F7-8681-B8880F0C4950}" sibTransId="{4831FFD0-5E24-4024-A8B2-B381C532392E}"/>
    <dgm:cxn modelId="{E8CE1B41-020B-4BB6-9C64-3E9F7308EF07}" type="presOf" srcId="{0FECBFFC-ACE4-417C-B41E-C96B0884B219}" destId="{801D1987-80F7-47B5-B4F7-5ECC71071E56}" srcOrd="1" destOrd="0" presId="urn:microsoft.com/office/officeart/2005/8/layout/vProcess5"/>
    <dgm:cxn modelId="{00F16FAC-4A1C-46E4-9DDD-5C74D6A90D9F}" type="presOf" srcId="{64A50F00-9115-4359-87CA-E7467E15CC23}" destId="{1ACFE29B-A2CF-472A-B49F-53FED0D47E4D}" srcOrd="1" destOrd="0" presId="urn:microsoft.com/office/officeart/2005/8/layout/vProcess5"/>
    <dgm:cxn modelId="{EC63D302-7603-421C-9DC9-6C274828BBE6}" type="presOf" srcId="{64A50F00-9115-4359-87CA-E7467E15CC23}" destId="{616C9B0B-DD0B-4FB8-B58E-1DB0F666FDE7}" srcOrd="0" destOrd="0" presId="urn:microsoft.com/office/officeart/2005/8/layout/vProcess5"/>
    <dgm:cxn modelId="{38C15687-62A6-4FEB-906C-BD606D841FF0}" type="presOf" srcId="{4831FFD0-5E24-4024-A8B2-B381C532392E}" destId="{9493D122-DF98-4E0D-9F2D-7612A3517390}" srcOrd="0" destOrd="0" presId="urn:microsoft.com/office/officeart/2005/8/layout/vProcess5"/>
    <dgm:cxn modelId="{223B73FD-7DB0-4807-9A7D-8517E7837361}" srcId="{3F7AC9E3-BE35-4D08-AD7D-91B4A2EB9A47}" destId="{0FECBFFC-ACE4-417C-B41E-C96B0884B219}" srcOrd="1" destOrd="0" parTransId="{006AF0EE-CFBB-4782-A8B3-B290371740CD}" sibTransId="{F4075AFC-B39B-4077-A37A-0245F30C49B8}"/>
    <dgm:cxn modelId="{8512616B-5275-475B-B512-32C194DCCD0F}" type="presOf" srcId="{3F7AC9E3-BE35-4D08-AD7D-91B4A2EB9A47}" destId="{EC39150D-8D87-4BD2-8CC5-E184B2977B52}" srcOrd="0" destOrd="0" presId="urn:microsoft.com/office/officeart/2005/8/layout/vProcess5"/>
    <dgm:cxn modelId="{DDFF8C06-D28A-4E6A-8C2E-9F5B879201B9}" type="presParOf" srcId="{EC39150D-8D87-4BD2-8CC5-E184B2977B52}" destId="{DF23AA36-AC7D-461F-B251-4D8E382D8400}" srcOrd="0" destOrd="0" presId="urn:microsoft.com/office/officeart/2005/8/layout/vProcess5"/>
    <dgm:cxn modelId="{FD362B70-1F54-4948-BA2D-D0403DE6A2C8}" type="presParOf" srcId="{EC39150D-8D87-4BD2-8CC5-E184B2977B52}" destId="{616C9B0B-DD0B-4FB8-B58E-1DB0F666FDE7}" srcOrd="1" destOrd="0" presId="urn:microsoft.com/office/officeart/2005/8/layout/vProcess5"/>
    <dgm:cxn modelId="{468BAF5B-67DF-41F1-ACBD-2C0E8D72BD94}" type="presParOf" srcId="{EC39150D-8D87-4BD2-8CC5-E184B2977B52}" destId="{9FC17A61-6CC9-416D-AAC9-39B0EE000F02}" srcOrd="2" destOrd="0" presId="urn:microsoft.com/office/officeart/2005/8/layout/vProcess5"/>
    <dgm:cxn modelId="{DDEF603E-C107-493F-A6D6-94FA37F5EEEB}" type="presParOf" srcId="{EC39150D-8D87-4BD2-8CC5-E184B2977B52}" destId="{9493D122-DF98-4E0D-9F2D-7612A3517390}" srcOrd="3" destOrd="0" presId="urn:microsoft.com/office/officeart/2005/8/layout/vProcess5"/>
    <dgm:cxn modelId="{8E8F166A-BCE7-4694-BAEA-5FBBCF4EE40A}" type="presParOf" srcId="{EC39150D-8D87-4BD2-8CC5-E184B2977B52}" destId="{1ACFE29B-A2CF-472A-B49F-53FED0D47E4D}" srcOrd="4" destOrd="0" presId="urn:microsoft.com/office/officeart/2005/8/layout/vProcess5"/>
    <dgm:cxn modelId="{9BDD40A5-7106-4900-9E6D-877A1B1B61C3}" type="presParOf" srcId="{EC39150D-8D87-4BD2-8CC5-E184B2977B52}" destId="{801D1987-80F7-47B5-B4F7-5ECC71071E56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C9B0B-DD0B-4FB8-B58E-1DB0F666FDE7}">
      <dsp:nvSpPr>
        <dsp:cNvPr id="0" name=""/>
        <dsp:cNvSpPr/>
      </dsp:nvSpPr>
      <dsp:spPr>
        <a:xfrm>
          <a:off x="0" y="0"/>
          <a:ext cx="3852889" cy="16367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Người dùng nhập mã số sinh viên</a:t>
          </a:r>
          <a:endParaRPr lang="en-US" sz="2400" kern="1200" dirty="0"/>
        </a:p>
      </dsp:txBody>
      <dsp:txXfrm>
        <a:off x="47940" y="47940"/>
        <a:ext cx="2161145" cy="1540903"/>
      </dsp:txXfrm>
    </dsp:sp>
    <dsp:sp modelId="{9FC17A61-6CC9-416D-AAC9-39B0EE000F02}">
      <dsp:nvSpPr>
        <dsp:cNvPr id="0" name=""/>
        <dsp:cNvSpPr/>
      </dsp:nvSpPr>
      <dsp:spPr>
        <a:xfrm>
          <a:off x="679921" y="2000513"/>
          <a:ext cx="3852889" cy="16367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Hệ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thống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hiển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thị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thông</a:t>
          </a:r>
          <a:r>
            <a:rPr lang="en-US" sz="2400" kern="1200" dirty="0" smtClean="0"/>
            <a:t> tin </a:t>
          </a:r>
          <a:r>
            <a:rPr lang="en-US" sz="2400" kern="1200" dirty="0" err="1" smtClean="0"/>
            <a:t>của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sinh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viên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ra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màn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hình</a:t>
          </a:r>
          <a:endParaRPr lang="en-US" sz="2400" kern="1200" dirty="0"/>
        </a:p>
      </dsp:txBody>
      <dsp:txXfrm>
        <a:off x="727861" y="2048453"/>
        <a:ext cx="2013178" cy="1540903"/>
      </dsp:txXfrm>
    </dsp:sp>
    <dsp:sp modelId="{9493D122-DF98-4E0D-9F2D-7612A3517390}">
      <dsp:nvSpPr>
        <dsp:cNvPr id="0" name=""/>
        <dsp:cNvSpPr/>
      </dsp:nvSpPr>
      <dsp:spPr>
        <a:xfrm>
          <a:off x="2788979" y="1286693"/>
          <a:ext cx="1063909" cy="10639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3028359" y="1286693"/>
        <a:ext cx="585149" cy="800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C9B0B-DD0B-4FB8-B58E-1DB0F666FDE7}">
      <dsp:nvSpPr>
        <dsp:cNvPr id="0" name=""/>
        <dsp:cNvSpPr/>
      </dsp:nvSpPr>
      <dsp:spPr>
        <a:xfrm>
          <a:off x="0" y="0"/>
          <a:ext cx="3852889" cy="163678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Người dùng nhập ngày sinh</a:t>
          </a:r>
          <a:endParaRPr lang="en-US" sz="2400" kern="1200" dirty="0"/>
        </a:p>
      </dsp:txBody>
      <dsp:txXfrm>
        <a:off x="47940" y="47940"/>
        <a:ext cx="2161145" cy="1540903"/>
      </dsp:txXfrm>
    </dsp:sp>
    <dsp:sp modelId="{9FC17A61-6CC9-416D-AAC9-39B0EE000F02}">
      <dsp:nvSpPr>
        <dsp:cNvPr id="0" name=""/>
        <dsp:cNvSpPr/>
      </dsp:nvSpPr>
      <dsp:spPr>
        <a:xfrm>
          <a:off x="679921" y="2000513"/>
          <a:ext cx="3852889" cy="1636783"/>
        </a:xfrm>
        <a:prstGeom prst="roundRect">
          <a:avLst>
            <a:gd name="adj" fmla="val 10000"/>
          </a:avLst>
        </a:prstGeom>
        <a:solidFill>
          <a:schemeClr val="accent4">
            <a:hueOff val="-4500646"/>
            <a:satOff val="0"/>
            <a:lumOff val="1647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Hệ thống hiển thị thông báo: Ngày sinh không hợp lệ</a:t>
          </a:r>
          <a:endParaRPr lang="en-US" sz="2400" kern="1200" dirty="0"/>
        </a:p>
      </dsp:txBody>
      <dsp:txXfrm>
        <a:off x="727861" y="2048453"/>
        <a:ext cx="2013178" cy="1540903"/>
      </dsp:txXfrm>
    </dsp:sp>
    <dsp:sp modelId="{9493D122-DF98-4E0D-9F2D-7612A3517390}">
      <dsp:nvSpPr>
        <dsp:cNvPr id="0" name=""/>
        <dsp:cNvSpPr/>
      </dsp:nvSpPr>
      <dsp:spPr>
        <a:xfrm>
          <a:off x="2788979" y="1286693"/>
          <a:ext cx="1063909" cy="106390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3028359" y="1286693"/>
        <a:ext cx="585149" cy="80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943DE-247A-450B-A352-19E7B86A8F8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8D3B0-5747-4E88-907E-18559D38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077D8-A3B6-4B49-8E15-85E1D9995017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143000"/>
            <a:ext cx="4746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48ED-14C6-42EB-8AB6-3B33A93AD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7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566014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1132027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698041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2264054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2830068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3396082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3962095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4528109" algn="l" defTabSz="1132027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essage_passing" TargetMode="External"/><Relationship Id="rId3" Type="http://schemas.openxmlformats.org/officeDocument/2006/relationships/hyperlink" Target="https://en.wikipedia.org/wiki/Programming_paradigm" TargetMode="External"/><Relationship Id="rId7" Type="http://schemas.openxmlformats.org/officeDocument/2006/relationships/hyperlink" Target="https://en.wikipedia.org/wiki/Sensor" TargetMode="External"/><Relationship Id="rId12" Type="http://schemas.openxmlformats.org/officeDocument/2006/relationships/hyperlink" Target="https://en.wikipedia.org/wiki/User_input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Computer_mouse" TargetMode="External"/><Relationship Id="rId11" Type="http://schemas.openxmlformats.org/officeDocument/2006/relationships/hyperlink" Target="https://en.wikipedia.org/wiki/Web_applications" TargetMode="External"/><Relationship Id="rId5" Type="http://schemas.openxmlformats.org/officeDocument/2006/relationships/hyperlink" Target="https://en.wikipedia.org/wiki/Event_(computing)" TargetMode="External"/><Relationship Id="rId10" Type="http://schemas.openxmlformats.org/officeDocument/2006/relationships/hyperlink" Target="https://en.wikipedia.org/wiki/Graphical_user_interfaces" TargetMode="External"/><Relationship Id="rId4" Type="http://schemas.openxmlformats.org/officeDocument/2006/relationships/hyperlink" Target="https://en.wikipedia.org/wiki/Program_flow" TargetMode="External"/><Relationship Id="rId9" Type="http://schemas.openxmlformats.org/officeDocument/2006/relationships/hyperlink" Target="https://en.wikipedia.org/wiki/Thread_(computer_science)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486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event-driven programming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Programming paradigm"/>
              </a:rPr>
              <a:t>programming paradigm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which the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Program flow"/>
              </a:rPr>
              <a:t>flow of the program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determined by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Event (computing)"/>
              </a:rPr>
              <a:t>events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such as user actions (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Computer mouse"/>
              </a:rPr>
              <a:t>mouse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clicks, key presses),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Sensor"/>
              </a:rPr>
              <a:t>sensor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outputs, or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Message passing"/>
              </a:rPr>
              <a:t>messages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other programs/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Thread (computer science)"/>
              </a:rPr>
              <a:t>threads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Event-driven programming is the dominant paradigm used in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Graphical user interfaces"/>
              </a:rPr>
              <a:t>graphical user interfaces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other applications (e.g. JavaScript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Web applications"/>
              </a:rPr>
              <a:t>web applications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that are centered on performing certain actions in response to </a:t>
            </a:r>
            <a:r>
              <a:rPr lang="en-US" sz="1486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User input"/>
              </a:rPr>
              <a:t>user input</a:t>
            </a:r>
            <a:r>
              <a:rPr lang="en-US" sz="1486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52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Tìm</a:t>
            </a:r>
            <a:r>
              <a:rPr lang="en-US" baseline="0" dirty="0" smtClean="0"/>
              <a:t> event? Và Operation?</a:t>
            </a:r>
          </a:p>
          <a:p>
            <a:r>
              <a:rPr lang="en-US" baseline="0" dirty="0" err="1" smtClean="0"/>
              <a:t>Ứng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dụng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giao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diện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xd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chương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trình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chỉ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viết</a:t>
            </a:r>
            <a:r>
              <a:rPr lang="en-US" baseline="0" dirty="0" smtClean="0"/>
              <a:t> code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đáp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ứng</a:t>
            </a:r>
            <a:r>
              <a:rPr lang="en-US" baseline="0" dirty="0" smtClean="0"/>
              <a:t> event, </a:t>
            </a:r>
            <a:r>
              <a:rPr lang="en-US" baseline="0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viết</a:t>
            </a:r>
            <a:r>
              <a:rPr lang="en-US" baseline="0" dirty="0" smtClean="0"/>
              <a:t> code </a:t>
            </a:r>
            <a:r>
              <a:rPr lang="en-US" baseline="0" dirty="0" err="1" smtClean="0"/>
              <a:t>để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tạo</a:t>
            </a:r>
            <a:r>
              <a:rPr lang="en-US" baseline="0" dirty="0" smtClean="0"/>
              <a:t> event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0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 smtClean="0"/>
              <a:t>System Event và</a:t>
            </a:r>
            <a:r>
              <a:rPr lang="en-US" b="1" u="sng" baseline="0" dirty="0" smtClean="0"/>
              <a:t> </a:t>
            </a:r>
            <a:r>
              <a:rPr lang="en-US" b="1" u="sng" dirty="0" smtClean="0"/>
              <a:t>System operation</a:t>
            </a:r>
            <a:r>
              <a:rPr lang="en-US" b="1" u="sng" baseline="0" dirty="0" smtClean="0"/>
              <a:t> thường có cùng tên</a:t>
            </a:r>
          </a:p>
          <a:p>
            <a:r>
              <a:rPr lang="en-US" dirty="0" smtClean="0"/>
              <a:t>Draw an SSD for </a:t>
            </a:r>
          </a:p>
          <a:p>
            <a:pPr lvl="1"/>
            <a:r>
              <a:rPr lang="en-US" dirty="0" smtClean="0"/>
              <a:t>- a main success scenario of each use case, </a:t>
            </a:r>
          </a:p>
          <a:p>
            <a:pPr lvl="1"/>
            <a:r>
              <a:rPr lang="en-US" dirty="0" smtClean="0"/>
              <a:t>- and frequent or complex alternative scenarios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4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System Event </a:t>
            </a:r>
            <a:r>
              <a:rPr lang="en-US" dirty="0" err="1" smtClean="0"/>
              <a:t>và</a:t>
            </a:r>
            <a:r>
              <a:rPr lang="en-US" baseline="0" dirty="0" smtClean="0"/>
              <a:t> </a:t>
            </a:r>
            <a:r>
              <a:rPr lang="en-US" dirty="0" smtClean="0"/>
              <a:t>System operation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thường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cùng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tên</a:t>
            </a:r>
            <a:endParaRPr lang="en-US" baseline="0" dirty="0" smtClean="0"/>
          </a:p>
          <a:p>
            <a:r>
              <a:rPr lang="en-US" dirty="0" smtClean="0"/>
              <a:t>Draw an SSD for </a:t>
            </a:r>
          </a:p>
          <a:p>
            <a:pPr lvl="1"/>
            <a:r>
              <a:rPr lang="en-US" dirty="0" smtClean="0"/>
              <a:t>- a main success scenario of each use case, </a:t>
            </a:r>
          </a:p>
          <a:p>
            <a:pPr lvl="1"/>
            <a:r>
              <a:rPr lang="en-US" dirty="0" smtClean="0"/>
              <a:t>- and frequent or complex alternative scenarios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13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System Event và</a:t>
            </a:r>
            <a:r>
              <a:rPr lang="en-US" baseline="0" dirty="0" smtClean="0"/>
              <a:t> </a:t>
            </a:r>
            <a:r>
              <a:rPr lang="en-US" dirty="0" smtClean="0"/>
              <a:t>System operation</a:t>
            </a:r>
            <a:r>
              <a:rPr lang="en-US" baseline="0" dirty="0" smtClean="0"/>
              <a:t> thường có cùng tên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15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Sv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hàm</a:t>
            </a:r>
            <a:r>
              <a:rPr lang="en-US" baseline="0" dirty="0" smtClean="0"/>
              <a:t> 1 </a:t>
            </a:r>
            <a:r>
              <a:rPr lang="en-US" baseline="0" dirty="0" err="1" smtClean="0"/>
              <a:t>và</a:t>
            </a:r>
            <a:r>
              <a:rPr lang="en-US" baseline="0" dirty="0" smtClean="0"/>
              <a:t> 2</a:t>
            </a:r>
          </a:p>
          <a:p>
            <a:r>
              <a:rPr lang="en-US" baseline="0" dirty="0" err="1" smtClean="0"/>
              <a:t>Giá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bằng</a:t>
            </a:r>
            <a:r>
              <a:rPr lang="en-US" baseline="0" dirty="0" smtClean="0"/>
              <a:t> 2 </a:t>
            </a:r>
            <a:r>
              <a:rPr lang="en-US" baseline="0" dirty="0" err="1" smtClean="0"/>
              <a:t>cách</a:t>
            </a:r>
            <a:r>
              <a:rPr lang="en-US" baseline="0" dirty="0" smtClean="0"/>
              <a:t>: return value, out parameter (C/C++: &amp;, C#: out, ref)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1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Optionally include use case text on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348ED-14C6-42EB-8AB6-3B33A93ADC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383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baseline="0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Optionally include use case text on left.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348ED-14C6-42EB-8AB6-3B33A93ADC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807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Draw an SSD for </a:t>
            </a:r>
          </a:p>
          <a:p>
            <a:pPr lvl="1"/>
            <a:r>
              <a:rPr lang="en-US" dirty="0" smtClean="0"/>
              <a:t>- a main success scenario of each use case, </a:t>
            </a:r>
          </a:p>
          <a:p>
            <a:pPr lvl="1"/>
            <a:r>
              <a:rPr lang="en-US" dirty="0" smtClean="0"/>
              <a:t>- and frequent or complex alternative scenarios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348ED-14C6-42EB-8AB6-3B33A93ADC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1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6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8277"/>
            <a:ext cx="7772400" cy="1274022"/>
          </a:xfrm>
          <a:ln>
            <a:noFill/>
          </a:ln>
        </p:spPr>
        <p:txBody>
          <a:bodyPr>
            <a:normAutofit/>
          </a:bodyPr>
          <a:lstStyle>
            <a:lvl1pPr>
              <a:defRPr sz="3300"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98933"/>
            <a:ext cx="6400800" cy="151892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23655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19795"/>
            <a:ext cx="6883400" cy="1058700"/>
          </a:xfrm>
        </p:spPr>
        <p:txBody>
          <a:bodyPr/>
          <a:lstStyle>
            <a:lvl1pPr>
              <a:defRPr>
                <a:solidFill>
                  <a:srgbClr val="00449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871"/>
            <a:ext cx="8229600" cy="4028472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25"/>
            </a:lvl1pPr>
          </a:lstStyle>
          <a:p>
            <a:pPr eaLnBrk="1" latinLnBrk="0" hangingPunct="1"/>
            <a:fld id="{58FEC44C-3F9D-1544-8214-25D7968B2E5A}" type="datetime1">
              <a:rPr lang="en-US" smtClean="0"/>
              <a:t>10/8/2017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6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7549" tIns="23774" rIns="47549" bIns="23774" numCol="1" anchor="t" anchorCtr="0" compatLnSpc="1">
            <a:prstTxWarp prst="textNoShape">
              <a:avLst/>
            </a:prstTxWarp>
          </a:bodyPr>
          <a:lstStyle/>
          <a:p>
            <a:endParaRPr lang="en-US" sz="937"/>
          </a:p>
        </p:txBody>
      </p:sp>
      <p:sp>
        <p:nvSpPr>
          <p:cNvPr id="9" name="TextBox 8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93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19315"/>
            <a:ext cx="7772400" cy="118046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19152"/>
            <a:ext cx="7772400" cy="1300162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10/8/2017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5" name="Rectangle 4"/>
          <p:cNvSpPr/>
          <p:nvPr/>
        </p:nvSpPr>
        <p:spPr>
          <a:xfrm>
            <a:off x="8134644" y="5157216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70"/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6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7549" tIns="23774" rIns="47549" bIns="23774" numCol="1" anchor="t" anchorCtr="0" compatLnSpc="1">
            <a:prstTxWarp prst="textNoShape">
              <a:avLst/>
            </a:prstTxWarp>
          </a:bodyPr>
          <a:lstStyle/>
          <a:p>
            <a:endParaRPr lang="en-US" sz="937"/>
          </a:p>
        </p:txBody>
      </p:sp>
      <p:sp>
        <p:nvSpPr>
          <p:cNvPr id="8" name="TextBox 7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631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6841"/>
            <a:ext cx="4038600" cy="392250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6841"/>
            <a:ext cx="4038600" cy="392250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10/8/2017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8" name="Freeform 11"/>
          <p:cNvSpPr>
            <a:spLocks/>
          </p:cNvSpPr>
          <p:nvPr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  <p:sp>
        <p:nvSpPr>
          <p:cNvPr id="9" name="Freeform 11"/>
          <p:cNvSpPr>
            <a:spLocks/>
          </p:cNvSpPr>
          <p:nvPr userDrawn="1"/>
        </p:nvSpPr>
        <p:spPr bwMode="auto">
          <a:xfrm flipV="1">
            <a:off x="8256676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7549" tIns="23774" rIns="47549" bIns="23774" numCol="1" anchor="t" anchorCtr="0" compatLnSpc="1">
            <a:prstTxWarp prst="textNoShape">
              <a:avLst/>
            </a:prstTxWarp>
          </a:bodyPr>
          <a:lstStyle/>
          <a:p>
            <a:endParaRPr lang="en-US" sz="937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786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1724"/>
            <a:ext cx="4040188" cy="453168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84891"/>
            <a:ext cx="4040188" cy="342445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31724"/>
            <a:ext cx="4041775" cy="453168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4891"/>
            <a:ext cx="4041775" cy="342445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10/8/2017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8451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10/8/2017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41750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10/8/2017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44901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937895"/>
            <a:ext cx="3008313" cy="100711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7895"/>
            <a:ext cx="5111750" cy="43714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45006"/>
            <a:ext cx="3008313" cy="33643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10/8/2017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3640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160520"/>
            <a:ext cx="5486400" cy="491173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7607"/>
            <a:ext cx="5486400" cy="3259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651693"/>
            <a:ext cx="5486400" cy="6975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10/8/2017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</p:spTree>
    <p:extLst>
      <p:ext uri="{BB962C8B-B14F-4D97-AF65-F5344CB8AC3E}">
        <p14:creationId xmlns:p14="http://schemas.microsoft.com/office/powerpoint/2010/main" val="148281638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10/8/2017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</p:spTree>
    <p:extLst>
      <p:ext uri="{BB962C8B-B14F-4D97-AF65-F5344CB8AC3E}">
        <p14:creationId xmlns:p14="http://schemas.microsoft.com/office/powerpoint/2010/main" val="280206065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827867"/>
            <a:ext cx="2057400" cy="44814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827867"/>
            <a:ext cx="6019800" cy="44814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10/8/2017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</p:spTree>
    <p:extLst>
      <p:ext uri="{BB962C8B-B14F-4D97-AF65-F5344CB8AC3E}">
        <p14:creationId xmlns:p14="http://schemas.microsoft.com/office/powerpoint/2010/main" val="401527296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0" y="1390315"/>
            <a:ext cx="3441127" cy="376719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79" y="1383921"/>
            <a:ext cx="3441127" cy="376719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55" y="5386388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4" y="540896"/>
            <a:ext cx="7196102" cy="762525"/>
          </a:xfrm>
        </p:spPr>
        <p:txBody>
          <a:bodyPr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reeform 11"/>
          <p:cNvSpPr>
            <a:spLocks/>
          </p:cNvSpPr>
          <p:nvPr userDrawn="1"/>
        </p:nvSpPr>
        <p:spPr bwMode="auto">
          <a:xfrm flipV="1">
            <a:off x="8256676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7549" tIns="23774" rIns="47549" bIns="23774" numCol="1" anchor="t" anchorCtr="0" compatLnSpc="1">
            <a:prstTxWarp prst="textNoShape">
              <a:avLst/>
            </a:prstTxWarp>
          </a:bodyPr>
          <a:lstStyle/>
          <a:p>
            <a:endParaRPr lang="en-US" sz="937"/>
          </a:p>
        </p:txBody>
      </p:sp>
    </p:spTree>
    <p:extLst>
      <p:ext uri="{BB962C8B-B14F-4D97-AF65-F5344CB8AC3E}">
        <p14:creationId xmlns:p14="http://schemas.microsoft.com/office/powerpoint/2010/main" val="407532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8" y="1390317"/>
            <a:ext cx="3441127" cy="3767199"/>
          </a:xfrm>
        </p:spPr>
        <p:txBody>
          <a:bodyPr>
            <a:normAutofit/>
          </a:bodyPr>
          <a:lstStyle>
            <a:lvl1pPr>
              <a:defRPr sz="937"/>
            </a:lvl1pPr>
            <a:lvl2pPr>
              <a:defRPr sz="832"/>
            </a:lvl2pPr>
            <a:lvl3pPr>
              <a:defRPr sz="728"/>
            </a:lvl3pPr>
            <a:lvl4pPr>
              <a:defRPr sz="624"/>
            </a:lvl4pPr>
            <a:lvl5pPr>
              <a:defRPr sz="624"/>
            </a:lvl5pPr>
            <a:lvl6pPr>
              <a:defRPr sz="937"/>
            </a:lvl6pPr>
            <a:lvl7pPr>
              <a:defRPr sz="937"/>
            </a:lvl7pPr>
            <a:lvl8pPr>
              <a:defRPr sz="937"/>
            </a:lvl8pPr>
            <a:lvl9pPr>
              <a:defRPr sz="93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87" y="1383922"/>
            <a:ext cx="3441127" cy="3767199"/>
          </a:xfrm>
        </p:spPr>
        <p:txBody>
          <a:bodyPr>
            <a:normAutofit/>
          </a:bodyPr>
          <a:lstStyle>
            <a:lvl1pPr>
              <a:defRPr sz="937"/>
            </a:lvl1pPr>
            <a:lvl2pPr>
              <a:defRPr sz="832"/>
            </a:lvl2pPr>
            <a:lvl3pPr>
              <a:defRPr sz="728"/>
            </a:lvl3pPr>
            <a:lvl4pPr>
              <a:defRPr sz="624"/>
            </a:lvl4pPr>
            <a:lvl5pPr>
              <a:defRPr sz="624"/>
            </a:lvl5pPr>
            <a:lvl6pPr>
              <a:defRPr sz="937"/>
            </a:lvl6pPr>
            <a:lvl7pPr>
              <a:defRPr sz="937"/>
            </a:lvl7pPr>
            <a:lvl8pPr>
              <a:defRPr sz="937"/>
            </a:lvl8pPr>
            <a:lvl9pPr>
              <a:defRPr sz="937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 flipV="1">
            <a:off x="8256676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7549" tIns="23774" rIns="47549" bIns="23774" numCol="1" anchor="t" anchorCtr="0" compatLnSpc="1">
            <a:prstTxWarp prst="textNoShape">
              <a:avLst/>
            </a:prstTxWarp>
          </a:bodyPr>
          <a:lstStyle/>
          <a:p>
            <a:endParaRPr lang="en-US" sz="937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63" y="5386392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728" smtClean="0"/>
              <a:pPr/>
              <a:t>‹#›</a:t>
            </a:fld>
            <a:endParaRPr lang="en-US" sz="728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9" y="540898"/>
            <a:ext cx="7196103" cy="762526"/>
          </a:xfrm>
        </p:spPr>
        <p:txBody>
          <a:bodyPr>
            <a:normAutofit/>
          </a:bodyPr>
          <a:lstStyle>
            <a:lvl1pPr>
              <a:defRPr sz="1665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4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6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8277"/>
            <a:ext cx="7772400" cy="1274022"/>
          </a:xfrm>
          <a:ln>
            <a:noFill/>
          </a:ln>
        </p:spPr>
        <p:txBody>
          <a:bodyPr>
            <a:normAutofit/>
          </a:bodyPr>
          <a:lstStyle>
            <a:lvl1pPr>
              <a:defRPr sz="3300"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98933"/>
            <a:ext cx="6400800" cy="151892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0889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19795"/>
            <a:ext cx="6883400" cy="1058700"/>
          </a:xfrm>
        </p:spPr>
        <p:txBody>
          <a:bodyPr/>
          <a:lstStyle>
            <a:lvl1pPr>
              <a:defRPr>
                <a:solidFill>
                  <a:srgbClr val="00449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871"/>
            <a:ext cx="8229600" cy="4028472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25"/>
            </a:lvl1pPr>
          </a:lstStyle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EC44C-3F9D-1544-8214-25D7968B2E5A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8134644" y="5157216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969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19315"/>
            <a:ext cx="7772400" cy="118046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19152"/>
            <a:ext cx="7772400" cy="1300162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1888ED-BA33-BE40-BF29-F50D5175FC1E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8134644" y="5157216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412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6841"/>
            <a:ext cx="4038600" cy="392250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6841"/>
            <a:ext cx="4038600" cy="392250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119C21-0AE2-BC4D-843C-BE82E03062E5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8" name="Freeform 11"/>
          <p:cNvSpPr>
            <a:spLocks/>
          </p:cNvSpPr>
          <p:nvPr userDrawn="1"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611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1724"/>
            <a:ext cx="4040188" cy="453168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84891"/>
            <a:ext cx="4040188" cy="342445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431724"/>
            <a:ext cx="4041775" cy="453168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4891"/>
            <a:ext cx="4041775" cy="342445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50FC7B-5044-DE40-9EF1-4B21023D85EE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715608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AC67D2-079C-6745-A936-43BC6E106AD5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0442428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DD40BE-C346-4746-AF7E-3493C08330BD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1372376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937895"/>
            <a:ext cx="3008313" cy="100711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7895"/>
            <a:ext cx="5111750" cy="43714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45006"/>
            <a:ext cx="3008313" cy="33643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3A1EC-0728-0C41-ABCE-875DE802A9AF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43240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160520"/>
            <a:ext cx="5486400" cy="491173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7607"/>
            <a:ext cx="5486400" cy="3259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651693"/>
            <a:ext cx="5486400" cy="6975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41E869-144A-2342-8662-45B9046CCDA7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329785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3B61A7-E2FC-4841-8D50-D99D90597A6B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93021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827867"/>
            <a:ext cx="2057400" cy="44814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827867"/>
            <a:ext cx="6019800" cy="44814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6FE0F7-F64C-4E48-A724-F85AC4A61B60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60487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0" y="1390315"/>
            <a:ext cx="3441127" cy="376719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79" y="1383921"/>
            <a:ext cx="3441127" cy="376719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55" y="5386388"/>
            <a:ext cx="584597" cy="316442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4" y="540896"/>
            <a:ext cx="7196102" cy="762525"/>
          </a:xfrm>
        </p:spPr>
        <p:txBody>
          <a:bodyPr>
            <a:normAutofit/>
          </a:bodyPr>
          <a:lstStyle>
            <a:lvl1pPr>
              <a:defRPr sz="24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7.png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6755" y="238019"/>
            <a:ext cx="6720046" cy="10670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6841"/>
            <a:ext cx="8229600" cy="39225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723468"/>
            <a:ext cx="115570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F644F9BB-235D-0341-BBB7-B521C4CF5A02}" type="datetime1">
              <a:rPr lang="en-US" smtClean="0"/>
              <a:pPr/>
              <a:t>10/8/2017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5726219"/>
            <a:ext cx="46411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16845AD9-D1F4-4EC2-844C-79E58D9B0E6B}" type="slidenum">
              <a:rPr lang="en-US" sz="728" smtClean="0">
                <a:solidFill>
                  <a:prstClr val="black"/>
                </a:solidFill>
              </a:rPr>
              <a:pPr/>
              <a:t>‹#›</a:t>
            </a:fld>
            <a:endParaRPr lang="en-US" sz="728" dirty="0">
              <a:solidFill>
                <a:prstClr val="black"/>
              </a:solidFill>
            </a:endParaRP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70"/>
          </a:p>
        </p:txBody>
      </p:sp>
      <p:sp>
        <p:nvSpPr>
          <p:cNvPr id="8" name="Freeform 11"/>
          <p:cNvSpPr>
            <a:spLocks/>
          </p:cNvSpPr>
          <p:nvPr userDrawn="1"/>
        </p:nvSpPr>
        <p:spPr bwMode="auto">
          <a:xfrm flipV="1">
            <a:off x="8256676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7549" tIns="23774" rIns="47549" bIns="23774" numCol="1" anchor="t" anchorCtr="0" compatLnSpc="1">
            <a:prstTxWarp prst="textNoShape">
              <a:avLst/>
            </a:prstTxWarp>
          </a:bodyPr>
          <a:lstStyle/>
          <a:p>
            <a:endParaRPr lang="en-US" sz="937"/>
          </a:p>
        </p:txBody>
      </p:sp>
    </p:spTree>
    <p:extLst>
      <p:ext uri="{BB962C8B-B14F-4D97-AF65-F5344CB8AC3E}">
        <p14:creationId xmlns:p14="http://schemas.microsoft.com/office/powerpoint/2010/main" val="416338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664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7.png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6755" y="238019"/>
            <a:ext cx="6720046" cy="10670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6841"/>
            <a:ext cx="8229600" cy="39225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723468"/>
            <a:ext cx="115570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44F9BB-235D-0341-BBB7-B521C4CF5A02}" type="datetime1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l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10/8/2017</a:t>
            </a:fld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5726219"/>
            <a:ext cx="46411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2" y="5370094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51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41680" y="2248277"/>
            <a:ext cx="7726680" cy="127402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TÍCH VÀ THIẾT KẾ 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HƯỚNG ĐỐI TƯỢNG</a:t>
            </a:r>
            <a:endParaRPr lang="en-US" sz="3120" dirty="0">
              <a:solidFill>
                <a:srgbClr val="002060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600200" y="3522298"/>
            <a:ext cx="6009640" cy="1518920"/>
          </a:xfrm>
        </p:spPr>
        <p:txBody>
          <a:bodyPr>
            <a:normAutofit/>
          </a:bodyPr>
          <a:lstStyle/>
          <a:p>
            <a:r>
              <a:rPr lang="en-US" sz="2427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LƯỢC ĐỒ TRÌNH TỰ HỆ THỐNG</a:t>
            </a:r>
          </a:p>
          <a:p>
            <a:r>
              <a:rPr lang="en-AU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A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ystem </a:t>
            </a:r>
            <a:r>
              <a:rPr lang="en-AU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A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equence </a:t>
            </a:r>
            <a:r>
              <a:rPr lang="en-AU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A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iagram (SSD)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endParaRPr lang="en-US" sz="2800" dirty="0">
              <a:solidFill>
                <a:srgbClr val="FF0000"/>
              </a:solidFill>
            </a:endParaRPr>
          </a:p>
          <a:p>
            <a:endParaRPr lang="en-US" sz="242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09600" y="5726219"/>
            <a:ext cx="401743" cy="217382"/>
          </a:xfrm>
        </p:spPr>
        <p:txBody>
          <a:bodyPr/>
          <a:lstStyle/>
          <a:p>
            <a:pPr marL="0" marR="0" lvl="0" indent="0" algn="r" defTabSz="72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AE3475-1547-493A-BDEF-95746F296ECD}" type="slidenum">
              <a:rPr kumimoji="0" lang="en-US" sz="825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72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597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Nội dung bài học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AU" dirty="0"/>
              <a:t>Lược đồ trình tự hệ thống (SSD) là gì?</a:t>
            </a:r>
          </a:p>
          <a:p>
            <a:pPr>
              <a:defRPr/>
            </a:pPr>
            <a:r>
              <a:rPr lang="en-AU" dirty="0"/>
              <a:t>Phân biệt </a:t>
            </a:r>
            <a:r>
              <a:rPr lang="en-US" dirty="0"/>
              <a:t>System Event và System Operation</a:t>
            </a:r>
          </a:p>
          <a:p>
            <a:pPr>
              <a:defRPr/>
            </a:pPr>
            <a:r>
              <a:rPr lang="en-US" dirty="0"/>
              <a:t>Tìm System Event và System Operation từ đặc tả use case</a:t>
            </a:r>
          </a:p>
          <a:p>
            <a:pPr>
              <a:defRPr/>
            </a:pPr>
            <a:r>
              <a:rPr lang="en-US" dirty="0"/>
              <a:t>Vẽ lược đồ trình tự hệ thống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2</a:t>
            </a:fld>
            <a:endParaRPr lang="en-US" sz="728" dirty="0"/>
          </a:p>
        </p:txBody>
      </p:sp>
    </p:spTree>
    <p:extLst>
      <p:ext uri="{BB962C8B-B14F-4D97-AF65-F5344CB8AC3E}">
        <p14:creationId xmlns:p14="http://schemas.microsoft.com/office/powerpoint/2010/main" val="163642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Tổng quan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3</a:t>
            </a:fld>
            <a:endParaRPr lang="en-US" sz="728" dirty="0"/>
          </a:p>
        </p:txBody>
      </p:sp>
      <p:grpSp>
        <p:nvGrpSpPr>
          <p:cNvPr id="5" name="Group 4"/>
          <p:cNvGrpSpPr/>
          <p:nvPr/>
        </p:nvGrpSpPr>
        <p:grpSpPr>
          <a:xfrm>
            <a:off x="926174" y="2637283"/>
            <a:ext cx="1245691" cy="747414"/>
            <a:chOff x="4018" y="1640528"/>
            <a:chExt cx="1245691" cy="747414"/>
          </a:xfrm>
          <a:scene3d>
            <a:camera prst="orthographicFront"/>
            <a:lightRig rig="flat" dir="t"/>
          </a:scene3d>
        </p:grpSpPr>
        <p:sp>
          <p:nvSpPr>
            <p:cNvPr id="30" name="Rounded Rectangle 29"/>
            <p:cNvSpPr/>
            <p:nvPr/>
          </p:nvSpPr>
          <p:spPr>
            <a:xfrm>
              <a:off x="4018" y="1640528"/>
              <a:ext cx="1245691" cy="747414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31" name="Rounded Rectangle 4"/>
            <p:cNvSpPr/>
            <p:nvPr/>
          </p:nvSpPr>
          <p:spPr>
            <a:xfrm>
              <a:off x="25909" y="1662419"/>
              <a:ext cx="1201909" cy="70363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Đề bài</a:t>
              </a:r>
              <a:endParaRPr lang="en-US" sz="1900" kern="12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296434" y="2856525"/>
            <a:ext cx="264086" cy="308931"/>
            <a:chOff x="1374278" y="1859770"/>
            <a:chExt cx="264086" cy="308931"/>
          </a:xfrm>
        </p:grpSpPr>
        <p:sp>
          <p:nvSpPr>
            <p:cNvPr id="28" name="Right Arrow 27"/>
            <p:cNvSpPr/>
            <p:nvPr/>
          </p:nvSpPr>
          <p:spPr>
            <a:xfrm>
              <a:off x="1374278" y="1859770"/>
              <a:ext cx="264086" cy="3089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9" name="Right Arrow 6"/>
            <p:cNvSpPr/>
            <p:nvPr/>
          </p:nvSpPr>
          <p:spPr>
            <a:xfrm>
              <a:off x="1374278" y="1921556"/>
              <a:ext cx="184860" cy="1853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670142" y="2637283"/>
            <a:ext cx="1245691" cy="747414"/>
            <a:chOff x="1747986" y="1640528"/>
            <a:chExt cx="1245691" cy="747414"/>
          </a:xfrm>
          <a:scene3d>
            <a:camera prst="orthographicFront"/>
            <a:lightRig rig="flat" dir="t"/>
          </a:scene3d>
        </p:grpSpPr>
        <p:sp>
          <p:nvSpPr>
            <p:cNvPr id="26" name="Rounded Rectangle 25"/>
            <p:cNvSpPr/>
            <p:nvPr/>
          </p:nvSpPr>
          <p:spPr>
            <a:xfrm>
              <a:off x="1747986" y="1640528"/>
              <a:ext cx="1245691" cy="747414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7" name="Rounded Rectangle 8"/>
            <p:cNvSpPr/>
            <p:nvPr/>
          </p:nvSpPr>
          <p:spPr>
            <a:xfrm>
              <a:off x="1769877" y="1662419"/>
              <a:ext cx="1201909" cy="70363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Lược đồ use case</a:t>
              </a:r>
              <a:endParaRPr lang="en-US" sz="1900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040402" y="2856525"/>
            <a:ext cx="264086" cy="308931"/>
            <a:chOff x="3118246" y="1859770"/>
            <a:chExt cx="264086" cy="308931"/>
          </a:xfrm>
        </p:grpSpPr>
        <p:sp>
          <p:nvSpPr>
            <p:cNvPr id="24" name="Right Arrow 23"/>
            <p:cNvSpPr/>
            <p:nvPr/>
          </p:nvSpPr>
          <p:spPr>
            <a:xfrm>
              <a:off x="3118246" y="1859770"/>
              <a:ext cx="264086" cy="3089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5" name="Right Arrow 10"/>
            <p:cNvSpPr/>
            <p:nvPr/>
          </p:nvSpPr>
          <p:spPr>
            <a:xfrm>
              <a:off x="3118246" y="1921556"/>
              <a:ext cx="184860" cy="1853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14110" y="2637283"/>
            <a:ext cx="1245691" cy="747414"/>
            <a:chOff x="3491954" y="1640528"/>
            <a:chExt cx="1245691" cy="747414"/>
          </a:xfrm>
          <a:scene3d>
            <a:camera prst="orthographicFront"/>
            <a:lightRig rig="fla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3491954" y="1640528"/>
              <a:ext cx="1245691" cy="747414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3" name="Rounded Rectangle 12"/>
            <p:cNvSpPr/>
            <p:nvPr/>
          </p:nvSpPr>
          <p:spPr>
            <a:xfrm>
              <a:off x="3513845" y="1662419"/>
              <a:ext cx="1201909" cy="70363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Đặc tả use case</a:t>
              </a:r>
              <a:endParaRPr lang="en-US" sz="1900" kern="12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51861" y="2259661"/>
            <a:ext cx="763238" cy="308931"/>
            <a:chOff x="5029705" y="1262906"/>
            <a:chExt cx="763238" cy="308931"/>
          </a:xfrm>
        </p:grpSpPr>
        <p:sp>
          <p:nvSpPr>
            <p:cNvPr id="20" name="Right Arrow 19"/>
            <p:cNvSpPr/>
            <p:nvPr/>
          </p:nvSpPr>
          <p:spPr>
            <a:xfrm rot="20116843">
              <a:off x="5029705" y="1262906"/>
              <a:ext cx="763238" cy="3089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1" name="Right Arrow 14"/>
            <p:cNvSpPr/>
            <p:nvPr/>
          </p:nvSpPr>
          <p:spPr>
            <a:xfrm rot="20116843">
              <a:off x="5033951" y="1344070"/>
              <a:ext cx="670559" cy="18535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67917" y="1461622"/>
            <a:ext cx="1245691" cy="747414"/>
            <a:chOff x="6045761" y="464867"/>
            <a:chExt cx="1245691" cy="747414"/>
          </a:xfrm>
          <a:scene3d>
            <a:camera prst="orthographicFront"/>
            <a:lightRig rig="fla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6045761" y="464867"/>
              <a:ext cx="1245691" cy="747414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9" name="Rounded Rectangle 16"/>
            <p:cNvSpPr/>
            <p:nvPr/>
          </p:nvSpPr>
          <p:spPr>
            <a:xfrm>
              <a:off x="6067652" y="486758"/>
              <a:ext cx="1201909" cy="70363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Domain Model</a:t>
              </a:r>
              <a:endParaRPr lang="en-US" sz="1900" kern="1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992651" y="3408177"/>
            <a:ext cx="784120" cy="296422"/>
            <a:chOff x="5070495" y="2411422"/>
            <a:chExt cx="784120" cy="296422"/>
          </a:xfrm>
        </p:grpSpPr>
        <p:sp>
          <p:nvSpPr>
            <p:cNvPr id="16" name="Right Arrow 15"/>
            <p:cNvSpPr/>
            <p:nvPr/>
          </p:nvSpPr>
          <p:spPr>
            <a:xfrm rot="1830898">
              <a:off x="5070495" y="2411422"/>
              <a:ext cx="784120" cy="29642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7" name="Right Arrow 18"/>
            <p:cNvSpPr/>
            <p:nvPr/>
          </p:nvSpPr>
          <p:spPr>
            <a:xfrm rot="1830898">
              <a:off x="5076653" y="2448129"/>
              <a:ext cx="695193" cy="1778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200" kern="12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72135" y="3734563"/>
            <a:ext cx="1245691" cy="747414"/>
            <a:chOff x="6049979" y="2737808"/>
            <a:chExt cx="1245691" cy="747414"/>
          </a:xfrm>
          <a:scene3d>
            <a:camera prst="orthographicFront"/>
            <a:lightRig rig="flat" dir="t"/>
          </a:scene3d>
        </p:grpSpPr>
        <p:sp>
          <p:nvSpPr>
            <p:cNvPr id="14" name="Rounded Rectangle 13"/>
            <p:cNvSpPr/>
            <p:nvPr/>
          </p:nvSpPr>
          <p:spPr>
            <a:xfrm>
              <a:off x="6049979" y="2737808"/>
              <a:ext cx="1245691" cy="747414"/>
            </a:xfrm>
            <a:prstGeom prst="roundRect">
              <a:avLst>
                <a:gd name="adj" fmla="val 10000"/>
              </a:avLst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5" name="Rounded Rectangle 20"/>
            <p:cNvSpPr/>
            <p:nvPr/>
          </p:nvSpPr>
          <p:spPr>
            <a:xfrm>
              <a:off x="6071870" y="2759699"/>
              <a:ext cx="1201909" cy="70363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SSD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5160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SSD là gì?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Use case diagram</a:t>
            </a:r>
          </a:p>
          <a:p>
            <a:pPr lvl="1"/>
            <a:r>
              <a:rPr lang="en-US" dirty="0"/>
              <a:t>L</a:t>
            </a:r>
            <a:r>
              <a:rPr lang="en-US" dirty="0" smtClean="0"/>
              <a:t>iệt kê các chức năng của hệ thống và mối quan hệ giữa chúng</a:t>
            </a:r>
          </a:p>
          <a:p>
            <a:r>
              <a:rPr lang="en-US" dirty="0" smtClean="0"/>
              <a:t>Đặc tả use case</a:t>
            </a:r>
          </a:p>
          <a:p>
            <a:pPr lvl="1"/>
            <a:r>
              <a:rPr lang="en-US" dirty="0"/>
              <a:t>M</a:t>
            </a:r>
            <a:r>
              <a:rPr lang="en-US" dirty="0" smtClean="0"/>
              <a:t>ô tả chi tiết làm thế nào để thực hiện các chức năng của hệ thống</a:t>
            </a:r>
          </a:p>
          <a:p>
            <a:r>
              <a:rPr lang="en-US" dirty="0" smtClean="0"/>
              <a:t>Domain model</a:t>
            </a:r>
          </a:p>
          <a:p>
            <a:pPr lvl="1"/>
            <a:r>
              <a:rPr lang="en-US" dirty="0" smtClean="0"/>
              <a:t>Liệt kê các đối tượng có thể tham gia để xây dựng các chức năng của hệ thống</a:t>
            </a:r>
          </a:p>
          <a:p>
            <a:r>
              <a:rPr lang="en-US" dirty="0" smtClean="0"/>
              <a:t>SSD</a:t>
            </a:r>
          </a:p>
          <a:p>
            <a:pPr lvl="1"/>
            <a:r>
              <a:rPr lang="en-US" dirty="0" smtClean="0"/>
              <a:t>Liệt kê các công việc (phương thức) được thực hiện để xây dựng các chức năng của hệ thống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4</a:t>
            </a:fld>
            <a:endParaRPr lang="en-US" sz="728" dirty="0"/>
          </a:p>
        </p:txBody>
      </p:sp>
    </p:spTree>
    <p:extLst>
      <p:ext uri="{BB962C8B-B14F-4D97-AF65-F5344CB8AC3E}">
        <p14:creationId xmlns:p14="http://schemas.microsoft.com/office/powerpoint/2010/main" val="143899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 và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Sự kiện được phát ra từ người </a:t>
            </a:r>
            <a:r>
              <a:rPr lang="en-US" dirty="0" smtClean="0"/>
              <a:t>dùng</a:t>
            </a:r>
          </a:p>
          <a:p>
            <a:pPr lvl="1"/>
            <a:r>
              <a:rPr lang="en-US" dirty="0" smtClean="0"/>
              <a:t>Mouse Clicks: </a:t>
            </a:r>
            <a:r>
              <a:rPr lang="en-US" dirty="0" smtClean="0">
                <a:solidFill>
                  <a:srgbClr val="FF0000"/>
                </a:solidFill>
              </a:rPr>
              <a:t>Không áp dụng cho Console Applications</a:t>
            </a:r>
            <a:endParaRPr lang="en-US" dirty="0" smtClean="0"/>
          </a:p>
          <a:p>
            <a:pPr lvl="1"/>
            <a:r>
              <a:rPr lang="en-US" dirty="0" smtClean="0"/>
              <a:t>Key Presses</a:t>
            </a:r>
          </a:p>
          <a:p>
            <a:r>
              <a:rPr lang="en-US" dirty="0" smtClean="0"/>
              <a:t>Hệ thống đáp ứng (response) sự kiện bằng một hàm cụ thể (Operations)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5</a:t>
            </a:fld>
            <a:endParaRPr lang="en-US" sz="728" dirty="0"/>
          </a:p>
        </p:txBody>
      </p:sp>
    </p:spTree>
    <p:extLst>
      <p:ext uri="{BB962C8B-B14F-4D97-AF65-F5344CB8AC3E}">
        <p14:creationId xmlns:p14="http://schemas.microsoft.com/office/powerpoint/2010/main" val="197423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Định nghĩa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System </a:t>
            </a:r>
            <a:r>
              <a:rPr lang="en-US" dirty="0"/>
              <a:t>Event</a:t>
            </a:r>
          </a:p>
          <a:p>
            <a:pPr lvl="1"/>
            <a:r>
              <a:rPr lang="en-US" dirty="0" smtClean="0"/>
              <a:t>An </a:t>
            </a:r>
            <a:r>
              <a:rPr lang="en-US" dirty="0"/>
              <a:t>external input event generated by an actor to a </a:t>
            </a:r>
            <a:r>
              <a:rPr lang="en-US" dirty="0" smtClean="0"/>
              <a:t>system</a:t>
            </a:r>
          </a:p>
          <a:p>
            <a:pPr lvl="1"/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do actor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/>
          </a:p>
          <a:p>
            <a:r>
              <a:rPr lang="en-US" dirty="0" smtClean="0"/>
              <a:t>System </a:t>
            </a:r>
            <a:r>
              <a:rPr lang="en-US" dirty="0"/>
              <a:t>operation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method invoked in response to a system </a:t>
            </a:r>
            <a:r>
              <a:rPr lang="en-US" dirty="0" smtClean="0"/>
              <a:t>event</a:t>
            </a:r>
          </a:p>
          <a:p>
            <a:pPr lvl="1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đáp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72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2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443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99" y="1113269"/>
            <a:ext cx="3429000" cy="2324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7</a:t>
            </a:fld>
            <a:endParaRPr lang="en-US" sz="728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5832166" y="1541417"/>
            <a:ext cx="2985263" cy="1397726"/>
          </a:xfrm>
          <a:prstGeom prst="wedgeRoundRectCallout">
            <a:avLst>
              <a:gd name="adj1" fmla="val -160875"/>
              <a:gd name="adj2" fmla="val 56823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 smtClean="0">
                <a:solidFill>
                  <a:srgbClr val="FF0000"/>
                </a:solidFill>
              </a:rPr>
              <a:t>Event: </a:t>
            </a:r>
          </a:p>
          <a:p>
            <a:r>
              <a:rPr lang="en-US" sz="1800" dirty="0" smtClean="0">
                <a:solidFill>
                  <a:schemeClr val="tx1"/>
                </a:solidFill>
              </a:rPr>
              <a:t>Click button Tiếp tục</a:t>
            </a:r>
          </a:p>
          <a:p>
            <a:r>
              <a:rPr lang="en-US" sz="1800" dirty="0">
                <a:solidFill>
                  <a:srgbClr val="FF0000"/>
                </a:solidFill>
              </a:rPr>
              <a:t>Operation:</a:t>
            </a:r>
          </a:p>
          <a:p>
            <a:r>
              <a:rPr lang="en-US" sz="1800" i="1" dirty="0"/>
              <a:t>buttonTieptuc_Click</a:t>
            </a:r>
            <a:r>
              <a:rPr lang="en-US" sz="1800" i="1" dirty="0" smtClean="0"/>
              <a:t>()</a:t>
            </a:r>
            <a:endParaRPr lang="en-US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188" y="4197939"/>
            <a:ext cx="3209925" cy="1362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Down Arrow 13"/>
          <p:cNvSpPr/>
          <p:nvPr/>
        </p:nvSpPr>
        <p:spPr>
          <a:xfrm>
            <a:off x="1809019" y="3510676"/>
            <a:ext cx="679268" cy="58782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6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Ví dụ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8</a:t>
            </a:fld>
            <a:endParaRPr lang="en-US" sz="728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00" y="1049845"/>
            <a:ext cx="4081017" cy="1941549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660800" y="3095896"/>
            <a:ext cx="4081017" cy="2582939"/>
            <a:chOff x="660800" y="3095896"/>
            <a:chExt cx="4081017" cy="2582939"/>
          </a:xfrm>
        </p:grpSpPr>
        <p:sp>
          <p:nvSpPr>
            <p:cNvPr id="9" name="Down Arrow 8"/>
            <p:cNvSpPr/>
            <p:nvPr/>
          </p:nvSpPr>
          <p:spPr>
            <a:xfrm>
              <a:off x="2351312" y="3095896"/>
              <a:ext cx="679268" cy="587829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800" y="3749040"/>
              <a:ext cx="4081017" cy="1929795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5128580" y="1731001"/>
            <a:ext cx="2342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olidFill>
                  <a:srgbClr val="FF0000"/>
                </a:solidFill>
              </a:rPr>
              <a:t>Display_Menu</a:t>
            </a:r>
            <a:r>
              <a:rPr lang="en-US" sz="2000" i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2000" i="1" dirty="0" err="1">
                <a:solidFill>
                  <a:srgbClr val="FF0000"/>
                </a:solidFill>
              </a:rPr>
              <a:t>Enter_FuncNumber</a:t>
            </a:r>
            <a:r>
              <a:rPr lang="en-US" sz="2000" i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8580" y="4149523"/>
            <a:ext cx="2060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</a:rPr>
              <a:t>StartAddStudent</a:t>
            </a:r>
            <a:r>
              <a:rPr lang="en-US" sz="2000" i="1" dirty="0" smtClean="0">
                <a:solidFill>
                  <a:srgbClr val="FF0000"/>
                </a:solidFill>
              </a:rPr>
              <a:t>()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32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 3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111030"/>
              </p:ext>
            </p:extLst>
          </p:nvPr>
        </p:nvGraphicFramePr>
        <p:xfrm>
          <a:off x="225145" y="1410788"/>
          <a:ext cx="4532811" cy="3637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9</a:t>
            </a:fld>
            <a:endParaRPr lang="en-US" sz="728" dirty="0"/>
          </a:p>
        </p:txBody>
      </p:sp>
      <p:sp>
        <p:nvSpPr>
          <p:cNvPr id="17" name="TextBox 16"/>
          <p:cNvSpPr txBox="1"/>
          <p:nvPr/>
        </p:nvSpPr>
        <p:spPr>
          <a:xfrm>
            <a:off x="4472036" y="1838800"/>
            <a:ext cx="2039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</a:rPr>
              <a:t>Enter_StudentID</a:t>
            </a:r>
            <a:r>
              <a:rPr lang="en-US" sz="2000" i="1" dirty="0" smtClean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5619" y="3914877"/>
            <a:ext cx="2428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</a:rPr>
              <a:t>Display_StudentInfo</a:t>
            </a:r>
            <a:r>
              <a:rPr lang="en-US" sz="2000" i="1" dirty="0" smtClean="0">
                <a:solidFill>
                  <a:srgbClr val="FF0000"/>
                </a:solidFill>
              </a:rPr>
              <a:t>()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35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 4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42968"/>
              </p:ext>
            </p:extLst>
          </p:nvPr>
        </p:nvGraphicFramePr>
        <p:xfrm>
          <a:off x="225145" y="1410788"/>
          <a:ext cx="4532811" cy="3637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10</a:t>
            </a:fld>
            <a:endParaRPr lang="en-US" sz="728" dirty="0"/>
          </a:p>
        </p:txBody>
      </p:sp>
      <p:sp>
        <p:nvSpPr>
          <p:cNvPr id="17" name="TextBox 16"/>
          <p:cNvSpPr txBox="1"/>
          <p:nvPr/>
        </p:nvSpPr>
        <p:spPr>
          <a:xfrm>
            <a:off x="4310741" y="1940952"/>
            <a:ext cx="1924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</a:rPr>
              <a:t>Enter_BirthDay</a:t>
            </a:r>
            <a:r>
              <a:rPr lang="en-US" sz="2000" i="1" dirty="0" smtClean="0">
                <a:solidFill>
                  <a:srgbClr val="FF0000"/>
                </a:solidFill>
              </a:rPr>
              <a:t>()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59489" y="3882396"/>
            <a:ext cx="1991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 smtClean="0">
                <a:solidFill>
                  <a:srgbClr val="FF0000"/>
                </a:solidFill>
              </a:rPr>
              <a:t>Check_BirthDay</a:t>
            </a:r>
            <a:r>
              <a:rPr lang="en-US" sz="2000" i="1" dirty="0" smtClean="0">
                <a:solidFill>
                  <a:srgbClr val="FF0000"/>
                </a:solidFill>
              </a:rPr>
              <a:t>()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28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94" y="1110702"/>
            <a:ext cx="3316149" cy="15305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657" y="5726219"/>
            <a:ext cx="464110" cy="217382"/>
          </a:xfrm>
        </p:spPr>
        <p:txBody>
          <a:bodyPr/>
          <a:lstStyle/>
          <a:p>
            <a:fld id="{16845AD9-D1F4-4EC2-844C-79E58D9B0E6B}" type="slidenum">
              <a:rPr lang="en-US" sz="728" smtClean="0"/>
              <a:pPr/>
              <a:t>11</a:t>
            </a:fld>
            <a:endParaRPr lang="en-US" sz="728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9540950" y="4420559"/>
            <a:ext cx="405321" cy="18986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132027" rtl="0" eaLnBrk="1" latinLnBrk="0" hangingPunct="1">
              <a:defRPr sz="825" kern="1200">
                <a:solidFill>
                  <a:schemeClr val="bg1"/>
                </a:solidFill>
                <a:latin typeface="Myriad Pro"/>
                <a:ea typeface="+mn-ea"/>
                <a:cs typeface="Myriad Pro"/>
              </a:defRPr>
            </a:lvl1pPr>
            <a:lvl2pPr marL="566014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2027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8041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4054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30068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96082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62095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28109" algn="l" defTabSz="1132027" rtl="0" eaLnBrk="1" latinLnBrk="0" hangingPunct="1"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845AD9-D1F4-4EC2-844C-79E58D9B0E6B}" type="slidenum">
              <a:rPr lang="en-US" sz="728" smtClean="0"/>
              <a:pPr/>
              <a:t>11</a:t>
            </a:fld>
            <a:endParaRPr lang="en-US" sz="728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52" y="1606081"/>
            <a:ext cx="2961894" cy="1367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69" y="2089401"/>
            <a:ext cx="3234309" cy="1367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075" y="2572555"/>
            <a:ext cx="3234309" cy="1367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784" y="3080333"/>
            <a:ext cx="3234309" cy="13670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448" y="3702299"/>
            <a:ext cx="3288792" cy="13670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3520" y="4269401"/>
            <a:ext cx="3288792" cy="13670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14067" y="1144203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1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894976" y="1627523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2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634162" y="2548845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4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702231" y="2065386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3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799749" y="3110960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5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7454269" y="3763847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6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8149846" y="4487490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Bước 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495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12</a:t>
            </a:fld>
            <a:endParaRPr lang="en-US" sz="728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701534"/>
              </p:ext>
            </p:extLst>
          </p:nvPr>
        </p:nvGraphicFramePr>
        <p:xfrm>
          <a:off x="609597" y="1475377"/>
          <a:ext cx="7815946" cy="427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52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57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Đặc</a:t>
                      </a:r>
                      <a:r>
                        <a:rPr lang="en-US" sz="1600" baseline="0" dirty="0" smtClean="0"/>
                        <a:t> tả use case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System</a:t>
                      </a:r>
                      <a:r>
                        <a:rPr lang="en-US" sz="1600" baseline="0" dirty="0" smtClean="0"/>
                        <a:t> Operations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814"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1. </a:t>
                      </a:r>
                      <a:r>
                        <a:rPr lang="en-US" sz="1600" dirty="0" err="1" smtClean="0"/>
                        <a:t>Màn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hình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chính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được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hiển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thị</a:t>
                      </a:r>
                      <a:r>
                        <a:rPr lang="en-US" sz="1600" baseline="0" dirty="0" smtClean="0"/>
                        <a:t>, </a:t>
                      </a:r>
                      <a:r>
                        <a:rPr lang="en-US" sz="1600" baseline="0" dirty="0" err="1" smtClean="0"/>
                        <a:t>n</a:t>
                      </a:r>
                      <a:r>
                        <a:rPr lang="en-US" sz="1600" dirty="0" err="1" smtClean="0"/>
                        <a:t>gười</a:t>
                      </a:r>
                      <a:r>
                        <a:rPr lang="en-US" sz="1600" dirty="0" smtClean="0"/>
                        <a:t> dùng nhập số 1 để chọn chức năng THEM. Hệ thống chuyển đến màn hình </a:t>
                      </a:r>
                      <a:r>
                        <a:rPr lang="en-US" sz="1600" dirty="0" err="1" smtClean="0"/>
                        <a:t>Thêm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sinh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viên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 smtClean="0"/>
                        <a:t>ChonChucNang</a:t>
                      </a:r>
                      <a:r>
                        <a:rPr lang="en-US" sz="1800" b="1" dirty="0" smtClean="0"/>
                        <a:t>()</a:t>
                      </a:r>
                      <a:endParaRPr 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81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 ND nhập tên. Hệ thống không cho phép nhập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tên trống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800" b="1" dirty="0" err="1" smtClean="0"/>
                        <a:t>NhapThongTinSV</a:t>
                      </a:r>
                      <a:r>
                        <a:rPr lang="en-US" sz="1800" b="1" dirty="0" smtClean="0"/>
                        <a:t>()</a:t>
                      </a:r>
                      <a:endParaRPr 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81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3. ND nhập tuổi. Hệ thống không cho phép nhập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tuổi trống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81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 ND nhập số điện thoại. Hệ</a:t>
                      </a:r>
                      <a:r>
                        <a:rPr lang="en-US" sz="1600" baseline="0" dirty="0" smtClean="0"/>
                        <a:t> thống</a:t>
                      </a:r>
                      <a:r>
                        <a:rPr lang="en-US" sz="1600" dirty="0" smtClean="0"/>
                        <a:t> bắt buộc nhập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số điện</a:t>
                      </a:r>
                      <a:r>
                        <a:rPr lang="en-US" sz="1600" baseline="0" dirty="0" smtClean="0"/>
                        <a:t> thoại</a:t>
                      </a:r>
                      <a:r>
                        <a:rPr lang="en-US" sz="1600" dirty="0" smtClean="0"/>
                        <a:t> phải đủ 10 ký số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81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5. Hệ thống thị thông tin đã nhập và thông báo: </a:t>
                      </a:r>
                      <a:r>
                        <a:rPr lang="en-US" sz="1600" u="sng" dirty="0" smtClean="0"/>
                        <a:t>Ban co muon luu thong tin xuong file khong? (c/k)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 smtClean="0"/>
                        <a:t>LuuThongTinSV</a:t>
                      </a:r>
                      <a:r>
                        <a:rPr lang="en-US" sz="1800" b="1" dirty="0" smtClean="0"/>
                        <a:t>()</a:t>
                      </a:r>
                      <a:endParaRPr lang="en-US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57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6. ND nhập ký tự </a:t>
                      </a:r>
                      <a:r>
                        <a:rPr lang="en-US" sz="1600" b="1" dirty="0" smtClean="0"/>
                        <a:t>c</a:t>
                      </a:r>
                      <a:r>
                        <a:rPr lang="en-US" sz="1600" dirty="0" smtClean="0"/>
                        <a:t>, hệ </a:t>
                      </a:r>
                      <a:r>
                        <a:rPr lang="en-US" sz="1600" dirty="0" err="1" smtClean="0"/>
                        <a:t>thống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thông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báo</a:t>
                      </a:r>
                      <a:r>
                        <a:rPr lang="en-US" sz="1600" dirty="0" smtClean="0"/>
                        <a:t> kết quả lưu file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48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Vẽ SSD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13</a:t>
            </a:fld>
            <a:endParaRPr lang="en-US" sz="728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792480" y="1092614"/>
            <a:ext cx="96091" cy="19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7549" tIns="23774" rIns="47549" bIns="2377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937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16" y="880025"/>
            <a:ext cx="85344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1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6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yêu</a:t>
            </a:r>
            <a:r>
              <a:rPr lang="en-US" sz="1800" dirty="0"/>
              <a:t> </a:t>
            </a:r>
            <a:r>
              <a:rPr lang="en-US" sz="1800" dirty="0" err="1"/>
              <a:t>cầu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tên</a:t>
            </a:r>
            <a:r>
              <a:rPr lang="en-US" sz="1800" dirty="0"/>
              <a:t> </a:t>
            </a:r>
            <a:r>
              <a:rPr lang="en-US" sz="1800" dirty="0" err="1"/>
              <a:t>tối</a:t>
            </a:r>
            <a:r>
              <a:rPr lang="en-US" sz="1800" dirty="0"/>
              <a:t> </a:t>
            </a:r>
            <a:r>
              <a:rPr lang="en-US" sz="1800" dirty="0" err="1"/>
              <a:t>đa</a:t>
            </a:r>
            <a:r>
              <a:rPr lang="en-US" sz="1800" dirty="0"/>
              <a:t> 50 </a:t>
            </a:r>
            <a:r>
              <a:rPr lang="en-US" sz="1800" dirty="0" err="1"/>
              <a:t>ký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.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tên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tra</a:t>
            </a:r>
            <a:r>
              <a:rPr lang="en-US" sz="1800" dirty="0"/>
              <a:t> </a:t>
            </a:r>
            <a:r>
              <a:rPr lang="en-US" sz="1800" dirty="0" err="1"/>
              <a:t>tên</a:t>
            </a:r>
            <a:r>
              <a:rPr lang="en-US" sz="1800" dirty="0"/>
              <a:t> </a:t>
            </a: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dài</a:t>
            </a:r>
            <a:r>
              <a:rPr lang="en-US" sz="1800" dirty="0"/>
              <a:t> </a:t>
            </a:r>
            <a:r>
              <a:rPr lang="en-US" sz="1800" dirty="0" err="1"/>
              <a:t>hơn</a:t>
            </a:r>
            <a:r>
              <a:rPr lang="en-US" sz="1800" dirty="0"/>
              <a:t> 50 </a:t>
            </a:r>
            <a:r>
              <a:rPr lang="en-US" sz="1800" dirty="0" err="1"/>
              <a:t>ký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sẽ</a:t>
            </a:r>
            <a:r>
              <a:rPr lang="en-US" sz="1800" dirty="0"/>
              <a:t> </a:t>
            </a:r>
            <a:r>
              <a:rPr lang="en-US" sz="1800" dirty="0" err="1"/>
              <a:t>yêu</a:t>
            </a:r>
            <a:r>
              <a:rPr lang="en-US" sz="1800" dirty="0"/>
              <a:t> </a:t>
            </a:r>
            <a:r>
              <a:rPr lang="en-US" sz="1800" dirty="0" err="1"/>
              <a:t>cầu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đến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đúng</a:t>
            </a:r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hiển</a:t>
            </a:r>
            <a:r>
              <a:rPr lang="en-US" sz="1800" dirty="0"/>
              <a:t> </a:t>
            </a:r>
            <a:r>
              <a:rPr lang="en-US" sz="1800" dirty="0" err="1"/>
              <a:t>thị</a:t>
            </a:r>
            <a:r>
              <a:rPr lang="en-US" sz="1800" dirty="0"/>
              <a:t> </a:t>
            </a:r>
            <a:r>
              <a:rPr lang="en-US" sz="1800" dirty="0" err="1"/>
              <a:t>câu</a:t>
            </a:r>
            <a:r>
              <a:rPr lang="en-US" sz="1800" dirty="0"/>
              <a:t> </a:t>
            </a:r>
            <a:r>
              <a:rPr lang="en-US" sz="1800" dirty="0" err="1"/>
              <a:t>Chào</a:t>
            </a:r>
            <a:r>
              <a:rPr lang="en-US" sz="1800" dirty="0"/>
              <a:t> </a:t>
            </a:r>
            <a:r>
              <a:rPr lang="en-US" sz="1800" dirty="0" err="1"/>
              <a:t>bạn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14</a:t>
            </a:fld>
            <a:endParaRPr lang="en-US" sz="728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" y="2851893"/>
            <a:ext cx="7362825" cy="24574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3392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SSD -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15</a:t>
            </a:fld>
            <a:endParaRPr lang="en-US" sz="728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6" y="913452"/>
            <a:ext cx="7096125" cy="23812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0057" y="2684343"/>
            <a:ext cx="74793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Xinchao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cho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biet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ten: 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ten =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ten.Length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50)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fr-F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fr-FR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fr-FR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fr-F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nTen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khong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duoc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dai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hon 50 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ky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tu. 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Vui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long </a:t>
            </a:r>
            <a:r>
              <a:rPr lang="fr-FR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nhap</a:t>
            </a:r>
            <a:r>
              <a:rPr lang="fr-FR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lai..."</a:t>
            </a:r>
            <a:r>
              <a:rPr lang="fr-F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nChao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ban {0}!"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ten.ToUpper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4628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SSD -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 smtClean="0"/>
              <a:pPr/>
              <a:t>16</a:t>
            </a:fld>
            <a:endParaRPr lang="en-US" sz="728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983"/>
            <a:ext cx="8444353" cy="351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5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728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72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94" y="1178496"/>
            <a:ext cx="5995852" cy="4386282"/>
          </a:xfrm>
          <a:prstGeom prst="rect">
            <a:avLst/>
          </a:prstGeom>
          <a:ln/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1471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SSD: Process Sale Scenario (1)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72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72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37" y="1183381"/>
            <a:ext cx="6557554" cy="4397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326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SSD: Process Sale </a:t>
            </a:r>
            <a:r>
              <a:rPr lang="en-US" dirty="0" smtClean="0"/>
              <a:t>Scenario (2)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72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72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1" y="966451"/>
            <a:ext cx="7798526" cy="465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598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 8: </a:t>
            </a:r>
            <a:r>
              <a:rPr lang="en-US" dirty="0" err="1" smtClean="0"/>
              <a:t>Vẽ</a:t>
            </a:r>
            <a:r>
              <a:rPr lang="en-US" dirty="0" smtClean="0"/>
              <a:t> SSD </a:t>
            </a:r>
            <a:r>
              <a:rPr lang="en-US" b="1" dirty="0" smtClean="0">
                <a:solidFill>
                  <a:srgbClr val="FF0000"/>
                </a:solidFill>
              </a:rPr>
              <a:t>SAI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20</a:t>
            </a:fld>
            <a:endParaRPr lang="en-US" sz="728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792480" y="1092614"/>
            <a:ext cx="96091" cy="19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7549" tIns="23774" rIns="47549" bIns="2377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937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009" y="1092614"/>
            <a:ext cx="5212114" cy="4546738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4797287" y="2782481"/>
            <a:ext cx="596348" cy="755850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y 7"/>
          <p:cNvSpPr/>
          <p:nvPr/>
        </p:nvSpPr>
        <p:spPr>
          <a:xfrm>
            <a:off x="2450640" y="708992"/>
            <a:ext cx="2372139" cy="5234609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6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/>
              <a:t> 9: </a:t>
            </a:r>
            <a:r>
              <a:rPr lang="en-US" dirty="0" err="1"/>
              <a:t>Vẽ</a:t>
            </a:r>
            <a:r>
              <a:rPr lang="en-US" dirty="0"/>
              <a:t> SSD </a:t>
            </a:r>
            <a:r>
              <a:rPr lang="en-US" b="1" dirty="0">
                <a:solidFill>
                  <a:srgbClr val="FF0000"/>
                </a:solidFill>
              </a:rPr>
              <a:t>SAI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21</a:t>
            </a:fld>
            <a:endParaRPr lang="en-US" sz="728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792480" y="1092614"/>
            <a:ext cx="96091" cy="19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7549" tIns="23774" rIns="47549" bIns="2377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937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4293"/>
            <a:ext cx="8426071" cy="3478282"/>
          </a:xfrm>
          <a:prstGeom prst="rect">
            <a:avLst/>
          </a:prstGeom>
        </p:spPr>
      </p:pic>
      <p:sp>
        <p:nvSpPr>
          <p:cNvPr id="6" name="Multiply 5"/>
          <p:cNvSpPr/>
          <p:nvPr/>
        </p:nvSpPr>
        <p:spPr>
          <a:xfrm>
            <a:off x="5245100" y="3283434"/>
            <a:ext cx="1868557" cy="1007165"/>
          </a:xfrm>
          <a:prstGeom prst="mathMultiply">
            <a:avLst>
              <a:gd name="adj1" fmla="val 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9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/>
              <a:t> 10: </a:t>
            </a:r>
            <a:r>
              <a:rPr lang="en-US" dirty="0" err="1"/>
              <a:t>Vẽ</a:t>
            </a:r>
            <a:r>
              <a:rPr lang="en-US" dirty="0"/>
              <a:t> SSD </a:t>
            </a:r>
            <a:r>
              <a:rPr lang="en-US" b="1" dirty="0">
                <a:solidFill>
                  <a:srgbClr val="FF0000"/>
                </a:solidFill>
              </a:rPr>
              <a:t>SAI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728"/>
              <a:pPr/>
              <a:t>22</a:t>
            </a:fld>
            <a:endParaRPr lang="en-US" sz="728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792480" y="1092614"/>
            <a:ext cx="96091" cy="19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7549" tIns="23774" rIns="47549" bIns="2377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937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628" y="1095375"/>
            <a:ext cx="4457493" cy="4561694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3675095" y="3074504"/>
            <a:ext cx="1868557" cy="1789043"/>
          </a:xfrm>
          <a:prstGeom prst="mathMultiply">
            <a:avLst>
              <a:gd name="adj1" fmla="val 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0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Tóm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Dựa vào đặc tả use case để vẽ SSD</a:t>
            </a:r>
          </a:p>
          <a:p>
            <a:r>
              <a:rPr lang="en-US" dirty="0" smtClean="0"/>
              <a:t>Một SSD bao gồm các thành phần sau, được liệt kê từ trái sang phải </a:t>
            </a:r>
          </a:p>
          <a:p>
            <a:pPr marL="537788" lvl="1" indent="-237750">
              <a:buFont typeface="+mj-lt"/>
              <a:buAutoNum type="arabicPeriod"/>
            </a:pPr>
            <a:r>
              <a:rPr lang="en-US" b="1" dirty="0" smtClean="0"/>
              <a:t> Use </a:t>
            </a:r>
            <a:r>
              <a:rPr lang="en-US" b="1" dirty="0"/>
              <a:t>case text </a:t>
            </a:r>
            <a:r>
              <a:rPr lang="en-US" dirty="0"/>
              <a:t>(đặc tả use </a:t>
            </a:r>
            <a:r>
              <a:rPr lang="en-US" dirty="0" smtClean="0"/>
              <a:t>case): không bắt buộc</a:t>
            </a:r>
            <a:endParaRPr lang="en-US" b="1" dirty="0" smtClean="0"/>
          </a:p>
          <a:p>
            <a:pPr marL="537788" lvl="1" indent="-237750">
              <a:buFont typeface="+mj-lt"/>
              <a:buAutoNum type="arabicPeriod"/>
            </a:pPr>
            <a:r>
              <a:rPr lang="en-US" b="1" dirty="0" smtClean="0"/>
              <a:t> Actor</a:t>
            </a:r>
            <a:r>
              <a:rPr lang="en-US" dirty="0" smtClean="0"/>
              <a:t>:  </a:t>
            </a:r>
            <a:r>
              <a:rPr lang="en-US" dirty="0"/>
              <a:t>tương tác trực tiếp với hệ thống (system)</a:t>
            </a:r>
          </a:p>
          <a:p>
            <a:pPr marL="537788" lvl="1" indent="-237750">
              <a:buFont typeface="+mj-lt"/>
              <a:buAutoNum type="arabicPeriod"/>
            </a:pPr>
            <a:r>
              <a:rPr lang="en-US" b="1" dirty="0" smtClean="0"/>
              <a:t> System</a:t>
            </a:r>
            <a:r>
              <a:rPr lang="en-US" dirty="0"/>
              <a:t>: được xem như một hộp đen (black box)</a:t>
            </a:r>
          </a:p>
          <a:p>
            <a:pPr marL="537788" lvl="1" indent="-237750">
              <a:buFont typeface="+mj-lt"/>
              <a:buAutoNum type="arabicPeriod"/>
            </a:pPr>
            <a:r>
              <a:rPr lang="en-US" b="1" dirty="0" smtClean="0"/>
              <a:t> System operation: </a:t>
            </a:r>
            <a:r>
              <a:rPr lang="en-US" dirty="0" smtClean="0"/>
              <a:t>phương thức được thực hiện để đáp ứng sự kiện mà actor tạo ra.</a:t>
            </a:r>
          </a:p>
          <a:p>
            <a:pPr marL="237750" indent="-237750"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32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72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1132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728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181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 Slides temp_NFP_En.pptx" id="{634F575B-5034-4544-8569-25C47EB1743F}" vid="{FD67F0E7-E8FA-45EF-B3A5-6D91208EA823}"/>
    </a:ext>
  </a:extLst>
</a:theme>
</file>

<file path=ppt/theme/theme2.xml><?xml version="1.0" encoding="utf-8"?>
<a:theme xmlns:a="http://schemas.openxmlformats.org/drawingml/2006/main" name="2_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 Slides temp_NFP_En.pptx" id="{634F575B-5034-4544-8569-25C47EB1743F}" vid="{FD67F0E7-E8FA-45EF-B3A5-6D91208EA82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Whisp</Template>
  <TotalTime>4965</TotalTime>
  <Words>947</Words>
  <Application>Microsoft Office PowerPoint</Application>
  <PresentationFormat>Custom</PresentationFormat>
  <Paragraphs>164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Consolas</vt:lpstr>
      <vt:lpstr>Myriad Pro</vt:lpstr>
      <vt:lpstr>HSU ppt template_Office2010</vt:lpstr>
      <vt:lpstr>2_HSU ppt template_Office2010</vt:lpstr>
      <vt:lpstr>PHÂN TÍCH VÀ THIẾT KẾ  HƯỚNG ĐỐI TƯỢNG</vt:lpstr>
      <vt:lpstr>Nội dung bài học</vt:lpstr>
      <vt:lpstr>Tổng quan</vt:lpstr>
      <vt:lpstr>SSD là gì?</vt:lpstr>
      <vt:lpstr>Events và Operations</vt:lpstr>
      <vt:lpstr>Định nghĩa</vt:lpstr>
      <vt:lpstr>Ví dụ 1</vt:lpstr>
      <vt:lpstr>Ví dụ 2</vt:lpstr>
      <vt:lpstr>Ví dụ 3</vt:lpstr>
      <vt:lpstr>Ví dụ 4</vt:lpstr>
      <vt:lpstr>Ví dụ 5</vt:lpstr>
      <vt:lpstr>Đặc tả chức năng Thêm Sinh Viên</vt:lpstr>
      <vt:lpstr>Vẽ SSD</vt:lpstr>
      <vt:lpstr>Ví dụ 6</vt:lpstr>
      <vt:lpstr>SSD - Hàm không có giá trị trả về</vt:lpstr>
      <vt:lpstr>SSD - Hàm có giá trị trả về</vt:lpstr>
      <vt:lpstr>Ví dụ 7</vt:lpstr>
      <vt:lpstr>SSD: Process Sale Scenario (1) </vt:lpstr>
      <vt:lpstr>SSD: Process Sale Scenario (2) </vt:lpstr>
      <vt:lpstr>Ví dụ 8: Vẽ SSD SAI</vt:lpstr>
      <vt:lpstr>Ví dụ 9: Vẽ SSD SAI</vt:lpstr>
      <vt:lpstr>Ví dụ 10: Vẽ SSD SAI</vt:lpstr>
      <vt:lpstr>Tóm lại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Thị Thanh</dc:creator>
  <cp:lastModifiedBy>Nguyen Thi Thanh</cp:lastModifiedBy>
  <cp:revision>360</cp:revision>
  <dcterms:created xsi:type="dcterms:W3CDTF">2012-08-17T11:15:49Z</dcterms:created>
  <dcterms:modified xsi:type="dcterms:W3CDTF">2017-10-08T11:01:30Z</dcterms:modified>
</cp:coreProperties>
</file>