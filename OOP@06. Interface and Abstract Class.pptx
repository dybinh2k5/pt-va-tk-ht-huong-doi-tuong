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2"/>
  </p:notesMasterIdLst>
  <p:handoutMasterIdLst>
    <p:handoutMasterId r:id="rId23"/>
  </p:handoutMasterIdLst>
  <p:sldIdLst>
    <p:sldId id="256" r:id="rId2"/>
    <p:sldId id="313" r:id="rId3"/>
    <p:sldId id="337" r:id="rId4"/>
    <p:sldId id="335" r:id="rId5"/>
    <p:sldId id="338" r:id="rId6"/>
    <p:sldId id="339" r:id="rId7"/>
    <p:sldId id="340" r:id="rId8"/>
    <p:sldId id="336" r:id="rId9"/>
    <p:sldId id="342" r:id="rId10"/>
    <p:sldId id="343" r:id="rId11"/>
    <p:sldId id="345" r:id="rId12"/>
    <p:sldId id="346" r:id="rId13"/>
    <p:sldId id="341" r:id="rId14"/>
    <p:sldId id="347" r:id="rId15"/>
    <p:sldId id="348" r:id="rId16"/>
    <p:sldId id="349" r:id="rId17"/>
    <p:sldId id="350" r:id="rId18"/>
    <p:sldId id="351" r:id="rId19"/>
    <p:sldId id="352" r:id="rId20"/>
    <p:sldId id="33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87818" autoAdjust="0"/>
  </p:normalViewPr>
  <p:slideViewPr>
    <p:cSldViewPr snapToGrid="0" snapToObjects="1">
      <p:cViewPr varScale="1">
        <p:scale>
          <a:sx n="61" d="100"/>
          <a:sy n="61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EFBAB-7A37-EE48-8088-91AC3A2C1DD8}" type="datetimeFigureOut">
              <a:rPr lang="en-US" smtClean="0"/>
              <a:t>10/11/2019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0CEA5-87CA-7E4B-8849-4C1234A31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379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38815-8547-C845-9F8D-99C41D175B6C}" type="datetimeFigureOut">
              <a:rPr lang="en-US" smtClean="0"/>
              <a:t>10/11/2019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C9BCA-D5E6-2B44-BFD6-282E38A33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212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Không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tạo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tượng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từ</a:t>
            </a:r>
            <a:r>
              <a:rPr lang="en-US" baseline="0" dirty="0" smtClean="0"/>
              <a:t> interface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46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Interface </a:t>
            </a:r>
            <a:r>
              <a:rPr lang="en-US" dirty="0" err="1" smtClean="0"/>
              <a:t>không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chứa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phương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thức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implementation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16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hàm</a:t>
            </a:r>
            <a:r>
              <a:rPr lang="en-US" baseline="0" dirty="0" smtClean="0"/>
              <a:t> implement </a:t>
            </a:r>
            <a:r>
              <a:rPr lang="en-US" baseline="0" dirty="0" err="1" smtClean="0"/>
              <a:t>trong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lớp</a:t>
            </a:r>
            <a:r>
              <a:rPr lang="en-US" baseline="0" dirty="0" smtClean="0"/>
              <a:t> con </a:t>
            </a:r>
            <a:r>
              <a:rPr lang="en-US" baseline="0" dirty="0" err="1" smtClean="0"/>
              <a:t>phải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khai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báo</a:t>
            </a:r>
            <a:r>
              <a:rPr lang="en-US" baseline="0" dirty="0" smtClean="0"/>
              <a:t> public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92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Không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tạo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tượng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từ</a:t>
            </a:r>
            <a:r>
              <a:rPr lang="en-US" baseline="0" dirty="0" smtClean="0"/>
              <a:t> Abstract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79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Không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tạo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tượng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từ</a:t>
            </a:r>
            <a:r>
              <a:rPr lang="en-US" baseline="0" dirty="0" smtClean="0"/>
              <a:t> Abstract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21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Không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tạo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tượng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từ</a:t>
            </a:r>
            <a:r>
              <a:rPr lang="en-US" baseline="0" dirty="0" smtClean="0"/>
              <a:t> Abstract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10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ppt (10x7.5)in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94165"/>
            <a:ext cx="7772400" cy="1470025"/>
          </a:xfrm>
          <a:ln>
            <a:noFill/>
          </a:ln>
        </p:spPr>
        <p:txBody>
          <a:bodyPr/>
          <a:lstStyle>
            <a:lvl1pPr>
              <a:defRPr b="1" i="0">
                <a:solidFill>
                  <a:srgbClr val="00449E"/>
                </a:solidFill>
                <a:latin typeface="Myriad Pro"/>
                <a:cs typeface="Myriad Pro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8000"/>
            <a:ext cx="6400800" cy="1752600"/>
          </a:xfrm>
          <a:ln>
            <a:noFill/>
          </a:ln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  <a:latin typeface="Myriad Pro"/>
                <a:cs typeface="Myriad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yriad Pro"/>
                <a:cs typeface="Myriad Pro"/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782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400" y="138223"/>
            <a:ext cx="6883400" cy="1127051"/>
          </a:xfrm>
        </p:spPr>
        <p:txBody>
          <a:bodyPr/>
          <a:lstStyle>
            <a:lvl1pPr>
              <a:defRPr b="1">
                <a:solidFill>
                  <a:srgbClr val="00449E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7926"/>
            <a:ext cx="8229600" cy="4648237"/>
          </a:xfrm>
        </p:spPr>
        <p:txBody>
          <a:bodyPr/>
          <a:lstStyle>
            <a:lvl1pPr>
              <a:defRPr>
                <a:latin typeface="Myriad Pro"/>
                <a:cs typeface="Myriad Pro"/>
              </a:defRPr>
            </a:lvl1pPr>
            <a:lvl2pPr>
              <a:defRPr>
                <a:latin typeface="Myriad Pro"/>
                <a:cs typeface="Myriad Pro"/>
              </a:defRPr>
            </a:lvl2pPr>
            <a:lvl3pPr>
              <a:defRPr>
                <a:latin typeface="Myriad Pro"/>
                <a:cs typeface="Myriad Pro"/>
              </a:defRPr>
            </a:lvl3pPr>
            <a:lvl4pPr>
              <a:defRPr>
                <a:latin typeface="Myriad Pro"/>
                <a:cs typeface="Myriad Pro"/>
              </a:defRPr>
            </a:lvl4pPr>
            <a:lvl5pPr>
              <a:defRPr>
                <a:latin typeface="Myriad Pro"/>
                <a:cs typeface="Myriad Pro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56130" y="6607175"/>
            <a:ext cx="464110" cy="250825"/>
          </a:xfr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180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BE1888ED-BA33-BE40-BF29-F50D5175FC1E}" type="datetime1">
              <a:rPr lang="en-US" smtClean="0"/>
              <a:t>10/11/2019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6200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F119C21-0AE2-BC4D-843C-BE82E03062E5}" type="datetime1">
              <a:rPr lang="en-US" smtClean="0"/>
              <a:t>10/11/2019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2843128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E150FC7B-5044-DE40-9EF1-4B21023D85EE}" type="datetime1">
              <a:rPr lang="en-US" smtClean="0"/>
              <a:t>10/11/2019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665456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F5AC67D2-079C-6745-A936-43BC6E106AD5}" type="datetime1">
              <a:rPr lang="en-US" smtClean="0"/>
              <a:t>10/11/2019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847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79DD40BE-C346-4746-AF7E-3493C08330BD}" type="datetime1">
              <a:rPr lang="en-US" smtClean="0"/>
              <a:t>10/11/2019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52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DD83A1EC-0728-0C41-ABCE-875DE802A9AF}" type="datetime1">
              <a:rPr lang="en-US" smtClean="0"/>
              <a:t>10/11/2019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676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D741E869-144A-2342-8662-45B9046CCDA7}" type="datetime1">
              <a:rPr lang="en-US" smtClean="0"/>
              <a:t>10/11/2019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i="0" dirty="0" err="1" smtClean="0"/>
              <a:t>Sống</a:t>
            </a:r>
            <a:r>
              <a:rPr lang="en-US" i="0" dirty="0" smtClean="0"/>
              <a:t> </a:t>
            </a:r>
            <a:r>
              <a:rPr lang="en-US" i="0" dirty="0" err="1" smtClean="0"/>
              <a:t>tử</a:t>
            </a:r>
            <a:r>
              <a:rPr lang="en-US" i="0" dirty="0" smtClean="0"/>
              <a:t> </a:t>
            </a:r>
            <a:r>
              <a:rPr lang="en-US" i="0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</p:spTree>
    <p:extLst>
      <p:ext uri="{BB962C8B-B14F-4D97-AF65-F5344CB8AC3E}">
        <p14:creationId xmlns:p14="http://schemas.microsoft.com/office/powerpoint/2010/main" val="2054222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773B61A7-E2FC-4841-8D50-D99D90597A6B}" type="datetime1">
              <a:rPr lang="en-US" smtClean="0"/>
              <a:t>10/11/2019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735206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16FE0F7-F64C-4E48-A724-F85AC4A61B60}" type="datetime1">
              <a:rPr lang="en-US" smtClean="0"/>
              <a:t>10/11/2019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580419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4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03400" y="274638"/>
            <a:ext cx="6883400" cy="1143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6910" y="6607175"/>
            <a:ext cx="464110" cy="2508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yriad Pro"/>
                <a:cs typeface="Myriad Pro"/>
              </a:defRPr>
            </a:lvl1pPr>
          </a:lstStyle>
          <a:p>
            <a:pPr algn="ctr"/>
            <a:fld id="{F0C94032-CD4C-4C25-B0C2-CEC720522D92}" type="slidenum">
              <a:rPr lang="en-US" smtClean="0"/>
              <a:pPr algn="ctr"/>
              <a:t>‹#›</a:t>
            </a:fld>
            <a:endParaRPr lang="en-US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04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5">
              <a:lumMod val="75000"/>
            </a:schemeClr>
          </a:solidFill>
          <a:latin typeface="Myriad Pro"/>
          <a:ea typeface="+mj-ea"/>
          <a:cs typeface="Myriad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yriad Pro"/>
          <a:ea typeface="+mn-ea"/>
          <a:cs typeface="Myriad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yriad Pro"/>
          <a:ea typeface="+mn-ea"/>
          <a:cs typeface="Myriad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yriad Pro"/>
          <a:ea typeface="+mn-ea"/>
          <a:cs typeface="Myriad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yriad Pro"/>
          <a:ea typeface="+mn-ea"/>
          <a:cs typeface="Myriad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yriad Pro"/>
          <a:ea typeface="+mn-ea"/>
          <a:cs typeface="Myriad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ava/IandI/abstract.html" TargetMode="External"/><Relationship Id="rId2" Type="http://schemas.openxmlformats.org/officeDocument/2006/relationships/hyperlink" Target="https://docs.oracle.com/javase/tutorial/java/IandI/createinterface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Object-Oriented Programming</a:t>
            </a:r>
            <a:r>
              <a:rPr lang="en-US" dirty="0"/>
              <a:t> Using </a:t>
            </a:r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8000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 </a:t>
            </a:r>
            <a:r>
              <a:rPr lang="en-US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Abstract Class</a:t>
            </a:r>
          </a:p>
        </p:txBody>
      </p:sp>
    </p:spTree>
    <p:extLst>
      <p:ext uri="{BB962C8B-B14F-4D97-AF65-F5344CB8AC3E}">
        <p14:creationId xmlns:p14="http://schemas.microsoft.com/office/powerpoint/2010/main" val="185215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Defining an </a:t>
            </a:r>
            <a:r>
              <a:rPr lang="en-US" dirty="0" smtClean="0"/>
              <a:t>Interface</a:t>
            </a:r>
          </a:p>
          <a:p>
            <a:r>
              <a:rPr lang="en-US" dirty="0"/>
              <a:t>Implementing an Interface</a:t>
            </a:r>
          </a:p>
          <a:p>
            <a:r>
              <a:rPr lang="en-US" dirty="0"/>
              <a:t>Abstract Methods and </a:t>
            </a:r>
            <a:r>
              <a:rPr lang="en-US" dirty="0" smtClean="0"/>
              <a:t>Classes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 smtClean="0"/>
              <a:t>References: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docs.oracle.com/javase/tutorial/java/IandI/createinterface.html</a:t>
            </a:r>
            <a:endParaRPr lang="en-US" dirty="0" smtClean="0"/>
          </a:p>
          <a:p>
            <a:pPr marL="0" indent="0">
              <a:spcBef>
                <a:spcPts val="1800"/>
              </a:spcBef>
              <a:buNone/>
            </a:pPr>
            <a:r>
              <a:rPr lang="en-US" dirty="0">
                <a:hlinkClick r:id="rId3"/>
              </a:rPr>
              <a:t>https://docs.oracle.com/javase/tutorial/java/IandI/abstract.html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2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24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I</a:t>
            </a:r>
            <a:r>
              <a:rPr lang="en-US" i="1" dirty="0" smtClean="0"/>
              <a:t>nterface</a:t>
            </a:r>
            <a:r>
              <a:rPr lang="en-US" dirty="0"/>
              <a:t> is a reference </a:t>
            </a:r>
            <a:r>
              <a:rPr lang="en-US" dirty="0" smtClean="0"/>
              <a:t>type (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khảo</a:t>
            </a:r>
            <a:r>
              <a:rPr lang="en-US" dirty="0" smtClean="0"/>
              <a:t>), </a:t>
            </a:r>
            <a:r>
              <a:rPr lang="en-US" dirty="0"/>
              <a:t>similar to a </a:t>
            </a:r>
            <a:r>
              <a:rPr lang="en-US" dirty="0" smtClean="0"/>
              <a:t>class</a:t>
            </a:r>
          </a:p>
          <a:p>
            <a:r>
              <a:rPr lang="en-US" i="1" dirty="0"/>
              <a:t>Interface </a:t>
            </a:r>
            <a:r>
              <a:rPr lang="en-US" dirty="0" smtClean="0"/>
              <a:t>can </a:t>
            </a:r>
            <a:r>
              <a:rPr lang="en-US" dirty="0"/>
              <a:t>contain </a:t>
            </a:r>
            <a:r>
              <a:rPr lang="en-US" i="1" dirty="0"/>
              <a:t>only</a:t>
            </a:r>
            <a:r>
              <a:rPr lang="en-US" dirty="0"/>
              <a:t> </a:t>
            </a:r>
            <a:endParaRPr lang="en-US" dirty="0" smtClean="0"/>
          </a:p>
          <a:p>
            <a:pPr lvl="1"/>
            <a:r>
              <a:rPr lang="en-US" dirty="0" smtClean="0"/>
              <a:t>constants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method signatures, </a:t>
            </a:r>
          </a:p>
          <a:p>
            <a:pPr lvl="1"/>
            <a:r>
              <a:rPr lang="en-US" dirty="0"/>
              <a:t>abstract methods, </a:t>
            </a:r>
          </a:p>
          <a:p>
            <a:pPr lvl="1"/>
            <a:r>
              <a:rPr lang="en-US" dirty="0" smtClean="0"/>
              <a:t>default methods,</a:t>
            </a:r>
          </a:p>
          <a:p>
            <a:pPr lvl="1"/>
            <a:r>
              <a:rPr lang="en-US" dirty="0"/>
              <a:t>static methods,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chemeClr val="tx2"/>
                </a:solidFill>
              </a:rPr>
              <a:t>and </a:t>
            </a:r>
            <a:r>
              <a:rPr lang="en-US" dirty="0">
                <a:solidFill>
                  <a:schemeClr val="tx2"/>
                </a:solidFill>
              </a:rPr>
              <a:t>nested types</a:t>
            </a:r>
            <a:endParaRPr lang="en-US" dirty="0" smtClean="0">
              <a:solidFill>
                <a:schemeClr val="tx2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3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81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Defining an </a:t>
            </a:r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4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66635" y="1237776"/>
            <a:ext cx="951017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public interface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InterfaceShape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//All constant values are implicitly public, static, and final. 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//you can omit these modifiers. 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double PI = 3.14;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public static final double E = 2.71;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double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calculateArea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method signatures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abstract double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calculatePerimeter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abstract methods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//Only default and static methods have implementations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static double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sqr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(double x){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static methods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return x*x;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//if you want to add new functionality to the interface, using default methods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default void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doSomething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(String s){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default methods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//do something here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//All methods in an interface are implicitly public, </a:t>
            </a:r>
          </a:p>
          <a:p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//you can omit the public modifier.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643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an </a:t>
            </a:r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5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89" y="1517523"/>
            <a:ext cx="6829477" cy="4268423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</p:spTree>
    <p:extLst>
      <p:ext uri="{BB962C8B-B14F-4D97-AF65-F5344CB8AC3E}">
        <p14:creationId xmlns:p14="http://schemas.microsoft.com/office/powerpoint/2010/main" val="3955883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an </a:t>
            </a:r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6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12" y="1502646"/>
            <a:ext cx="8011245" cy="451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52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an </a:t>
            </a:r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7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717" y="1687674"/>
            <a:ext cx="6727039" cy="3057745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</p:spTree>
    <p:extLst>
      <p:ext uri="{BB962C8B-B14F-4D97-AF65-F5344CB8AC3E}">
        <p14:creationId xmlns:p14="http://schemas.microsoft.com/office/powerpoint/2010/main" val="422638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abstract class is a class that is declared </a:t>
            </a:r>
            <a:r>
              <a:rPr lang="en-US" i="1" dirty="0" smtClean="0"/>
              <a:t>abstract</a:t>
            </a:r>
          </a:p>
          <a:p>
            <a:r>
              <a:rPr lang="en-US" dirty="0"/>
              <a:t>I</a:t>
            </a:r>
            <a:r>
              <a:rPr lang="en-US" dirty="0" smtClean="0"/>
              <a:t>t </a:t>
            </a:r>
            <a:r>
              <a:rPr lang="en-US" dirty="0"/>
              <a:t>may or may not include </a:t>
            </a:r>
            <a:r>
              <a:rPr lang="en-US" i="1" dirty="0"/>
              <a:t>abstract</a:t>
            </a:r>
            <a:r>
              <a:rPr lang="en-US" dirty="0"/>
              <a:t> methods. </a:t>
            </a:r>
            <a:endParaRPr lang="en-US" dirty="0" smtClean="0"/>
          </a:p>
          <a:p>
            <a:r>
              <a:rPr lang="en-US" dirty="0" smtClean="0"/>
              <a:t>Abstract </a:t>
            </a:r>
            <a:r>
              <a:rPr lang="en-US" dirty="0"/>
              <a:t>classes cannot be instantiated, but they can be </a:t>
            </a:r>
            <a:r>
              <a:rPr lang="en-US" dirty="0" err="1"/>
              <a:t>subclassed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8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63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9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7342" y="1201754"/>
            <a:ext cx="7808748" cy="5216813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abstract class </a:t>
            </a:r>
            <a:r>
              <a:rPr lang="en-US" dirty="0" err="1">
                <a:latin typeface="Consolas" panose="020B0609020204030204" pitchFamily="49" charset="0"/>
              </a:rPr>
              <a:t>GraphicObject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 smtClean="0">
                <a:latin typeface="Consolas" panose="020B0609020204030204" pitchFamily="49" charset="0"/>
              </a:rPr>
              <a:t>int</a:t>
            </a:r>
            <a:r>
              <a:rPr lang="en-US" dirty="0" smtClean="0">
                <a:latin typeface="Consolas" panose="020B0609020204030204" pitchFamily="49" charset="0"/>
              </a:rPr>
              <a:t> x, y;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// fields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void </a:t>
            </a:r>
            <a:r>
              <a:rPr lang="en-US" dirty="0" err="1" smtClean="0">
                <a:latin typeface="Consolas" panose="020B0609020204030204" pitchFamily="49" charset="0"/>
              </a:rPr>
              <a:t>moveTo</a:t>
            </a:r>
            <a:r>
              <a:rPr lang="en-US" dirty="0" smtClean="0">
                <a:latin typeface="Consolas" panose="020B0609020204030204" pitchFamily="49" charset="0"/>
              </a:rPr>
              <a:t>(</a:t>
            </a:r>
            <a:r>
              <a:rPr lang="en-US" dirty="0" err="1" smtClean="0">
                <a:latin typeface="Consolas" panose="020B0609020204030204" pitchFamily="49" charset="0"/>
              </a:rPr>
              <a:t>int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latin typeface="Consolas" panose="020B0609020204030204" pitchFamily="49" charset="0"/>
              </a:rPr>
              <a:t>newX</a:t>
            </a:r>
            <a:r>
              <a:rPr lang="en-US" dirty="0" smtClean="0">
                <a:latin typeface="Consolas" panose="020B0609020204030204" pitchFamily="49" charset="0"/>
              </a:rPr>
              <a:t>, </a:t>
            </a:r>
            <a:r>
              <a:rPr lang="en-US" dirty="0" err="1" smtClean="0">
                <a:latin typeface="Consolas" panose="020B0609020204030204" pitchFamily="49" charset="0"/>
              </a:rPr>
              <a:t>int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latin typeface="Consolas" panose="020B0609020204030204" pitchFamily="49" charset="0"/>
              </a:rPr>
              <a:t>newY</a:t>
            </a:r>
            <a:r>
              <a:rPr lang="en-US" dirty="0" smtClean="0">
                <a:latin typeface="Consolas" panose="020B0609020204030204" pitchFamily="49" charset="0"/>
              </a:rPr>
              <a:t>){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// non-abstract methods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smtClean="0">
                <a:latin typeface="Consolas" panose="020B0609020204030204" pitchFamily="49" charset="0"/>
              </a:rPr>
              <a:t>x = </a:t>
            </a:r>
            <a:r>
              <a:rPr lang="en-US" dirty="0" err="1" smtClean="0">
                <a:latin typeface="Consolas" panose="020B0609020204030204" pitchFamily="49" charset="0"/>
              </a:rPr>
              <a:t>newX</a:t>
            </a:r>
            <a:r>
              <a:rPr lang="en-US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	 </a:t>
            </a:r>
            <a:r>
              <a:rPr lang="en-US" dirty="0" smtClean="0">
                <a:latin typeface="Consolas" panose="020B0609020204030204" pitchFamily="49" charset="0"/>
              </a:rPr>
              <a:t>y </a:t>
            </a:r>
            <a:r>
              <a:rPr lang="en-US" dirty="0">
                <a:latin typeface="Consolas" panose="020B0609020204030204" pitchFamily="49" charset="0"/>
              </a:rPr>
              <a:t>= </a:t>
            </a:r>
            <a:r>
              <a:rPr lang="en-US" dirty="0" err="1" smtClean="0">
                <a:latin typeface="Consolas" panose="020B0609020204030204" pitchFamily="49" charset="0"/>
              </a:rPr>
              <a:t>newY</a:t>
            </a:r>
            <a:r>
              <a:rPr lang="en-US" dirty="0" smtClean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abstract void draw();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// abstract 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methods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smtClean="0">
                <a:latin typeface="Consolas" panose="020B0609020204030204" pitchFamily="49" charset="0"/>
              </a:rPr>
              <a:t>  abstract </a:t>
            </a:r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smtClean="0">
                <a:latin typeface="Consolas" panose="020B0609020204030204" pitchFamily="49" charset="0"/>
              </a:rPr>
              <a:t>resize();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 smtClean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// Implement all abstract methods</a:t>
            </a:r>
          </a:p>
          <a:p>
            <a:r>
              <a:rPr lang="en-US" dirty="0">
                <a:latin typeface="Consolas" panose="020B0609020204030204" pitchFamily="49" charset="0"/>
              </a:rPr>
              <a:t>class Rectangle extends </a:t>
            </a:r>
            <a:r>
              <a:rPr lang="en-US" dirty="0" err="1" smtClean="0">
                <a:latin typeface="Consolas" panose="020B0609020204030204" pitchFamily="49" charset="0"/>
              </a:rPr>
              <a:t>GraphicObject</a:t>
            </a:r>
            <a:r>
              <a:rPr lang="en-US" dirty="0" smtClean="0">
                <a:latin typeface="Consolas" panose="020B0609020204030204" pitchFamily="49" charset="0"/>
              </a:rPr>
              <a:t> { </a:t>
            </a:r>
          </a:p>
          <a:p>
            <a:pPr>
              <a:spcBef>
                <a:spcPts val="1200"/>
              </a:spcBef>
            </a:pPr>
            <a:r>
              <a:rPr lang="en-US" dirty="0" smtClean="0">
                <a:latin typeface="Consolas" panose="020B0609020204030204" pitchFamily="49" charset="0"/>
              </a:rPr>
              <a:t>    @Override</a:t>
            </a:r>
          </a:p>
          <a:p>
            <a:r>
              <a:rPr lang="en-US" dirty="0" smtClean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void draw() </a:t>
            </a:r>
            <a:r>
              <a:rPr lang="en-US" dirty="0" smtClean="0">
                <a:latin typeface="Consolas" panose="020B0609020204030204" pitchFamily="49" charset="0"/>
              </a:rPr>
              <a:t>{ </a:t>
            </a:r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//code here</a:t>
            </a:r>
            <a:r>
              <a:rPr lang="en-US" dirty="0" smtClean="0">
                <a:latin typeface="Consolas" panose="020B0609020204030204" pitchFamily="49" charset="0"/>
              </a:rPr>
              <a:t> }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smtClean="0">
                <a:latin typeface="Consolas" panose="020B0609020204030204" pitchFamily="49" charset="0"/>
              </a:rPr>
              <a:t>   void resize() </a:t>
            </a:r>
            <a:r>
              <a:rPr lang="en-US" dirty="0">
                <a:latin typeface="Consolas" panose="020B0609020204030204" pitchFamily="49" charset="0"/>
              </a:rPr>
              <a:t>{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//code here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smtClean="0"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0928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class includes </a:t>
            </a:r>
            <a:r>
              <a:rPr lang="en-US" i="1" dirty="0"/>
              <a:t>abstract</a:t>
            </a:r>
            <a:r>
              <a:rPr lang="en-US" dirty="0"/>
              <a:t> methods, then the class itself </a:t>
            </a:r>
            <a:r>
              <a:rPr lang="en-US" b="1" dirty="0"/>
              <a:t>must</a:t>
            </a:r>
            <a:r>
              <a:rPr lang="en-US" dirty="0"/>
              <a:t> be declared </a:t>
            </a:r>
            <a:r>
              <a:rPr lang="en-US" i="1" dirty="0"/>
              <a:t>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10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90" y="2880518"/>
            <a:ext cx="7646461" cy="2747771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</p:spTree>
    <p:extLst>
      <p:ext uri="{BB962C8B-B14F-4D97-AF65-F5344CB8AC3E}">
        <p14:creationId xmlns:p14="http://schemas.microsoft.com/office/powerpoint/2010/main" val="401752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9543"/>
            <a:ext cx="8229600" cy="4648237"/>
          </a:xfrm>
        </p:spPr>
        <p:txBody>
          <a:bodyPr/>
          <a:lstStyle/>
          <a:p>
            <a:r>
              <a:rPr lang="en-US" dirty="0" smtClean="0"/>
              <a:t>If </a:t>
            </a:r>
            <a:r>
              <a:rPr lang="en-US" dirty="0"/>
              <a:t>subclass </a:t>
            </a:r>
            <a:r>
              <a:rPr lang="en-US" dirty="0" smtClean="0"/>
              <a:t>does not implement </a:t>
            </a:r>
            <a:r>
              <a:rPr lang="en-US" dirty="0"/>
              <a:t>all </a:t>
            </a:r>
            <a:r>
              <a:rPr lang="en-US" i="1" dirty="0" smtClean="0"/>
              <a:t>abstract</a:t>
            </a:r>
            <a:r>
              <a:rPr lang="en-US" dirty="0" smtClean="0"/>
              <a:t> </a:t>
            </a:r>
            <a:r>
              <a:rPr lang="en-US" dirty="0"/>
              <a:t>methods </a:t>
            </a:r>
            <a:r>
              <a:rPr lang="en-US" dirty="0" smtClean="0"/>
              <a:t>of superclass </a:t>
            </a:r>
            <a:r>
              <a:rPr lang="en-US" dirty="0"/>
              <a:t>then the subclass must also be declared </a:t>
            </a:r>
            <a:r>
              <a:rPr lang="en-US" i="1" dirty="0"/>
              <a:t>abstract</a:t>
            </a:r>
            <a:r>
              <a:rPr lang="en-US" dirty="0" smtClean="0"/>
              <a:t>.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11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26" y="2631053"/>
            <a:ext cx="6796745" cy="3903874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</p:spTree>
    <p:extLst>
      <p:ext uri="{BB962C8B-B14F-4D97-AF65-F5344CB8AC3E}">
        <p14:creationId xmlns:p14="http://schemas.microsoft.com/office/powerpoint/2010/main" val="83783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Abstract Class Implements an </a:t>
            </a:r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12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4854" y="3674579"/>
            <a:ext cx="5785945" cy="2031325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abstract class X implements Y {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// implements all but one method of Y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class XX extends X {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// implements the remaining method in Y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Cloud Callout 5"/>
          <p:cNvSpPr/>
          <p:nvPr/>
        </p:nvSpPr>
        <p:spPr>
          <a:xfrm>
            <a:off x="5376041" y="1563409"/>
            <a:ext cx="2822028" cy="1813035"/>
          </a:xfrm>
          <a:prstGeom prst="cloud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class X must be abstract</a:t>
            </a:r>
          </a:p>
        </p:txBody>
      </p:sp>
    </p:spTree>
    <p:extLst>
      <p:ext uri="{BB962C8B-B14F-4D97-AF65-F5344CB8AC3E}">
        <p14:creationId xmlns:p14="http://schemas.microsoft.com/office/powerpoint/2010/main" val="217335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Abstract Classes Compared to </a:t>
            </a:r>
            <a:r>
              <a:rPr lang="en-US" dirty="0" smtClean="0"/>
              <a:t>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Can not </a:t>
            </a:r>
            <a:r>
              <a:rPr lang="en-US" b="1" dirty="0"/>
              <a:t>instantiate</a:t>
            </a:r>
            <a:r>
              <a:rPr lang="en-US" dirty="0"/>
              <a:t> </a:t>
            </a:r>
            <a:r>
              <a:rPr lang="en-US" dirty="0" smtClean="0"/>
              <a:t>abstract class and interface</a:t>
            </a:r>
          </a:p>
          <a:p>
            <a:r>
              <a:rPr lang="en-US" dirty="0"/>
              <a:t>With interfaces, </a:t>
            </a:r>
            <a:r>
              <a:rPr lang="en-US" dirty="0" smtClean="0"/>
              <a:t>all </a:t>
            </a:r>
            <a:r>
              <a:rPr lang="en-US" dirty="0"/>
              <a:t>fields are automatically </a:t>
            </a:r>
            <a:r>
              <a:rPr lang="en-US" i="1" dirty="0"/>
              <a:t>public</a:t>
            </a:r>
            <a:r>
              <a:rPr lang="en-US" dirty="0"/>
              <a:t>, </a:t>
            </a:r>
            <a:r>
              <a:rPr lang="en-US" i="1" dirty="0"/>
              <a:t>static</a:t>
            </a:r>
            <a:r>
              <a:rPr lang="en-US" dirty="0"/>
              <a:t>, and </a:t>
            </a:r>
            <a:r>
              <a:rPr lang="en-US" i="1" dirty="0" smtClean="0"/>
              <a:t>final</a:t>
            </a:r>
            <a:r>
              <a:rPr lang="en-US" dirty="0" smtClean="0"/>
              <a:t>, all </a:t>
            </a:r>
            <a:r>
              <a:rPr lang="en-US" dirty="0"/>
              <a:t>methods </a:t>
            </a:r>
            <a:r>
              <a:rPr lang="en-US" dirty="0" smtClean="0"/>
              <a:t>are </a:t>
            </a:r>
            <a:r>
              <a:rPr lang="en-US" i="1" dirty="0"/>
              <a:t>public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 class can </a:t>
            </a:r>
            <a:r>
              <a:rPr lang="en-US" dirty="0"/>
              <a:t>extend only one class</a:t>
            </a:r>
            <a:r>
              <a:rPr lang="en-US" dirty="0" smtClean="0"/>
              <a:t>, and </a:t>
            </a:r>
            <a:r>
              <a:rPr lang="en-US" b="1" dirty="0" smtClean="0"/>
              <a:t>implement</a:t>
            </a:r>
            <a:r>
              <a:rPr lang="en-US" dirty="0" smtClean="0"/>
              <a:t> </a:t>
            </a:r>
            <a:r>
              <a:rPr lang="en-US" b="1" dirty="0"/>
              <a:t>any number of interfaces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13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2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248400" y="1403124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a) </a:t>
            </a:r>
            <a:r>
              <a:rPr lang="en-US" sz="2000" dirty="0">
                <a:latin typeface="Consolas" panose="020B0609020204030204" pitchFamily="49" charset="0"/>
              </a:rPr>
              <a:t>Document1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8400" y="2104690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b) Compile-time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error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48400" y="2806256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c) </a:t>
            </a:r>
            <a:r>
              <a:rPr lang="en-US" sz="2000" dirty="0" smtClean="0">
                <a:solidFill>
                  <a:prstClr val="white"/>
                </a:solidFill>
                <a:latin typeface="Calibri"/>
              </a:rPr>
              <a:t>Run-time error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48400" y="3536724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d)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Nothing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010400" y="274638"/>
            <a:ext cx="16764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Arial" charset="0"/>
                <a:cs typeface="Arial" charset="0"/>
              </a:rPr>
              <a:t>Test 1</a:t>
            </a:r>
          </a:p>
        </p:txBody>
      </p:sp>
      <p:sp>
        <p:nvSpPr>
          <p:cNvPr id="2" name="Rectangle 1"/>
          <p:cNvSpPr/>
          <p:nvPr/>
        </p:nvSpPr>
        <p:spPr>
          <a:xfrm>
            <a:off x="268014" y="1237704"/>
            <a:ext cx="6589986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public interface Document {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String name = "Document1";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smtClean="0">
                <a:latin typeface="Consolas" panose="020B0609020204030204" pitchFamily="49" charset="0"/>
              </a:rPr>
              <a:t>String </a:t>
            </a:r>
            <a:r>
              <a:rPr lang="en-US" dirty="0" err="1">
                <a:latin typeface="Consolas" panose="020B0609020204030204" pitchFamily="49" charset="0"/>
              </a:rPr>
              <a:t>getExtension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200"/>
              </a:spcBef>
            </a:pPr>
            <a:endParaRPr lang="en-US" dirty="0"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public static void main(String[] </a:t>
            </a:r>
            <a:r>
              <a:rPr lang="en-US" dirty="0" err="1">
                <a:latin typeface="Consolas" panose="020B0609020204030204" pitchFamily="49" charset="0"/>
              </a:rPr>
              <a:t>args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    Document doc1 = new Document();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</a:rPr>
              <a:t>(doc1.name);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940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248400" y="1403124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a) </a:t>
            </a:r>
            <a:r>
              <a:rPr lang="en-US" sz="2000" dirty="0">
                <a:latin typeface="Consolas" panose="020B0609020204030204" pitchFamily="49" charset="0"/>
              </a:rPr>
              <a:t>Document1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8400" y="2104690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b) Compile-time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error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48400" y="2806256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c) </a:t>
            </a:r>
            <a:r>
              <a:rPr lang="en-US" sz="2000" dirty="0" smtClean="0">
                <a:solidFill>
                  <a:prstClr val="white"/>
                </a:solidFill>
                <a:latin typeface="Calibri"/>
              </a:rPr>
              <a:t>Run-time error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48400" y="3536724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d)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Nothing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010400" y="274638"/>
            <a:ext cx="16764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Arial" charset="0"/>
                <a:cs typeface="Arial" charset="0"/>
              </a:rPr>
              <a:t>Test </a:t>
            </a:r>
            <a:r>
              <a:rPr lang="en-US" b="1" dirty="0" smtClean="0">
                <a:latin typeface="Arial" charset="0"/>
                <a:cs typeface="Arial" charset="0"/>
              </a:rPr>
              <a:t>2</a:t>
            </a:r>
            <a:endParaRPr lang="en-US" b="1" dirty="0" smtClean="0">
              <a:latin typeface="Arial" charset="0"/>
              <a:cs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8014" y="1237704"/>
            <a:ext cx="6589986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public interface Document {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String name = "Document1";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void output(){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</a:rPr>
              <a:t>(name);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smtClean="0">
                <a:latin typeface="Consolas" panose="020B0609020204030204" pitchFamily="49" charset="0"/>
              </a:rPr>
              <a:t>String </a:t>
            </a:r>
            <a:r>
              <a:rPr lang="en-US" dirty="0" err="1">
                <a:latin typeface="Consolas" panose="020B0609020204030204" pitchFamily="49" charset="0"/>
              </a:rPr>
              <a:t>getExtension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200"/>
              </a:spcBef>
            </a:pPr>
            <a:endParaRPr lang="en-US" dirty="0"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public static void main(String[] </a:t>
            </a:r>
            <a:r>
              <a:rPr lang="en-US" dirty="0" err="1">
                <a:latin typeface="Consolas" panose="020B0609020204030204" pitchFamily="49" charset="0"/>
              </a:rPr>
              <a:t>args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    Document doc1 = new Document();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smtClean="0">
                <a:latin typeface="Consolas" panose="020B0609020204030204" pitchFamily="49" charset="0"/>
              </a:rPr>
              <a:t>doc1.output();</a:t>
            </a:r>
            <a:endParaRPr lang="en-US" dirty="0"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822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248400" y="1403124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a) </a:t>
            </a:r>
            <a:r>
              <a:rPr lang="en-US" sz="2000" dirty="0" smtClean="0">
                <a:latin typeface="Consolas" panose="020B0609020204030204" pitchFamily="49" charset="0"/>
              </a:rPr>
              <a:t>Document10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8400" y="2104690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b) Compile-time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error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48400" y="2806256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c) </a:t>
            </a:r>
            <a:r>
              <a:rPr lang="en-US" sz="2000" dirty="0" smtClean="0">
                <a:solidFill>
                  <a:prstClr val="white"/>
                </a:solidFill>
                <a:latin typeface="Calibri"/>
              </a:rPr>
              <a:t>Run-time error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48400" y="3536724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d) </a:t>
            </a:r>
            <a:r>
              <a:rPr lang="en-US" sz="2000" dirty="0" smtClean="0">
                <a:latin typeface="Consolas" panose="020B0609020204030204" pitchFamily="49" charset="0"/>
              </a:rPr>
              <a:t>Document10.0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010400" y="274638"/>
            <a:ext cx="16764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Arial" charset="0"/>
                <a:cs typeface="Arial" charset="0"/>
              </a:rPr>
              <a:t>Test </a:t>
            </a:r>
            <a:r>
              <a:rPr lang="en-US" b="1" dirty="0" smtClean="0">
                <a:latin typeface="Arial" charset="0"/>
                <a:cs typeface="Arial" charset="0"/>
              </a:rPr>
              <a:t>3</a:t>
            </a:r>
            <a:endParaRPr lang="en-US" b="1" dirty="0" smtClean="0">
              <a:latin typeface="Arial" charset="0"/>
              <a:cs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8014" y="251101"/>
            <a:ext cx="6589986" cy="6386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public interface Document {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String name = "Document1";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void output();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String </a:t>
            </a:r>
            <a:r>
              <a:rPr lang="en-US" dirty="0" err="1">
                <a:latin typeface="Consolas" panose="020B0609020204030204" pitchFamily="49" charset="0"/>
              </a:rPr>
              <a:t>getExtension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public static void main(String[] </a:t>
            </a:r>
            <a:r>
              <a:rPr lang="en-US" dirty="0" err="1">
                <a:latin typeface="Consolas" panose="020B0609020204030204" pitchFamily="49" charset="0"/>
              </a:rPr>
              <a:t>args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    Document doc1 = new Word();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    doc1.output();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US" dirty="0" smtClean="0"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class Word implements Document{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String name</a:t>
            </a:r>
            <a:r>
              <a:rPr lang="en-US" dirty="0" smtClean="0">
                <a:latin typeface="Consolas" panose="020B0609020204030204" pitchFamily="49" charset="0"/>
              </a:rPr>
              <a:t>; double </a:t>
            </a:r>
            <a:r>
              <a:rPr lang="en-US" dirty="0">
                <a:latin typeface="Consolas" panose="020B0609020204030204" pitchFamily="49" charset="0"/>
              </a:rPr>
              <a:t>size;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void output() {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</a:rPr>
              <a:t>(Document.name + size);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String </a:t>
            </a:r>
            <a:r>
              <a:rPr lang="en-US" dirty="0" err="1">
                <a:latin typeface="Consolas" panose="020B0609020204030204" pitchFamily="49" charset="0"/>
              </a:rPr>
              <a:t>getExtension</a:t>
            </a:r>
            <a:r>
              <a:rPr lang="en-US" dirty="0"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    return "</a:t>
            </a:r>
            <a:r>
              <a:rPr lang="en-US" dirty="0" err="1">
                <a:latin typeface="Consolas" panose="020B0609020204030204" pitchFamily="49" charset="0"/>
              </a:rPr>
              <a:t>docx</a:t>
            </a:r>
            <a:r>
              <a:rPr lang="en-US" dirty="0">
                <a:latin typeface="Consolas" panose="020B0609020204030204" pitchFamily="49" charset="0"/>
              </a:rPr>
              <a:t>";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538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248400" y="1403124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a)Test12.5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8400" y="2104690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b) Compile-time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error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48400" y="2806256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c) </a:t>
            </a:r>
            <a:r>
              <a:rPr lang="en-US" sz="2000" dirty="0" smtClean="0">
                <a:solidFill>
                  <a:prstClr val="white"/>
                </a:solidFill>
                <a:latin typeface="Calibri"/>
              </a:rPr>
              <a:t>Run-time error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48400" y="3536724"/>
            <a:ext cx="251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d) </a:t>
            </a:r>
            <a:r>
              <a:rPr lang="en-US" sz="2000" dirty="0" smtClean="0">
                <a:latin typeface="Consolas" panose="020B0609020204030204" pitchFamily="49" charset="0"/>
              </a:rPr>
              <a:t>null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010400" y="274638"/>
            <a:ext cx="16764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Arial" charset="0"/>
                <a:cs typeface="Arial" charset="0"/>
              </a:rPr>
              <a:t>Test </a:t>
            </a:r>
            <a:r>
              <a:rPr lang="en-US" b="1" dirty="0" smtClean="0">
                <a:latin typeface="Arial" charset="0"/>
                <a:cs typeface="Arial" charset="0"/>
              </a:rPr>
              <a:t>4</a:t>
            </a:r>
            <a:endParaRPr lang="en-US" b="1" dirty="0" smtClean="0">
              <a:latin typeface="Arial" charset="0"/>
              <a:cs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8014" y="251101"/>
            <a:ext cx="6589986" cy="5678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abstract class Document {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String name;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double size;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void input(){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    name = "Test";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    size = 12.5;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void output() {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</a:rPr>
              <a:t>(name + size);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public static void main(String[] </a:t>
            </a:r>
            <a:r>
              <a:rPr lang="en-US" dirty="0" err="1">
                <a:latin typeface="Consolas" panose="020B0609020204030204" pitchFamily="49" charset="0"/>
              </a:rPr>
              <a:t>args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    Document doc1 = new Document();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    doc1.input();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    doc1.output();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565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101255" y="1403124"/>
            <a:ext cx="2916621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white"/>
                </a:solidFill>
              </a:rPr>
              <a:t>a) Save null successfully!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01255" y="2104690"/>
            <a:ext cx="2916621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b) Compile-time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error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01255" y="2806256"/>
            <a:ext cx="2916621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c) </a:t>
            </a:r>
            <a:r>
              <a:rPr lang="en-US" sz="2000" dirty="0" smtClean="0">
                <a:solidFill>
                  <a:prstClr val="white"/>
                </a:solidFill>
                <a:latin typeface="Calibri"/>
              </a:rPr>
              <a:t>Run-time error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01255" y="3536724"/>
            <a:ext cx="2916621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d) </a:t>
            </a:r>
            <a:r>
              <a:rPr lang="en-US" dirty="0"/>
              <a:t>Save DWord1</a:t>
            </a:r>
            <a:r>
              <a:rPr lang="en-US" dirty="0" smtClean="0"/>
              <a:t> </a:t>
            </a:r>
            <a:r>
              <a:rPr lang="en-US" dirty="0"/>
              <a:t>successfully!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010400" y="274638"/>
            <a:ext cx="16764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Arial" charset="0"/>
                <a:cs typeface="Arial" charset="0"/>
              </a:rPr>
              <a:t>Test </a:t>
            </a:r>
            <a:r>
              <a:rPr lang="en-US" b="1" dirty="0" smtClean="0">
                <a:latin typeface="Arial" charset="0"/>
                <a:cs typeface="Arial" charset="0"/>
              </a:rPr>
              <a:t>5</a:t>
            </a:r>
            <a:endParaRPr lang="en-US" b="1" dirty="0" smtClean="0">
              <a:latin typeface="Arial" charset="0"/>
              <a:cs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8013" y="251101"/>
            <a:ext cx="793005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public interface Document {</a:t>
            </a:r>
          </a:p>
          <a:p>
            <a:r>
              <a:rPr lang="en-US" dirty="0">
                <a:latin typeface="Consolas" panose="020B0609020204030204" pitchFamily="49" charset="0"/>
              </a:rPr>
              <a:t>    void create();</a:t>
            </a:r>
          </a:p>
          <a:p>
            <a:r>
              <a:rPr lang="en-US" dirty="0">
                <a:latin typeface="Consolas" panose="020B0609020204030204" pitchFamily="49" charset="0"/>
              </a:rPr>
              <a:t>    void save();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public static void main(String[] </a:t>
            </a:r>
            <a:r>
              <a:rPr lang="en-US" dirty="0" err="1">
                <a:latin typeface="Consolas" panose="020B0609020204030204" pitchFamily="49" charset="0"/>
              </a:rPr>
              <a:t>args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Document doc1 = new Word();</a:t>
            </a:r>
          </a:p>
          <a:p>
            <a:r>
              <a:rPr lang="en-US" dirty="0">
                <a:latin typeface="Consolas" panose="020B0609020204030204" pitchFamily="49" charset="0"/>
              </a:rPr>
              <a:t>        doc1.save();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</a:rPr>
              <a:t>abstract class </a:t>
            </a:r>
            <a:r>
              <a:rPr lang="en-US" dirty="0" err="1">
                <a:latin typeface="Consolas" panose="020B0609020204030204" pitchFamily="49" charset="0"/>
              </a:rPr>
              <a:t>DWord</a:t>
            </a:r>
            <a:r>
              <a:rPr lang="en-US" dirty="0">
                <a:latin typeface="Consolas" panose="020B0609020204030204" pitchFamily="49" charset="0"/>
              </a:rPr>
              <a:t> implements Document{</a:t>
            </a:r>
          </a:p>
          <a:p>
            <a:r>
              <a:rPr lang="en-US" dirty="0">
                <a:latin typeface="Consolas" panose="020B0609020204030204" pitchFamily="49" charset="0"/>
              </a:rPr>
              <a:t>    String name;</a:t>
            </a:r>
          </a:p>
          <a:p>
            <a:r>
              <a:rPr lang="en-US" dirty="0">
                <a:latin typeface="Consolas" panose="020B0609020204030204" pitchFamily="49" charset="0"/>
              </a:rPr>
              <a:t>    double size;</a:t>
            </a:r>
          </a:p>
          <a:p>
            <a:r>
              <a:rPr lang="en-US" dirty="0">
                <a:latin typeface="Consolas" panose="020B0609020204030204" pitchFamily="49" charset="0"/>
              </a:rPr>
              <a:t>    public void create(){</a:t>
            </a:r>
          </a:p>
          <a:p>
            <a:r>
              <a:rPr lang="en-US" dirty="0">
                <a:latin typeface="Consolas" panose="020B0609020204030204" pitchFamily="49" charset="0"/>
              </a:rPr>
              <a:t>        name = "DWord1";</a:t>
            </a:r>
          </a:p>
          <a:p>
            <a:r>
              <a:rPr lang="en-US" dirty="0">
                <a:latin typeface="Consolas" panose="020B0609020204030204" pitchFamily="49" charset="0"/>
              </a:rPr>
              <a:t>        size=0;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</a:rPr>
              <a:t>class Word extends </a:t>
            </a:r>
            <a:r>
              <a:rPr lang="en-US" dirty="0" err="1">
                <a:latin typeface="Consolas" panose="020B0609020204030204" pitchFamily="49" charset="0"/>
              </a:rPr>
              <a:t>DWord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 public void save()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</a:rPr>
              <a:t>("Save "+ name +" successfully!");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489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101255" y="1403124"/>
            <a:ext cx="2916621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white"/>
                </a:solidFill>
              </a:rPr>
              <a:t>a) Save null successfully!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01255" y="2104690"/>
            <a:ext cx="2916621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b) Compile-time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error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01255" y="2806256"/>
            <a:ext cx="2916621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c) </a:t>
            </a:r>
            <a:r>
              <a:rPr lang="en-US" sz="2000" dirty="0" smtClean="0">
                <a:solidFill>
                  <a:prstClr val="white"/>
                </a:solidFill>
                <a:latin typeface="Calibri"/>
              </a:rPr>
              <a:t>Run-time error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01255" y="3536724"/>
            <a:ext cx="2916621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d) </a:t>
            </a:r>
            <a:r>
              <a:rPr lang="en-US" dirty="0"/>
              <a:t>Save DWord1</a:t>
            </a:r>
            <a:r>
              <a:rPr lang="en-US" dirty="0" smtClean="0"/>
              <a:t> </a:t>
            </a:r>
            <a:r>
              <a:rPr lang="en-US" dirty="0"/>
              <a:t>successfully!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010400" y="274638"/>
            <a:ext cx="16764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Arial" charset="0"/>
                <a:cs typeface="Arial" charset="0"/>
              </a:rPr>
              <a:t>Test </a:t>
            </a:r>
            <a:r>
              <a:rPr lang="en-US" b="1" dirty="0" smtClean="0">
                <a:latin typeface="Arial" charset="0"/>
                <a:cs typeface="Arial" charset="0"/>
              </a:rPr>
              <a:t>6</a:t>
            </a:r>
            <a:endParaRPr lang="en-US" b="1" dirty="0" smtClean="0">
              <a:latin typeface="Arial" charset="0"/>
              <a:cs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8013" y="251101"/>
            <a:ext cx="793005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public abstract class Document {</a:t>
            </a:r>
          </a:p>
          <a:p>
            <a:r>
              <a:rPr lang="en-US" dirty="0">
                <a:latin typeface="Consolas" panose="020B0609020204030204" pitchFamily="49" charset="0"/>
              </a:rPr>
              <a:t>    abstract protected void create();</a:t>
            </a:r>
          </a:p>
          <a:p>
            <a:r>
              <a:rPr lang="en-US" dirty="0">
                <a:latin typeface="Consolas" panose="020B0609020204030204" pitchFamily="49" charset="0"/>
              </a:rPr>
              <a:t>    abstract void save();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public static void main(String[] </a:t>
            </a:r>
            <a:r>
              <a:rPr lang="en-US" dirty="0" err="1">
                <a:latin typeface="Consolas" panose="020B0609020204030204" pitchFamily="49" charset="0"/>
              </a:rPr>
              <a:t>args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Document doc1 = new Word();</a:t>
            </a:r>
          </a:p>
          <a:p>
            <a:r>
              <a:rPr lang="en-US" dirty="0">
                <a:latin typeface="Consolas" panose="020B0609020204030204" pitchFamily="49" charset="0"/>
              </a:rPr>
              <a:t>        doc1.save();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</a:rPr>
              <a:t>abstract class </a:t>
            </a:r>
            <a:r>
              <a:rPr lang="en-US" dirty="0" err="1">
                <a:latin typeface="Consolas" panose="020B0609020204030204" pitchFamily="49" charset="0"/>
              </a:rPr>
              <a:t>DWord</a:t>
            </a:r>
            <a:r>
              <a:rPr lang="en-US" dirty="0">
                <a:latin typeface="Consolas" panose="020B0609020204030204" pitchFamily="49" charset="0"/>
              </a:rPr>
              <a:t> extends Document{</a:t>
            </a:r>
          </a:p>
          <a:p>
            <a:r>
              <a:rPr lang="en-US" dirty="0">
                <a:latin typeface="Consolas" panose="020B0609020204030204" pitchFamily="49" charset="0"/>
              </a:rPr>
              <a:t>    String name;</a:t>
            </a:r>
          </a:p>
          <a:p>
            <a:r>
              <a:rPr lang="en-US" dirty="0">
                <a:latin typeface="Consolas" panose="020B0609020204030204" pitchFamily="49" charset="0"/>
              </a:rPr>
              <a:t>    double size;</a:t>
            </a:r>
          </a:p>
          <a:p>
            <a:r>
              <a:rPr lang="en-US" dirty="0">
                <a:latin typeface="Consolas" panose="020B0609020204030204" pitchFamily="49" charset="0"/>
              </a:rPr>
              <a:t>    protected void create(){</a:t>
            </a:r>
          </a:p>
          <a:p>
            <a:r>
              <a:rPr lang="en-US" dirty="0">
                <a:latin typeface="Consolas" panose="020B0609020204030204" pitchFamily="49" charset="0"/>
              </a:rPr>
              <a:t>        name = "DWord1";</a:t>
            </a:r>
          </a:p>
          <a:p>
            <a:r>
              <a:rPr lang="en-US" dirty="0">
                <a:latin typeface="Consolas" panose="020B0609020204030204" pitchFamily="49" charset="0"/>
              </a:rPr>
              <a:t>        size=0;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</a:rPr>
              <a:t>class Word extends </a:t>
            </a:r>
            <a:r>
              <a:rPr lang="en-US" dirty="0" err="1">
                <a:latin typeface="Consolas" panose="020B0609020204030204" pitchFamily="49" charset="0"/>
              </a:rPr>
              <a:t>DWord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 void save()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</a:rPr>
              <a:t>("Save "+ name +" successfully!");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6734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Q&amp;A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20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628" y="1940808"/>
            <a:ext cx="2890500" cy="28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392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SU ppt template_Office2010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10461</TotalTime>
  <Words>899</Words>
  <Application>Microsoft Office PowerPoint</Application>
  <PresentationFormat>On-screen Show (4:3)</PresentationFormat>
  <Paragraphs>235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Consolas</vt:lpstr>
      <vt:lpstr>Courier New</vt:lpstr>
      <vt:lpstr>Myriad Pro</vt:lpstr>
      <vt:lpstr>HSU ppt template_Office2010</vt:lpstr>
      <vt:lpstr>Object-Oriented Programming Using Java</vt:lpstr>
      <vt:lpstr>Contents</vt:lpstr>
      <vt:lpstr>Interface</vt:lpstr>
      <vt:lpstr>Defining an Interface</vt:lpstr>
      <vt:lpstr>Implementing an Interface</vt:lpstr>
      <vt:lpstr>Implementing an Interface</vt:lpstr>
      <vt:lpstr>Implementing an Interface</vt:lpstr>
      <vt:lpstr>Abstract Classes</vt:lpstr>
      <vt:lpstr>Abstract Classes</vt:lpstr>
      <vt:lpstr>Abstract Classes</vt:lpstr>
      <vt:lpstr>Abstract Classes</vt:lpstr>
      <vt:lpstr>Abstract Class Implements an Interface</vt:lpstr>
      <vt:lpstr>Abstract Classes Compared to Interfaces</vt:lpstr>
      <vt:lpstr>Test 1</vt:lpstr>
      <vt:lpstr>Test 2</vt:lpstr>
      <vt:lpstr>Test 3</vt:lpstr>
      <vt:lpstr>Test 4</vt:lpstr>
      <vt:lpstr>Test 5</vt:lpstr>
      <vt:lpstr>Test 6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Thi Thanh</dc:creator>
  <cp:lastModifiedBy>Thanh Nguyen Thi 113 (FUG HCM)</cp:lastModifiedBy>
  <cp:revision>260</cp:revision>
  <dcterms:created xsi:type="dcterms:W3CDTF">2014-01-20T04:03:40Z</dcterms:created>
  <dcterms:modified xsi:type="dcterms:W3CDTF">2019-10-11T15:30:22Z</dcterms:modified>
</cp:coreProperties>
</file>