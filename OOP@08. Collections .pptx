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1"/>
  </p:sldMasterIdLst>
  <p:notesMasterIdLst>
    <p:notesMasterId r:id="rId23"/>
  </p:notesMasterIdLst>
  <p:handoutMasterIdLst>
    <p:handoutMasterId r:id="rId24"/>
  </p:handoutMasterIdLst>
  <p:sldIdLst>
    <p:sldId id="256" r:id="rId2"/>
    <p:sldId id="313" r:id="rId3"/>
    <p:sldId id="335" r:id="rId4"/>
    <p:sldId id="336" r:id="rId5"/>
    <p:sldId id="337" r:id="rId6"/>
    <p:sldId id="346" r:id="rId7"/>
    <p:sldId id="347" r:id="rId8"/>
    <p:sldId id="348" r:id="rId9"/>
    <p:sldId id="338" r:id="rId10"/>
    <p:sldId id="356" r:id="rId11"/>
    <p:sldId id="345" r:id="rId12"/>
    <p:sldId id="339" r:id="rId13"/>
    <p:sldId id="349" r:id="rId14"/>
    <p:sldId id="350" r:id="rId15"/>
    <p:sldId id="353" r:id="rId16"/>
    <p:sldId id="355" r:id="rId17"/>
    <p:sldId id="344" r:id="rId18"/>
    <p:sldId id="351" r:id="rId19"/>
    <p:sldId id="354" r:id="rId20"/>
    <p:sldId id="357" r:id="rId21"/>
    <p:sldId id="334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97" autoAdjust="0"/>
    <p:restoredTop sz="87818" autoAdjust="0"/>
  </p:normalViewPr>
  <p:slideViewPr>
    <p:cSldViewPr snapToGrid="0" snapToObjects="1">
      <p:cViewPr varScale="1">
        <p:scale>
          <a:sx n="61" d="100"/>
          <a:sy n="61" d="100"/>
        </p:scale>
        <p:origin x="1542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6EFBAB-7A37-EE48-8088-91AC3A2C1DD8}" type="datetimeFigureOut">
              <a:rPr lang="en-US" smtClean="0"/>
              <a:t>10/30/2019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20CEA5-87CA-7E4B-8849-4C1234A31F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43790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E38815-8547-C845-9F8D-99C41D175B6C}" type="datetimeFigureOut">
              <a:rPr lang="en-US" smtClean="0"/>
              <a:t>10/30/2019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3C9BCA-D5E6-2B44-BFD6-282E38A33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92129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frequency — counts the number of times the specified element occurs in the specified collection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disjoint — determines whether two Collections are disjoint; that is, whether they contain no elements in common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3C9BCA-D5E6-2B44-BFD6-282E38A3309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2365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3C9BCA-D5E6-2B44-BFD6-282E38A3309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8554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3C9BCA-D5E6-2B44-BFD6-282E38A3309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7278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3C9BCA-D5E6-2B44-BFD6-282E38A3309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7829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ppt (10x7.5)in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594165"/>
            <a:ext cx="7772400" cy="1470025"/>
          </a:xfrm>
          <a:ln>
            <a:noFill/>
          </a:ln>
        </p:spPr>
        <p:txBody>
          <a:bodyPr/>
          <a:lstStyle>
            <a:lvl1pPr>
              <a:defRPr b="1" i="0">
                <a:solidFill>
                  <a:srgbClr val="00449E"/>
                </a:solidFill>
                <a:latin typeface="Myriad Pro"/>
                <a:cs typeface="Myriad Pro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268000"/>
            <a:ext cx="6400800" cy="1752600"/>
          </a:xfrm>
          <a:ln>
            <a:noFill/>
          </a:ln>
        </p:spPr>
        <p:txBody>
          <a:bodyPr/>
          <a:lstStyle>
            <a:lvl1pPr marL="0" indent="0" algn="ctr">
              <a:buNone/>
              <a:defRPr>
                <a:solidFill>
                  <a:schemeClr val="accent6">
                    <a:lumMod val="40000"/>
                    <a:lumOff val="60000"/>
                  </a:schemeClr>
                </a:solidFill>
                <a:latin typeface="Myriad Pro"/>
                <a:cs typeface="Myriad Pro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yriad Pro"/>
                <a:cs typeface="Myriad Pro"/>
              </a:defRPr>
            </a:lvl1pPr>
          </a:lstStyle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778270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3400" y="138223"/>
            <a:ext cx="6883400" cy="1127051"/>
          </a:xfrm>
        </p:spPr>
        <p:txBody>
          <a:bodyPr/>
          <a:lstStyle>
            <a:lvl1pPr>
              <a:defRPr b="1">
                <a:solidFill>
                  <a:srgbClr val="00449E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77926"/>
            <a:ext cx="8229600" cy="4648237"/>
          </a:xfrm>
        </p:spPr>
        <p:txBody>
          <a:bodyPr/>
          <a:lstStyle>
            <a:lvl1pPr>
              <a:defRPr>
                <a:latin typeface="Myriad Pro"/>
                <a:cs typeface="Myriad Pro"/>
              </a:defRPr>
            </a:lvl1pPr>
            <a:lvl2pPr>
              <a:defRPr>
                <a:latin typeface="Myriad Pro"/>
                <a:cs typeface="Myriad Pro"/>
              </a:defRPr>
            </a:lvl2pPr>
            <a:lvl3pPr>
              <a:defRPr>
                <a:latin typeface="Myriad Pro"/>
                <a:cs typeface="Myriad Pro"/>
              </a:defRPr>
            </a:lvl3pPr>
            <a:lvl4pPr>
              <a:defRPr>
                <a:latin typeface="Myriad Pro"/>
                <a:cs typeface="Myriad Pro"/>
              </a:defRPr>
            </a:lvl4pPr>
            <a:lvl5pPr>
              <a:defRPr>
                <a:latin typeface="Myriad Pro"/>
                <a:cs typeface="Myriad Pro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56130" y="6607175"/>
            <a:ext cx="464110" cy="250825"/>
          </a:xfrm>
        </p:spPr>
        <p:txBody>
          <a:bodyPr/>
          <a:lstStyle/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818058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604000"/>
            <a:ext cx="1155700" cy="250825"/>
          </a:xfrm>
          <a:prstGeom prst="rect">
            <a:avLst/>
          </a:prstGeom>
        </p:spPr>
        <p:txBody>
          <a:bodyPr/>
          <a:lstStyle/>
          <a:p>
            <a:pPr eaLnBrk="1" latinLnBrk="0" hangingPunct="1"/>
            <a:fld id="{BE1888ED-BA33-BE40-BF29-F50D5175FC1E}" type="datetime1">
              <a:rPr lang="en-US" smtClean="0"/>
              <a:t>10/30/2019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03400" y="6604000"/>
            <a:ext cx="5232400" cy="254000"/>
          </a:xfrm>
          <a:prstGeom prst="rect">
            <a:avLst/>
          </a:prstGeom>
        </p:spPr>
        <p:txBody>
          <a:bodyPr/>
          <a:lstStyle/>
          <a:p>
            <a:r>
              <a:rPr lang="en-US" b="1" dirty="0" err="1" smtClean="0"/>
              <a:t>Sống</a:t>
            </a:r>
            <a:r>
              <a:rPr lang="en-US" b="1" dirty="0" smtClean="0"/>
              <a:t> </a:t>
            </a:r>
            <a:r>
              <a:rPr lang="en-US" b="1" dirty="0" err="1" smtClean="0"/>
              <a:t>tử</a:t>
            </a:r>
            <a:r>
              <a:rPr lang="en-US" b="1" dirty="0" smtClean="0"/>
              <a:t> </a:t>
            </a:r>
            <a:r>
              <a:rPr lang="en-US" b="1" dirty="0" err="1" smtClean="0"/>
              <a:t>tế</a:t>
            </a:r>
            <a:r>
              <a:rPr lang="en-US" dirty="0" smtClean="0"/>
              <a:t>, </a:t>
            </a:r>
            <a:r>
              <a:rPr lang="en-US" dirty="0" err="1" smtClean="0"/>
              <a:t>học</a:t>
            </a:r>
            <a:r>
              <a:rPr lang="en-US" dirty="0" smtClean="0"/>
              <a:t> </a:t>
            </a:r>
            <a:r>
              <a:rPr lang="en-US" dirty="0" err="1" smtClean="0"/>
              <a:t>đàng</a:t>
            </a:r>
            <a:r>
              <a:rPr lang="en-US" dirty="0" smtClean="0"/>
              <a:t> </a:t>
            </a:r>
            <a:r>
              <a:rPr lang="en-US" dirty="0" err="1" smtClean="0"/>
              <a:t>hoàng</a:t>
            </a:r>
            <a:r>
              <a:rPr lang="en-US" dirty="0" smtClean="0"/>
              <a:t>, </a:t>
            </a:r>
            <a:r>
              <a:rPr lang="en-US" dirty="0" err="1" smtClean="0"/>
              <a:t>kết</a:t>
            </a:r>
            <a:r>
              <a:rPr lang="en-US" dirty="0" smtClean="0"/>
              <a:t> </a:t>
            </a:r>
            <a:r>
              <a:rPr lang="en-US" dirty="0" err="1" smtClean="0"/>
              <a:t>nối</a:t>
            </a:r>
            <a:r>
              <a:rPr lang="en-US" dirty="0" smtClean="0"/>
              <a:t> </a:t>
            </a:r>
            <a:r>
              <a:rPr lang="en-US" dirty="0" err="1" smtClean="0"/>
              <a:t>năm</a:t>
            </a:r>
            <a:r>
              <a:rPr lang="en-US" dirty="0" smtClean="0"/>
              <a:t> </a:t>
            </a:r>
            <a:r>
              <a:rPr lang="en-US" dirty="0" err="1" smtClean="0"/>
              <a:t>châu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F0C94032-CD4C-4C25-B0C2-CEC720522D92}" type="slidenum">
              <a:rPr kumimoji="0" lang="en-US" smtClean="0"/>
              <a:pPr algn="ctr" eaLnBrk="1" latinLnBrk="0" hangingPunct="1"/>
              <a:t>‹#›</a:t>
            </a:fld>
            <a:endParaRPr kumimoji="0" lang="en-US" sz="24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962009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604000"/>
            <a:ext cx="1155700" cy="250825"/>
          </a:xfrm>
          <a:prstGeom prst="rect">
            <a:avLst/>
          </a:prstGeom>
        </p:spPr>
        <p:txBody>
          <a:bodyPr/>
          <a:lstStyle/>
          <a:p>
            <a:pPr eaLnBrk="1" latinLnBrk="0" hangingPunct="1"/>
            <a:fld id="{2F119C21-0AE2-BC4D-843C-BE82E03062E5}" type="datetime1">
              <a:rPr lang="en-US" smtClean="0"/>
              <a:t>10/30/2019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803400" y="6604000"/>
            <a:ext cx="5232400" cy="254000"/>
          </a:xfrm>
          <a:prstGeom prst="rect">
            <a:avLst/>
          </a:prstGeom>
        </p:spPr>
        <p:txBody>
          <a:bodyPr/>
          <a:lstStyle/>
          <a:p>
            <a:r>
              <a:rPr lang="en-US" b="1" dirty="0" err="1" smtClean="0"/>
              <a:t>Sống</a:t>
            </a:r>
            <a:r>
              <a:rPr lang="en-US" b="1" dirty="0" smtClean="0"/>
              <a:t> </a:t>
            </a:r>
            <a:r>
              <a:rPr lang="en-US" b="1" dirty="0" err="1" smtClean="0"/>
              <a:t>tử</a:t>
            </a:r>
            <a:r>
              <a:rPr lang="en-US" b="1" dirty="0" smtClean="0"/>
              <a:t> </a:t>
            </a:r>
            <a:r>
              <a:rPr lang="en-US" b="1" dirty="0" err="1" smtClean="0"/>
              <a:t>tế</a:t>
            </a:r>
            <a:r>
              <a:rPr lang="en-US" dirty="0" smtClean="0"/>
              <a:t>, </a:t>
            </a:r>
            <a:r>
              <a:rPr lang="en-US" dirty="0" err="1" smtClean="0"/>
              <a:t>học</a:t>
            </a:r>
            <a:r>
              <a:rPr lang="en-US" dirty="0" smtClean="0"/>
              <a:t> </a:t>
            </a:r>
            <a:r>
              <a:rPr lang="en-US" dirty="0" err="1" smtClean="0"/>
              <a:t>đàng</a:t>
            </a:r>
            <a:r>
              <a:rPr lang="en-US" dirty="0" smtClean="0"/>
              <a:t> </a:t>
            </a:r>
            <a:r>
              <a:rPr lang="en-US" dirty="0" err="1" smtClean="0"/>
              <a:t>hoàng</a:t>
            </a:r>
            <a:r>
              <a:rPr lang="en-US" dirty="0" smtClean="0"/>
              <a:t>, </a:t>
            </a:r>
            <a:r>
              <a:rPr lang="en-US" dirty="0" err="1" smtClean="0"/>
              <a:t>kết</a:t>
            </a:r>
            <a:r>
              <a:rPr lang="en-US" dirty="0" smtClean="0"/>
              <a:t> </a:t>
            </a:r>
            <a:r>
              <a:rPr lang="en-US" dirty="0" err="1" smtClean="0"/>
              <a:t>nối</a:t>
            </a:r>
            <a:r>
              <a:rPr lang="en-US" dirty="0" smtClean="0"/>
              <a:t> </a:t>
            </a:r>
            <a:r>
              <a:rPr lang="en-US" dirty="0" err="1" smtClean="0"/>
              <a:t>năm</a:t>
            </a:r>
            <a:r>
              <a:rPr lang="en-US" dirty="0" smtClean="0"/>
              <a:t> </a:t>
            </a:r>
            <a:r>
              <a:rPr lang="en-US" dirty="0" err="1" smtClean="0"/>
              <a:t>châu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F0C94032-CD4C-4C25-B0C2-CEC720522D92}" type="slidenum">
              <a:rPr kumimoji="0" lang="en-US" smtClean="0"/>
              <a:pPr algn="ctr" eaLnBrk="1" latinLnBrk="0" hangingPunct="1"/>
              <a:t>‹#›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428431288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604000"/>
            <a:ext cx="1155700" cy="250825"/>
          </a:xfrm>
          <a:prstGeom prst="rect">
            <a:avLst/>
          </a:prstGeom>
        </p:spPr>
        <p:txBody>
          <a:bodyPr/>
          <a:lstStyle/>
          <a:p>
            <a:pPr eaLnBrk="1" latinLnBrk="0" hangingPunct="1"/>
            <a:fld id="{E150FC7B-5044-DE40-9EF1-4B21023D85EE}" type="datetime1">
              <a:rPr lang="en-US" smtClean="0"/>
              <a:t>10/30/2019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803400" y="6604000"/>
            <a:ext cx="5232400" cy="254000"/>
          </a:xfrm>
          <a:prstGeom prst="rect">
            <a:avLst/>
          </a:prstGeom>
        </p:spPr>
        <p:txBody>
          <a:bodyPr/>
          <a:lstStyle/>
          <a:p>
            <a:r>
              <a:rPr lang="en-US" b="1" dirty="0" err="1" smtClean="0"/>
              <a:t>Sống</a:t>
            </a:r>
            <a:r>
              <a:rPr lang="en-US" b="1" dirty="0" smtClean="0"/>
              <a:t> </a:t>
            </a:r>
            <a:r>
              <a:rPr lang="en-US" b="1" dirty="0" err="1" smtClean="0"/>
              <a:t>tử</a:t>
            </a:r>
            <a:r>
              <a:rPr lang="en-US" b="1" dirty="0" smtClean="0"/>
              <a:t> </a:t>
            </a:r>
            <a:r>
              <a:rPr lang="en-US" b="1" dirty="0" err="1" smtClean="0"/>
              <a:t>tế</a:t>
            </a:r>
            <a:r>
              <a:rPr lang="en-US" dirty="0" smtClean="0"/>
              <a:t>, </a:t>
            </a:r>
            <a:r>
              <a:rPr lang="en-US" dirty="0" err="1" smtClean="0"/>
              <a:t>học</a:t>
            </a:r>
            <a:r>
              <a:rPr lang="en-US" dirty="0" smtClean="0"/>
              <a:t> </a:t>
            </a:r>
            <a:r>
              <a:rPr lang="en-US" dirty="0" err="1" smtClean="0"/>
              <a:t>đàng</a:t>
            </a:r>
            <a:r>
              <a:rPr lang="en-US" dirty="0" smtClean="0"/>
              <a:t> </a:t>
            </a:r>
            <a:r>
              <a:rPr lang="en-US" dirty="0" err="1" smtClean="0"/>
              <a:t>hoàng</a:t>
            </a:r>
            <a:r>
              <a:rPr lang="en-US" dirty="0" smtClean="0"/>
              <a:t>, </a:t>
            </a:r>
            <a:r>
              <a:rPr lang="en-US" dirty="0" err="1" smtClean="0"/>
              <a:t>kết</a:t>
            </a:r>
            <a:r>
              <a:rPr lang="en-US" dirty="0" smtClean="0"/>
              <a:t> </a:t>
            </a:r>
            <a:r>
              <a:rPr lang="en-US" dirty="0" err="1" smtClean="0"/>
              <a:t>nối</a:t>
            </a:r>
            <a:r>
              <a:rPr lang="en-US" dirty="0" smtClean="0"/>
              <a:t> </a:t>
            </a:r>
            <a:r>
              <a:rPr lang="en-US" dirty="0" err="1" smtClean="0"/>
              <a:t>năm</a:t>
            </a:r>
            <a:r>
              <a:rPr lang="en-US" dirty="0" smtClean="0"/>
              <a:t> </a:t>
            </a:r>
            <a:r>
              <a:rPr lang="en-US" dirty="0" err="1" smtClean="0"/>
              <a:t>châu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F0C94032-CD4C-4C25-B0C2-CEC720522D92}" type="slidenum">
              <a:rPr kumimoji="0" lang="en-US" smtClean="0"/>
              <a:pPr algn="ctr" eaLnBrk="1" latinLnBrk="0" hangingPunct="1"/>
              <a:t>‹#›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1665456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604000"/>
            <a:ext cx="1155700" cy="250825"/>
          </a:xfrm>
          <a:prstGeom prst="rect">
            <a:avLst/>
          </a:prstGeom>
        </p:spPr>
        <p:txBody>
          <a:bodyPr/>
          <a:lstStyle/>
          <a:p>
            <a:pPr eaLnBrk="1" latinLnBrk="0" hangingPunct="1"/>
            <a:fld id="{F5AC67D2-079C-6745-A936-43BC6E106AD5}" type="datetime1">
              <a:rPr lang="en-US" smtClean="0"/>
              <a:t>10/30/2019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803400" y="6604000"/>
            <a:ext cx="5232400" cy="254000"/>
          </a:xfrm>
          <a:prstGeom prst="rect">
            <a:avLst/>
          </a:prstGeom>
        </p:spPr>
        <p:txBody>
          <a:bodyPr/>
          <a:lstStyle/>
          <a:p>
            <a:r>
              <a:rPr lang="en-US" b="1" dirty="0" err="1" smtClean="0"/>
              <a:t>Sống</a:t>
            </a:r>
            <a:r>
              <a:rPr lang="en-US" b="1" dirty="0" smtClean="0"/>
              <a:t> </a:t>
            </a:r>
            <a:r>
              <a:rPr lang="en-US" b="1" dirty="0" err="1" smtClean="0"/>
              <a:t>tử</a:t>
            </a:r>
            <a:r>
              <a:rPr lang="en-US" b="1" dirty="0" smtClean="0"/>
              <a:t> </a:t>
            </a:r>
            <a:r>
              <a:rPr lang="en-US" b="1" dirty="0" err="1" smtClean="0"/>
              <a:t>tế</a:t>
            </a:r>
            <a:r>
              <a:rPr lang="en-US" dirty="0" smtClean="0"/>
              <a:t>, </a:t>
            </a:r>
            <a:r>
              <a:rPr lang="en-US" dirty="0" err="1" smtClean="0"/>
              <a:t>học</a:t>
            </a:r>
            <a:r>
              <a:rPr lang="en-US" dirty="0" smtClean="0"/>
              <a:t> </a:t>
            </a:r>
            <a:r>
              <a:rPr lang="en-US" dirty="0" err="1" smtClean="0"/>
              <a:t>đàng</a:t>
            </a:r>
            <a:r>
              <a:rPr lang="en-US" dirty="0" smtClean="0"/>
              <a:t> </a:t>
            </a:r>
            <a:r>
              <a:rPr lang="en-US" dirty="0" err="1" smtClean="0"/>
              <a:t>hoàng</a:t>
            </a:r>
            <a:r>
              <a:rPr lang="en-US" dirty="0" smtClean="0"/>
              <a:t>, </a:t>
            </a:r>
            <a:r>
              <a:rPr lang="en-US" dirty="0" err="1" smtClean="0"/>
              <a:t>kết</a:t>
            </a:r>
            <a:r>
              <a:rPr lang="en-US" dirty="0" smtClean="0"/>
              <a:t> </a:t>
            </a:r>
            <a:r>
              <a:rPr lang="en-US" dirty="0" err="1" smtClean="0"/>
              <a:t>nối</a:t>
            </a:r>
            <a:r>
              <a:rPr lang="en-US" dirty="0" smtClean="0"/>
              <a:t> </a:t>
            </a:r>
            <a:r>
              <a:rPr lang="en-US" dirty="0" err="1" smtClean="0"/>
              <a:t>năm</a:t>
            </a:r>
            <a:r>
              <a:rPr lang="en-US" dirty="0" smtClean="0"/>
              <a:t> </a:t>
            </a:r>
            <a:r>
              <a:rPr lang="en-US" dirty="0" err="1" smtClean="0"/>
              <a:t>châu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08477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604000"/>
            <a:ext cx="1155700" cy="250825"/>
          </a:xfrm>
          <a:prstGeom prst="rect">
            <a:avLst/>
          </a:prstGeom>
        </p:spPr>
        <p:txBody>
          <a:bodyPr/>
          <a:lstStyle/>
          <a:p>
            <a:pPr eaLnBrk="1" latinLnBrk="0" hangingPunct="1"/>
            <a:fld id="{79DD40BE-C346-4746-AF7E-3493C08330BD}" type="datetime1">
              <a:rPr lang="en-US" smtClean="0"/>
              <a:t>10/30/2019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803400" y="6604000"/>
            <a:ext cx="5232400" cy="254000"/>
          </a:xfrm>
          <a:prstGeom prst="rect">
            <a:avLst/>
          </a:prstGeom>
        </p:spPr>
        <p:txBody>
          <a:bodyPr/>
          <a:lstStyle/>
          <a:p>
            <a:r>
              <a:rPr lang="en-US" b="1" dirty="0" err="1" smtClean="0"/>
              <a:t>Sống</a:t>
            </a:r>
            <a:r>
              <a:rPr lang="en-US" b="1" dirty="0" smtClean="0"/>
              <a:t> </a:t>
            </a:r>
            <a:r>
              <a:rPr lang="en-US" b="1" dirty="0" err="1" smtClean="0"/>
              <a:t>tử</a:t>
            </a:r>
            <a:r>
              <a:rPr lang="en-US" b="1" dirty="0" smtClean="0"/>
              <a:t> </a:t>
            </a:r>
            <a:r>
              <a:rPr lang="en-US" b="1" dirty="0" err="1" smtClean="0"/>
              <a:t>tế</a:t>
            </a:r>
            <a:r>
              <a:rPr lang="en-US" dirty="0" smtClean="0"/>
              <a:t>, </a:t>
            </a:r>
            <a:r>
              <a:rPr lang="en-US" dirty="0" err="1" smtClean="0"/>
              <a:t>học</a:t>
            </a:r>
            <a:r>
              <a:rPr lang="en-US" dirty="0" smtClean="0"/>
              <a:t> </a:t>
            </a:r>
            <a:r>
              <a:rPr lang="en-US" dirty="0" err="1" smtClean="0"/>
              <a:t>đàng</a:t>
            </a:r>
            <a:r>
              <a:rPr lang="en-US" dirty="0" smtClean="0"/>
              <a:t> </a:t>
            </a:r>
            <a:r>
              <a:rPr lang="en-US" dirty="0" err="1" smtClean="0"/>
              <a:t>hoàng</a:t>
            </a:r>
            <a:r>
              <a:rPr lang="en-US" dirty="0" smtClean="0"/>
              <a:t>, </a:t>
            </a:r>
            <a:r>
              <a:rPr lang="en-US" dirty="0" err="1" smtClean="0"/>
              <a:t>kết</a:t>
            </a:r>
            <a:r>
              <a:rPr lang="en-US" dirty="0" smtClean="0"/>
              <a:t> </a:t>
            </a:r>
            <a:r>
              <a:rPr lang="en-US" dirty="0" err="1" smtClean="0"/>
              <a:t>nối</a:t>
            </a:r>
            <a:r>
              <a:rPr lang="en-US" dirty="0" smtClean="0"/>
              <a:t> </a:t>
            </a:r>
            <a:r>
              <a:rPr lang="en-US" dirty="0" err="1" smtClean="0"/>
              <a:t>năm</a:t>
            </a:r>
            <a:r>
              <a:rPr lang="en-US" dirty="0" smtClean="0"/>
              <a:t> </a:t>
            </a:r>
            <a:r>
              <a:rPr lang="en-US" dirty="0" err="1" smtClean="0"/>
              <a:t>châu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7527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604000"/>
            <a:ext cx="1155700" cy="250825"/>
          </a:xfrm>
          <a:prstGeom prst="rect">
            <a:avLst/>
          </a:prstGeom>
        </p:spPr>
        <p:txBody>
          <a:bodyPr/>
          <a:lstStyle/>
          <a:p>
            <a:pPr eaLnBrk="1" latinLnBrk="0" hangingPunct="1"/>
            <a:fld id="{DD83A1EC-0728-0C41-ABCE-875DE802A9AF}" type="datetime1">
              <a:rPr lang="en-US" smtClean="0"/>
              <a:t>10/30/2019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803400" y="6604000"/>
            <a:ext cx="5232400" cy="254000"/>
          </a:xfrm>
          <a:prstGeom prst="rect">
            <a:avLst/>
          </a:prstGeom>
        </p:spPr>
        <p:txBody>
          <a:bodyPr/>
          <a:lstStyle/>
          <a:p>
            <a:r>
              <a:rPr lang="en-US" b="1" dirty="0" err="1" smtClean="0"/>
              <a:t>Sống</a:t>
            </a:r>
            <a:r>
              <a:rPr lang="en-US" b="1" dirty="0" smtClean="0"/>
              <a:t> </a:t>
            </a:r>
            <a:r>
              <a:rPr lang="en-US" b="1" dirty="0" err="1" smtClean="0"/>
              <a:t>tử</a:t>
            </a:r>
            <a:r>
              <a:rPr lang="en-US" b="1" dirty="0" smtClean="0"/>
              <a:t> </a:t>
            </a:r>
            <a:r>
              <a:rPr lang="en-US" b="1" dirty="0" err="1" smtClean="0"/>
              <a:t>tế</a:t>
            </a:r>
            <a:r>
              <a:rPr lang="en-US" dirty="0" smtClean="0"/>
              <a:t>, </a:t>
            </a:r>
            <a:r>
              <a:rPr lang="en-US" dirty="0" err="1" smtClean="0"/>
              <a:t>học</a:t>
            </a:r>
            <a:r>
              <a:rPr lang="en-US" dirty="0" smtClean="0"/>
              <a:t> </a:t>
            </a:r>
            <a:r>
              <a:rPr lang="en-US" dirty="0" err="1" smtClean="0"/>
              <a:t>đàng</a:t>
            </a:r>
            <a:r>
              <a:rPr lang="en-US" dirty="0" smtClean="0"/>
              <a:t> </a:t>
            </a:r>
            <a:r>
              <a:rPr lang="en-US" dirty="0" err="1" smtClean="0"/>
              <a:t>hoàng</a:t>
            </a:r>
            <a:r>
              <a:rPr lang="en-US" dirty="0" smtClean="0"/>
              <a:t>, </a:t>
            </a:r>
            <a:r>
              <a:rPr lang="en-US" dirty="0" err="1" smtClean="0"/>
              <a:t>kết</a:t>
            </a:r>
            <a:r>
              <a:rPr lang="en-US" dirty="0" smtClean="0"/>
              <a:t> </a:t>
            </a:r>
            <a:r>
              <a:rPr lang="en-US" dirty="0" err="1" smtClean="0"/>
              <a:t>nối</a:t>
            </a:r>
            <a:r>
              <a:rPr lang="en-US" dirty="0" smtClean="0"/>
              <a:t> </a:t>
            </a:r>
            <a:r>
              <a:rPr lang="en-US" dirty="0" err="1" smtClean="0"/>
              <a:t>năm</a:t>
            </a:r>
            <a:r>
              <a:rPr lang="en-US" dirty="0" smtClean="0"/>
              <a:t> </a:t>
            </a:r>
            <a:r>
              <a:rPr lang="en-US" dirty="0" err="1" smtClean="0"/>
              <a:t>châu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06760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604000"/>
            <a:ext cx="1155700" cy="250825"/>
          </a:xfrm>
          <a:prstGeom prst="rect">
            <a:avLst/>
          </a:prstGeom>
        </p:spPr>
        <p:txBody>
          <a:bodyPr/>
          <a:lstStyle/>
          <a:p>
            <a:pPr eaLnBrk="1" latinLnBrk="0" hangingPunct="1"/>
            <a:fld id="{D741E869-144A-2342-8662-45B9046CCDA7}" type="datetime1">
              <a:rPr lang="en-US" smtClean="0"/>
              <a:t>10/30/2019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803400" y="6604000"/>
            <a:ext cx="5232400" cy="254000"/>
          </a:xfrm>
          <a:prstGeom prst="rect">
            <a:avLst/>
          </a:prstGeom>
        </p:spPr>
        <p:txBody>
          <a:bodyPr/>
          <a:lstStyle/>
          <a:p>
            <a:r>
              <a:rPr lang="en-US" i="0" dirty="0" err="1" smtClean="0"/>
              <a:t>Sống</a:t>
            </a:r>
            <a:r>
              <a:rPr lang="en-US" i="0" dirty="0" smtClean="0"/>
              <a:t> </a:t>
            </a:r>
            <a:r>
              <a:rPr lang="en-US" i="0" dirty="0" err="1" smtClean="0"/>
              <a:t>tử</a:t>
            </a:r>
            <a:r>
              <a:rPr lang="en-US" i="0" dirty="0" smtClean="0"/>
              <a:t> </a:t>
            </a:r>
            <a:r>
              <a:rPr lang="en-US" i="0" dirty="0" err="1" smtClean="0"/>
              <a:t>tế</a:t>
            </a:r>
            <a:r>
              <a:rPr lang="en-US" dirty="0" smtClean="0"/>
              <a:t>, </a:t>
            </a:r>
            <a:r>
              <a:rPr lang="en-US" dirty="0" err="1" smtClean="0"/>
              <a:t>học</a:t>
            </a:r>
            <a:r>
              <a:rPr lang="en-US" dirty="0" smtClean="0"/>
              <a:t> </a:t>
            </a:r>
            <a:r>
              <a:rPr lang="en-US" dirty="0" err="1" smtClean="0"/>
              <a:t>đàng</a:t>
            </a:r>
            <a:r>
              <a:rPr lang="en-US" dirty="0" smtClean="0"/>
              <a:t> </a:t>
            </a:r>
            <a:r>
              <a:rPr lang="en-US" dirty="0" err="1" smtClean="0"/>
              <a:t>hoàng</a:t>
            </a:r>
            <a:r>
              <a:rPr lang="en-US" dirty="0" smtClean="0"/>
              <a:t>, </a:t>
            </a:r>
            <a:r>
              <a:rPr lang="en-US" dirty="0" err="1" smtClean="0"/>
              <a:t>kết</a:t>
            </a:r>
            <a:r>
              <a:rPr lang="en-US" dirty="0" smtClean="0"/>
              <a:t> </a:t>
            </a:r>
            <a:r>
              <a:rPr lang="en-US" dirty="0" err="1" smtClean="0"/>
              <a:t>nối</a:t>
            </a:r>
            <a:r>
              <a:rPr lang="en-US" dirty="0" smtClean="0"/>
              <a:t> </a:t>
            </a:r>
            <a:r>
              <a:rPr lang="en-US" dirty="0" err="1" smtClean="0"/>
              <a:t>năm</a:t>
            </a:r>
            <a:r>
              <a:rPr lang="en-US" dirty="0" smtClean="0"/>
              <a:t> </a:t>
            </a:r>
            <a:r>
              <a:rPr lang="en-US" dirty="0" err="1" smtClean="0"/>
              <a:t>châu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F0C94032-CD4C-4C25-B0C2-CEC720522D92}" type="slidenum">
              <a:rPr kumimoji="0" lang="en-US" smtClean="0"/>
              <a:pPr algn="ctr" eaLnBrk="1" latinLnBrk="0" hangingPunct="1"/>
              <a:t>‹#›</a:t>
            </a:fld>
            <a:endParaRPr kumimoji="0" lang="en-US" sz="2800" dirty="0"/>
          </a:p>
        </p:txBody>
      </p:sp>
    </p:spTree>
    <p:extLst>
      <p:ext uri="{BB962C8B-B14F-4D97-AF65-F5344CB8AC3E}">
        <p14:creationId xmlns:p14="http://schemas.microsoft.com/office/powerpoint/2010/main" val="20542229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604000"/>
            <a:ext cx="1155700" cy="250825"/>
          </a:xfrm>
          <a:prstGeom prst="rect">
            <a:avLst/>
          </a:prstGeom>
        </p:spPr>
        <p:txBody>
          <a:bodyPr/>
          <a:lstStyle/>
          <a:p>
            <a:pPr eaLnBrk="1" latinLnBrk="0" hangingPunct="1"/>
            <a:fld id="{773B61A7-E2FC-4841-8D50-D99D90597A6B}" type="datetime1">
              <a:rPr lang="en-US" smtClean="0"/>
              <a:t>10/30/2019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03400" y="6604000"/>
            <a:ext cx="5232400" cy="254000"/>
          </a:xfrm>
          <a:prstGeom prst="rect">
            <a:avLst/>
          </a:prstGeom>
        </p:spPr>
        <p:txBody>
          <a:bodyPr/>
          <a:lstStyle/>
          <a:p>
            <a:r>
              <a:rPr lang="en-US" b="1" dirty="0" err="1" smtClean="0"/>
              <a:t>Sống</a:t>
            </a:r>
            <a:r>
              <a:rPr lang="en-US" b="1" dirty="0" smtClean="0"/>
              <a:t> </a:t>
            </a:r>
            <a:r>
              <a:rPr lang="en-US" b="1" dirty="0" err="1" smtClean="0"/>
              <a:t>tử</a:t>
            </a:r>
            <a:r>
              <a:rPr lang="en-US" b="1" dirty="0" smtClean="0"/>
              <a:t> </a:t>
            </a:r>
            <a:r>
              <a:rPr lang="en-US" b="1" dirty="0" err="1" smtClean="0"/>
              <a:t>tế</a:t>
            </a:r>
            <a:r>
              <a:rPr lang="en-US" dirty="0" smtClean="0"/>
              <a:t>, </a:t>
            </a:r>
            <a:r>
              <a:rPr lang="en-US" dirty="0" err="1" smtClean="0"/>
              <a:t>học</a:t>
            </a:r>
            <a:r>
              <a:rPr lang="en-US" dirty="0" smtClean="0"/>
              <a:t> </a:t>
            </a:r>
            <a:r>
              <a:rPr lang="en-US" dirty="0" err="1" smtClean="0"/>
              <a:t>đàng</a:t>
            </a:r>
            <a:r>
              <a:rPr lang="en-US" dirty="0" smtClean="0"/>
              <a:t> </a:t>
            </a:r>
            <a:r>
              <a:rPr lang="en-US" dirty="0" err="1" smtClean="0"/>
              <a:t>hoàng</a:t>
            </a:r>
            <a:r>
              <a:rPr lang="en-US" dirty="0" smtClean="0"/>
              <a:t>, </a:t>
            </a:r>
            <a:r>
              <a:rPr lang="en-US" dirty="0" err="1" smtClean="0"/>
              <a:t>kết</a:t>
            </a:r>
            <a:r>
              <a:rPr lang="en-US" dirty="0" smtClean="0"/>
              <a:t> </a:t>
            </a:r>
            <a:r>
              <a:rPr lang="en-US" dirty="0" err="1" smtClean="0"/>
              <a:t>nối</a:t>
            </a:r>
            <a:r>
              <a:rPr lang="en-US" dirty="0" smtClean="0"/>
              <a:t> </a:t>
            </a:r>
            <a:r>
              <a:rPr lang="en-US" dirty="0" err="1" smtClean="0"/>
              <a:t>năm</a:t>
            </a:r>
            <a:r>
              <a:rPr lang="en-US" dirty="0" smtClean="0"/>
              <a:t> </a:t>
            </a:r>
            <a:r>
              <a:rPr lang="en-US" dirty="0" err="1" smtClean="0"/>
              <a:t>châu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1735206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604000"/>
            <a:ext cx="1155700" cy="250825"/>
          </a:xfrm>
          <a:prstGeom prst="rect">
            <a:avLst/>
          </a:prstGeom>
        </p:spPr>
        <p:txBody>
          <a:bodyPr/>
          <a:lstStyle/>
          <a:p>
            <a:pPr eaLnBrk="1" latinLnBrk="0" hangingPunct="1"/>
            <a:fld id="{216FE0F7-F64C-4E48-A724-F85AC4A61B60}" type="datetime1">
              <a:rPr lang="en-US" smtClean="0"/>
              <a:t>10/30/2019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03400" y="6604000"/>
            <a:ext cx="5232400" cy="254000"/>
          </a:xfrm>
          <a:prstGeom prst="rect">
            <a:avLst/>
          </a:prstGeom>
        </p:spPr>
        <p:txBody>
          <a:bodyPr/>
          <a:lstStyle/>
          <a:p>
            <a:r>
              <a:rPr lang="en-US" b="1" dirty="0" err="1" smtClean="0"/>
              <a:t>Sống</a:t>
            </a:r>
            <a:r>
              <a:rPr lang="en-US" b="1" dirty="0" smtClean="0"/>
              <a:t> </a:t>
            </a:r>
            <a:r>
              <a:rPr lang="en-US" b="1" dirty="0" err="1" smtClean="0"/>
              <a:t>tử</a:t>
            </a:r>
            <a:r>
              <a:rPr lang="en-US" b="1" dirty="0" smtClean="0"/>
              <a:t> </a:t>
            </a:r>
            <a:r>
              <a:rPr lang="en-US" b="1" dirty="0" err="1" smtClean="0"/>
              <a:t>tế</a:t>
            </a:r>
            <a:r>
              <a:rPr lang="en-US" dirty="0" smtClean="0"/>
              <a:t>, </a:t>
            </a:r>
            <a:r>
              <a:rPr lang="en-US" dirty="0" err="1" smtClean="0"/>
              <a:t>học</a:t>
            </a:r>
            <a:r>
              <a:rPr lang="en-US" dirty="0" smtClean="0"/>
              <a:t> </a:t>
            </a:r>
            <a:r>
              <a:rPr lang="en-US" dirty="0" err="1" smtClean="0"/>
              <a:t>đàng</a:t>
            </a:r>
            <a:r>
              <a:rPr lang="en-US" dirty="0" smtClean="0"/>
              <a:t> </a:t>
            </a:r>
            <a:r>
              <a:rPr lang="en-US" dirty="0" err="1" smtClean="0"/>
              <a:t>hoàng</a:t>
            </a:r>
            <a:r>
              <a:rPr lang="en-US" dirty="0" smtClean="0"/>
              <a:t>, </a:t>
            </a:r>
            <a:r>
              <a:rPr lang="en-US" dirty="0" err="1" smtClean="0"/>
              <a:t>kết</a:t>
            </a:r>
            <a:r>
              <a:rPr lang="en-US" dirty="0" smtClean="0"/>
              <a:t> </a:t>
            </a:r>
            <a:r>
              <a:rPr lang="en-US" dirty="0" err="1" smtClean="0"/>
              <a:t>nối</a:t>
            </a:r>
            <a:r>
              <a:rPr lang="en-US" dirty="0" smtClean="0"/>
              <a:t> </a:t>
            </a:r>
            <a:r>
              <a:rPr lang="en-US" dirty="0" err="1" smtClean="0"/>
              <a:t>năm</a:t>
            </a:r>
            <a:r>
              <a:rPr lang="en-US" dirty="0" smtClean="0"/>
              <a:t> </a:t>
            </a:r>
            <a:r>
              <a:rPr lang="en-US" dirty="0" err="1" smtClean="0"/>
              <a:t>châu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8580419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48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03400" y="274638"/>
            <a:ext cx="6883400" cy="11430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-6910" y="6607175"/>
            <a:ext cx="464110" cy="2508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Myriad Pro"/>
                <a:cs typeface="Myriad Pro"/>
              </a:defRPr>
            </a:lvl1pPr>
          </a:lstStyle>
          <a:p>
            <a:pPr algn="ctr"/>
            <a:fld id="{F0C94032-CD4C-4C25-B0C2-CEC720522D92}" type="slidenum">
              <a:rPr lang="en-US" smtClean="0"/>
              <a:pPr algn="ctr"/>
              <a:t>‹#›</a:t>
            </a:fld>
            <a:endParaRPr lang="en-US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00448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iming>
    <p:tnLst>
      <p:par>
        <p:cTn id="1" dur="indefinite" restart="never" nodeType="tmRoot"/>
      </p:par>
    </p:tnLst>
  </p:timing>
  <p:hf hdr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accent5">
              <a:lumMod val="75000"/>
            </a:schemeClr>
          </a:solidFill>
          <a:latin typeface="Myriad Pro"/>
          <a:ea typeface="+mj-ea"/>
          <a:cs typeface="Myriad Pro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Myriad Pro"/>
          <a:ea typeface="+mn-ea"/>
          <a:cs typeface="Myriad Pro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Myriad Pro"/>
          <a:ea typeface="+mn-ea"/>
          <a:cs typeface="Myriad Pro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Myriad Pro"/>
          <a:ea typeface="+mn-ea"/>
          <a:cs typeface="Myriad Pro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Myriad Pro"/>
          <a:ea typeface="+mn-ea"/>
          <a:cs typeface="Myriad Pro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Myriad Pro"/>
          <a:ea typeface="+mn-ea"/>
          <a:cs typeface="Myriad Pro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oracle.com/javase/tutorial/collections/index.html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vi-VN" dirty="0"/>
              <a:t>Object-Oriented Programming</a:t>
            </a:r>
            <a:r>
              <a:rPr lang="en-US" dirty="0"/>
              <a:t> Using </a:t>
            </a:r>
            <a:r>
              <a:rPr lang="en-US" dirty="0" smtClean="0"/>
              <a:t>Java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268000"/>
            <a:ext cx="6400800" cy="1752600"/>
          </a:xfrm>
        </p:spPr>
        <p:txBody>
          <a:bodyPr>
            <a:norm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5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Collections</a:t>
            </a:r>
            <a:endParaRPr lang="en-US" sz="5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5215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Introduction to Collections</a:t>
            </a:r>
          </a:p>
          <a:p>
            <a:pPr lvl="0"/>
            <a:r>
              <a:rPr lang="en-US" dirty="0" err="1" smtClean="0"/>
              <a:t>TreeSet</a:t>
            </a:r>
            <a:endParaRPr lang="en-US" dirty="0" smtClean="0"/>
          </a:p>
          <a:p>
            <a:pPr lvl="0"/>
            <a:r>
              <a:rPr lang="en-US" dirty="0" err="1" smtClean="0"/>
              <a:t>ArrayList</a:t>
            </a:r>
            <a:endParaRPr lang="en-US" dirty="0" smtClean="0"/>
          </a:p>
          <a:p>
            <a:pPr lvl="0"/>
            <a:r>
              <a:rPr lang="en-US" dirty="0"/>
              <a:t>Sorting Algorithms</a:t>
            </a:r>
          </a:p>
          <a:p>
            <a:pPr marL="0" indent="0">
              <a:spcBef>
                <a:spcPts val="1800"/>
              </a:spcBef>
              <a:buNone/>
            </a:pPr>
            <a:r>
              <a:rPr lang="en-US" dirty="0" smtClean="0"/>
              <a:t>References: </a:t>
            </a:r>
            <a:r>
              <a:rPr lang="en-US" dirty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docs.oracle.com/javase/tutorial/collections/index.html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F0C94032-CD4C-4C25-B0C2-CEC720522D92}" type="slidenum">
              <a:rPr kumimoji="0" lang="en-US" smtClean="0"/>
              <a:pPr eaLnBrk="1" latinLnBrk="0" hangingPunct="1"/>
              <a:t>2</a:t>
            </a:fld>
            <a:endParaRPr kumimoji="0"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8247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A </a:t>
            </a:r>
            <a:r>
              <a:rPr lang="en-US" i="1" dirty="0"/>
              <a:t>collection</a:t>
            </a:r>
            <a:r>
              <a:rPr lang="en-US" dirty="0"/>
              <a:t> </a:t>
            </a:r>
            <a:r>
              <a:rPr lang="en-US" dirty="0" smtClean="0"/>
              <a:t>is </a:t>
            </a:r>
            <a:r>
              <a:rPr lang="en-US" dirty="0"/>
              <a:t>simply an object that groups multiple elements into a single unit</a:t>
            </a:r>
            <a:r>
              <a:rPr lang="en-US" dirty="0" smtClean="0"/>
              <a:t>.</a:t>
            </a:r>
          </a:p>
          <a:p>
            <a:pPr algn="just"/>
            <a:r>
              <a:rPr lang="en-US" dirty="0"/>
              <a:t>All collections frameworks contain the </a:t>
            </a:r>
            <a:r>
              <a:rPr lang="en-US" dirty="0" smtClean="0"/>
              <a:t>following</a:t>
            </a:r>
          </a:p>
          <a:p>
            <a:pPr lvl="1" algn="just"/>
            <a:r>
              <a:rPr lang="en-US" dirty="0" smtClean="0"/>
              <a:t>Interfaces</a:t>
            </a:r>
          </a:p>
          <a:p>
            <a:pPr lvl="1" algn="just"/>
            <a:r>
              <a:rPr lang="en-US" dirty="0" smtClean="0"/>
              <a:t>Implementations</a:t>
            </a:r>
          </a:p>
          <a:p>
            <a:pPr lvl="1" algn="just"/>
            <a:r>
              <a:rPr lang="en-US" dirty="0"/>
              <a:t>Algorithms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F0C94032-CD4C-4C25-B0C2-CEC720522D92}" type="slidenum">
              <a:rPr kumimoji="0" lang="en-US" smtClean="0"/>
              <a:pPr eaLnBrk="1" latinLnBrk="0" hangingPunct="1"/>
              <a:t>3</a:t>
            </a:fld>
            <a:endParaRPr kumimoji="0"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2741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1145" y="138223"/>
            <a:ext cx="7630510" cy="1127051"/>
          </a:xfrm>
        </p:spPr>
        <p:txBody>
          <a:bodyPr>
            <a:normAutofit fontScale="90000"/>
          </a:bodyPr>
          <a:lstStyle/>
          <a:p>
            <a:r>
              <a:rPr lang="en-US" dirty="0"/>
              <a:t>The core collection interfaces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F0C94032-CD4C-4C25-B0C2-CEC720522D92}" type="slidenum">
              <a:rPr kumimoji="0" lang="en-US" smtClean="0"/>
              <a:pPr eaLnBrk="1" latinLnBrk="0" hangingPunct="1"/>
              <a:t>4</a:t>
            </a:fld>
            <a:endParaRPr kumimoji="0" lang="en-US" dirty="0">
              <a:solidFill>
                <a:srgbClr val="FFFFFF"/>
              </a:solidFill>
            </a:endParaRPr>
          </a:p>
        </p:txBody>
      </p:sp>
      <p:pic>
        <p:nvPicPr>
          <p:cNvPr id="1026" name="Picture 2" descr="Two interface trees, one starting with Collection and including Set, SortedSet, List, and Queue, and the other starting with Map and including SortedMap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220" y="1265274"/>
            <a:ext cx="7542084" cy="2739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3721211"/>
              </p:ext>
            </p:extLst>
          </p:nvPr>
        </p:nvGraphicFramePr>
        <p:xfrm>
          <a:off x="78828" y="4271669"/>
          <a:ext cx="8994114" cy="207111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99019">
                  <a:extLst>
                    <a:ext uri="{9D8B030D-6E8A-4147-A177-3AD203B41FA5}">
                      <a16:colId xmlns:a16="http://schemas.microsoft.com/office/drawing/2014/main" val="3173673011"/>
                    </a:ext>
                  </a:extLst>
                </a:gridCol>
                <a:gridCol w="1499019">
                  <a:extLst>
                    <a:ext uri="{9D8B030D-6E8A-4147-A177-3AD203B41FA5}">
                      <a16:colId xmlns:a16="http://schemas.microsoft.com/office/drawing/2014/main" val="2272559660"/>
                    </a:ext>
                  </a:extLst>
                </a:gridCol>
                <a:gridCol w="1499019">
                  <a:extLst>
                    <a:ext uri="{9D8B030D-6E8A-4147-A177-3AD203B41FA5}">
                      <a16:colId xmlns:a16="http://schemas.microsoft.com/office/drawing/2014/main" val="521643898"/>
                    </a:ext>
                  </a:extLst>
                </a:gridCol>
                <a:gridCol w="1320418">
                  <a:extLst>
                    <a:ext uri="{9D8B030D-6E8A-4147-A177-3AD203B41FA5}">
                      <a16:colId xmlns:a16="http://schemas.microsoft.com/office/drawing/2014/main" val="449786373"/>
                    </a:ext>
                  </a:extLst>
                </a:gridCol>
                <a:gridCol w="1292773">
                  <a:extLst>
                    <a:ext uri="{9D8B030D-6E8A-4147-A177-3AD203B41FA5}">
                      <a16:colId xmlns:a16="http://schemas.microsoft.com/office/drawing/2014/main" val="1064557582"/>
                    </a:ext>
                  </a:extLst>
                </a:gridCol>
                <a:gridCol w="1883866">
                  <a:extLst>
                    <a:ext uri="{9D8B030D-6E8A-4147-A177-3AD203B41FA5}">
                      <a16:colId xmlns:a16="http://schemas.microsoft.com/office/drawing/2014/main" val="1577535926"/>
                    </a:ext>
                  </a:extLst>
                </a:gridCol>
              </a:tblGrid>
              <a:tr h="304997">
                <a:tc gridSpan="6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solidFill>
                            <a:schemeClr val="accent6"/>
                          </a:solidFill>
                          <a:effectLst/>
                        </a:rPr>
                        <a:t>Implementations</a:t>
                      </a:r>
                      <a:endParaRPr lang="en-US" sz="2000" b="1" dirty="0">
                        <a:solidFill>
                          <a:schemeClr val="accent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064754"/>
                  </a:ext>
                </a:extLst>
              </a:tr>
              <a:tr h="30499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chemeClr val="accent6"/>
                          </a:solidFill>
                          <a:effectLst/>
                        </a:rPr>
                        <a:t>Set</a:t>
                      </a:r>
                      <a:endParaRPr lang="en-US" sz="2000" b="1" dirty="0">
                        <a:solidFill>
                          <a:schemeClr val="accent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 err="1">
                          <a:effectLst/>
                        </a:rPr>
                        <a:t>HashSet</a:t>
                      </a:r>
                      <a:endParaRPr lang="en-US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</a:rPr>
                        <a:t> </a:t>
                      </a:r>
                      <a:endParaRPr lang="en-US" sz="2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 err="1">
                          <a:solidFill>
                            <a:srgbClr val="FF0000"/>
                          </a:solidFill>
                          <a:effectLst/>
                        </a:rPr>
                        <a:t>TreeSet</a:t>
                      </a:r>
                      <a:endParaRPr lang="en-US" sz="2000" b="1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 </a:t>
                      </a:r>
                      <a:endParaRPr lang="en-US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 err="1">
                          <a:effectLst/>
                        </a:rPr>
                        <a:t>LinkedHashSet</a:t>
                      </a:r>
                      <a:endParaRPr lang="en-US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8405828"/>
                  </a:ext>
                </a:extLst>
              </a:tr>
              <a:tr h="30499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chemeClr val="accent6"/>
                          </a:solidFill>
                          <a:effectLst/>
                        </a:rPr>
                        <a:t>List</a:t>
                      </a:r>
                      <a:endParaRPr lang="en-US" sz="2000" b="1" dirty="0">
                        <a:solidFill>
                          <a:schemeClr val="accent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</a:rPr>
                        <a:t> </a:t>
                      </a:r>
                      <a:endParaRPr lang="en-US" sz="2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 err="1">
                          <a:solidFill>
                            <a:srgbClr val="FF0000"/>
                          </a:solidFill>
                          <a:effectLst/>
                        </a:rPr>
                        <a:t>ArrayList</a:t>
                      </a:r>
                      <a:endParaRPr lang="en-US" sz="2000" b="1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</a:rPr>
                        <a:t> </a:t>
                      </a:r>
                      <a:endParaRPr lang="en-US" sz="2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</a:rPr>
                        <a:t>LinkedList</a:t>
                      </a:r>
                      <a:endParaRPr lang="en-US" sz="2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</a:rPr>
                        <a:t> </a:t>
                      </a:r>
                      <a:endParaRPr lang="en-US" sz="2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1566937"/>
                  </a:ext>
                </a:extLst>
              </a:tr>
              <a:tr h="30499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chemeClr val="accent6"/>
                          </a:solidFill>
                          <a:effectLst/>
                        </a:rPr>
                        <a:t>Queue</a:t>
                      </a:r>
                      <a:endParaRPr lang="en-US" sz="2000" b="1" dirty="0">
                        <a:solidFill>
                          <a:schemeClr val="accent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</a:rPr>
                        <a:t> </a:t>
                      </a:r>
                      <a:endParaRPr lang="en-US" sz="2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</a:rPr>
                        <a:t> </a:t>
                      </a:r>
                      <a:endParaRPr lang="en-US" sz="2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 </a:t>
                      </a:r>
                      <a:endParaRPr lang="en-US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</a:rPr>
                        <a:t> </a:t>
                      </a:r>
                      <a:endParaRPr lang="en-US" sz="2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</a:rPr>
                        <a:t> </a:t>
                      </a:r>
                      <a:endParaRPr lang="en-US" sz="2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2691428"/>
                  </a:ext>
                </a:extLst>
              </a:tr>
              <a:tr h="30499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 err="1">
                          <a:solidFill>
                            <a:schemeClr val="accent6"/>
                          </a:solidFill>
                          <a:effectLst/>
                        </a:rPr>
                        <a:t>Deque</a:t>
                      </a:r>
                      <a:endParaRPr lang="en-US" sz="2000" b="1" dirty="0">
                        <a:solidFill>
                          <a:schemeClr val="accent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</a:rPr>
                        <a:t> </a:t>
                      </a:r>
                      <a:endParaRPr lang="en-US" sz="2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</a:rPr>
                        <a:t>ArrayDeque</a:t>
                      </a:r>
                      <a:endParaRPr lang="en-US" sz="2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</a:rPr>
                        <a:t> </a:t>
                      </a:r>
                      <a:endParaRPr lang="en-US" sz="2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</a:rPr>
                        <a:t>LinkedList</a:t>
                      </a:r>
                      <a:endParaRPr lang="en-US" sz="2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</a:rPr>
                        <a:t> </a:t>
                      </a:r>
                      <a:endParaRPr lang="en-US" sz="2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1760639"/>
                  </a:ext>
                </a:extLst>
              </a:tr>
              <a:tr h="30499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chemeClr val="accent6"/>
                          </a:solidFill>
                          <a:effectLst/>
                        </a:rPr>
                        <a:t>Map</a:t>
                      </a:r>
                      <a:endParaRPr lang="en-US" sz="2000" b="1" dirty="0">
                        <a:solidFill>
                          <a:schemeClr val="accent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</a:rPr>
                        <a:t>HashMap</a:t>
                      </a:r>
                      <a:endParaRPr lang="en-US" sz="2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</a:rPr>
                        <a:t> </a:t>
                      </a:r>
                      <a:endParaRPr lang="en-US" sz="2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</a:rPr>
                        <a:t>TreeMap</a:t>
                      </a:r>
                      <a:endParaRPr lang="en-US" sz="2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</a:rPr>
                        <a:t> </a:t>
                      </a:r>
                      <a:endParaRPr lang="en-US" sz="2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 err="1">
                          <a:effectLst/>
                        </a:rPr>
                        <a:t>LinkedHashMap</a:t>
                      </a:r>
                      <a:endParaRPr lang="en-US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4142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7345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Set </a:t>
            </a:r>
            <a:r>
              <a:rPr lang="en-US" dirty="0" smtClean="0"/>
              <a:t>— </a:t>
            </a:r>
            <a:r>
              <a:rPr lang="en-US" b="1" dirty="0" smtClean="0"/>
              <a:t>cannot</a:t>
            </a:r>
            <a:r>
              <a:rPr lang="en-US" dirty="0" smtClean="0"/>
              <a:t> </a:t>
            </a:r>
            <a:r>
              <a:rPr lang="en-US" dirty="0"/>
              <a:t>contain duplicate </a:t>
            </a:r>
            <a:r>
              <a:rPr lang="en-US" dirty="0" smtClean="0"/>
              <a:t>elements.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 err="1"/>
              <a:t>TreeSet</a:t>
            </a:r>
            <a:r>
              <a:rPr lang="en-US" dirty="0"/>
              <a:t>: implementing the interface Set</a:t>
            </a:r>
          </a:p>
          <a:p>
            <a:pPr lvl="2"/>
            <a:r>
              <a:rPr lang="en-US" b="1" dirty="0"/>
              <a:t>sorted</a:t>
            </a:r>
            <a:r>
              <a:rPr lang="en-US" dirty="0"/>
              <a:t> according to the </a:t>
            </a:r>
            <a:r>
              <a:rPr lang="en-US" i="1" dirty="0"/>
              <a:t>natural ordering</a:t>
            </a:r>
            <a:r>
              <a:rPr lang="en-US" dirty="0"/>
              <a:t> of </a:t>
            </a:r>
            <a:r>
              <a:rPr lang="en-US" dirty="0" smtClean="0"/>
              <a:t>elements</a:t>
            </a:r>
          </a:p>
          <a:p>
            <a:r>
              <a:rPr lang="en-US" dirty="0"/>
              <a:t>List </a:t>
            </a:r>
            <a:r>
              <a:rPr lang="en-US" dirty="0" smtClean="0"/>
              <a:t>— </a:t>
            </a:r>
            <a:r>
              <a:rPr lang="en-US" b="1" dirty="0" smtClean="0"/>
              <a:t>can</a:t>
            </a:r>
            <a:r>
              <a:rPr lang="en-US" dirty="0" smtClean="0"/>
              <a:t> </a:t>
            </a:r>
            <a:r>
              <a:rPr lang="en-US" dirty="0"/>
              <a:t>contain duplicate elements</a:t>
            </a:r>
            <a:r>
              <a:rPr lang="en-US" dirty="0" smtClean="0"/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 err="1" smtClean="0"/>
              <a:t>ArrayList</a:t>
            </a:r>
            <a:r>
              <a:rPr lang="en-US" dirty="0" smtClean="0"/>
              <a:t>: </a:t>
            </a:r>
            <a:r>
              <a:rPr lang="en-US" dirty="0"/>
              <a:t>implementing the interface List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F0C94032-CD4C-4C25-B0C2-CEC720522D92}" type="slidenum">
              <a:rPr kumimoji="0" lang="en-US" smtClean="0"/>
              <a:pPr eaLnBrk="1" latinLnBrk="0" hangingPunct="1"/>
              <a:t>5</a:t>
            </a:fld>
            <a:endParaRPr kumimoji="0"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3996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Class </a:t>
            </a:r>
            <a:r>
              <a:rPr lang="en-US" dirty="0" err="1" smtClean="0"/>
              <a:t>java.util.ArrayList</a:t>
            </a:r>
            <a:r>
              <a:rPr lang="en-US" dirty="0" smtClean="0"/>
              <a:t>&lt;E&gt;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F0C94032-CD4C-4C25-B0C2-CEC720522D92}" type="slidenum">
              <a:rPr kumimoji="0" lang="en-US" smtClean="0"/>
              <a:pPr eaLnBrk="1" latinLnBrk="0" hangingPunct="1"/>
              <a:t>6</a:t>
            </a:fld>
            <a:endParaRPr kumimoji="0" lang="en-US" dirty="0">
              <a:solidFill>
                <a:srgbClr val="FFFFFF"/>
              </a:solidFill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/>
          </p:nvPr>
        </p:nvGraphicFramePr>
        <p:xfrm>
          <a:off x="126120" y="1467691"/>
          <a:ext cx="8907517" cy="478564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46195">
                  <a:extLst>
                    <a:ext uri="{9D8B030D-6E8A-4147-A177-3AD203B41FA5}">
                      <a16:colId xmlns:a16="http://schemas.microsoft.com/office/drawing/2014/main" val="1184133154"/>
                    </a:ext>
                  </a:extLst>
                </a:gridCol>
                <a:gridCol w="6761322">
                  <a:extLst>
                    <a:ext uri="{9D8B030D-6E8A-4147-A177-3AD203B41FA5}">
                      <a16:colId xmlns:a16="http://schemas.microsoft.com/office/drawing/2014/main" val="943012441"/>
                    </a:ext>
                  </a:extLst>
                </a:gridCol>
              </a:tblGrid>
              <a:tr h="19935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smtClean="0">
                          <a:effectLst/>
                        </a:rPr>
                        <a:t>Return </a:t>
                      </a:r>
                      <a:r>
                        <a:rPr lang="en-US" sz="2000" dirty="0">
                          <a:effectLst/>
                        </a:rPr>
                        <a:t>Type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25" marR="21268" marT="56714" marB="21268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Method and Description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25" marR="21268" marT="56714" marB="21268"/>
                </a:tc>
                <a:extLst>
                  <a:ext uri="{0D108BD9-81ED-4DB2-BD59-A6C34878D82A}">
                    <a16:rowId xmlns:a16="http://schemas.microsoft.com/office/drawing/2014/main" val="1253333407"/>
                  </a:ext>
                </a:extLst>
              </a:tr>
              <a:tr h="33281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boolean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0892" marR="0" marT="56714" marB="21268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u="sng" dirty="0">
                          <a:effectLst/>
                        </a:rPr>
                        <a:t>add</a:t>
                      </a:r>
                      <a:r>
                        <a:rPr lang="en-US" sz="2000" b="1" dirty="0">
                          <a:effectLst/>
                        </a:rPr>
                        <a:t>(</a:t>
                      </a:r>
                      <a:r>
                        <a:rPr lang="en-US" sz="2000" b="1" u="sng" dirty="0">
                          <a:effectLst/>
                        </a:rPr>
                        <a:t>E</a:t>
                      </a:r>
                      <a:r>
                        <a:rPr lang="en-US" sz="2000" b="1" dirty="0">
                          <a:effectLst/>
                        </a:rPr>
                        <a:t> e)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50"/>
                        </a:spcAft>
                      </a:pPr>
                      <a:r>
                        <a:rPr lang="en-US" sz="2000" dirty="0">
                          <a:effectLst/>
                        </a:rPr>
                        <a:t>Appends the specified element to the end of this list.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0892" marR="0" marT="56714" marB="21268"/>
                </a:tc>
                <a:extLst>
                  <a:ext uri="{0D108BD9-81ED-4DB2-BD59-A6C34878D82A}">
                    <a16:rowId xmlns:a16="http://schemas.microsoft.com/office/drawing/2014/main" val="1340830212"/>
                  </a:ext>
                </a:extLst>
              </a:tr>
              <a:tr h="33281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void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0892" marR="0" marT="56714" marB="21268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u="sng" dirty="0">
                          <a:effectLst/>
                        </a:rPr>
                        <a:t>add</a:t>
                      </a:r>
                      <a:r>
                        <a:rPr lang="en-US" sz="2000" b="1" dirty="0">
                          <a:effectLst/>
                        </a:rPr>
                        <a:t>(</a:t>
                      </a:r>
                      <a:r>
                        <a:rPr lang="en-US" sz="2000" b="1" dirty="0" err="1">
                          <a:effectLst/>
                        </a:rPr>
                        <a:t>int</a:t>
                      </a:r>
                      <a:r>
                        <a:rPr lang="en-US" sz="2000" b="1" dirty="0">
                          <a:effectLst/>
                        </a:rPr>
                        <a:t> index, </a:t>
                      </a:r>
                      <a:r>
                        <a:rPr lang="en-US" sz="2000" b="1" u="sng" dirty="0">
                          <a:effectLst/>
                        </a:rPr>
                        <a:t>E</a:t>
                      </a:r>
                      <a:r>
                        <a:rPr lang="en-US" sz="2000" b="1" dirty="0">
                          <a:effectLst/>
                        </a:rPr>
                        <a:t> element)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50"/>
                        </a:spcAft>
                      </a:pPr>
                      <a:r>
                        <a:rPr lang="en-US" sz="2000" dirty="0">
                          <a:effectLst/>
                        </a:rPr>
                        <a:t>Inserts the specified element at the specified position in this list.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0892" marR="0" marT="56714" marB="21268"/>
                </a:tc>
                <a:extLst>
                  <a:ext uri="{0D108BD9-81ED-4DB2-BD59-A6C34878D82A}">
                    <a16:rowId xmlns:a16="http://schemas.microsoft.com/office/drawing/2014/main" val="3718568477"/>
                  </a:ext>
                </a:extLst>
              </a:tr>
              <a:tr h="33281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void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0892" marR="0" marT="56714" marB="21268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u="sng" dirty="0">
                          <a:effectLst/>
                        </a:rPr>
                        <a:t>clear</a:t>
                      </a:r>
                      <a:r>
                        <a:rPr lang="en-US" sz="2000" b="1" dirty="0">
                          <a:effectLst/>
                        </a:rPr>
                        <a:t>()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50"/>
                        </a:spcAft>
                      </a:pPr>
                      <a:r>
                        <a:rPr lang="en-US" sz="2000" dirty="0">
                          <a:effectLst/>
                        </a:rPr>
                        <a:t>Removes all of the elements from this list.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0892" marR="0" marT="56714" marB="21268"/>
                </a:tc>
                <a:extLst>
                  <a:ext uri="{0D108BD9-81ED-4DB2-BD59-A6C34878D82A}">
                    <a16:rowId xmlns:a16="http://schemas.microsoft.com/office/drawing/2014/main" val="3201528006"/>
                  </a:ext>
                </a:extLst>
              </a:tr>
              <a:tr h="33281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u="none" dirty="0">
                          <a:effectLst/>
                        </a:rPr>
                        <a:t>Object</a:t>
                      </a:r>
                      <a:endParaRPr lang="en-US" sz="2000" u="none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0892" marR="0" marT="56714" marB="21268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u="sng" dirty="0">
                          <a:effectLst/>
                        </a:rPr>
                        <a:t>clone</a:t>
                      </a:r>
                      <a:r>
                        <a:rPr lang="en-US" sz="2000" b="1" dirty="0">
                          <a:effectLst/>
                        </a:rPr>
                        <a:t>()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50"/>
                        </a:spcAft>
                      </a:pPr>
                      <a:r>
                        <a:rPr lang="en-US" sz="2000" dirty="0">
                          <a:effectLst/>
                        </a:rPr>
                        <a:t>Returns a shallow copy of this </a:t>
                      </a:r>
                      <a:r>
                        <a:rPr lang="en-US" sz="2000" dirty="0" err="1">
                          <a:effectLst/>
                        </a:rPr>
                        <a:t>ArrayList</a:t>
                      </a:r>
                      <a:r>
                        <a:rPr lang="en-US" sz="2000" dirty="0">
                          <a:effectLst/>
                        </a:rPr>
                        <a:t> instance.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0892" marR="0" marT="56714" marB="21268"/>
                </a:tc>
                <a:extLst>
                  <a:ext uri="{0D108BD9-81ED-4DB2-BD59-A6C34878D82A}">
                    <a16:rowId xmlns:a16="http://schemas.microsoft.com/office/drawing/2014/main" val="2015767537"/>
                  </a:ext>
                </a:extLst>
              </a:tr>
              <a:tr h="33281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boolean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0892" marR="0" marT="56714" marB="21268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u="sng" dirty="0">
                          <a:effectLst/>
                        </a:rPr>
                        <a:t>contains</a:t>
                      </a:r>
                      <a:r>
                        <a:rPr lang="en-US" sz="2000" b="1" dirty="0">
                          <a:effectLst/>
                        </a:rPr>
                        <a:t>(</a:t>
                      </a:r>
                      <a:r>
                        <a:rPr lang="en-US" sz="2000" b="1" u="sng" dirty="0">
                          <a:effectLst/>
                        </a:rPr>
                        <a:t>Object</a:t>
                      </a:r>
                      <a:r>
                        <a:rPr lang="en-US" sz="2000" b="1" dirty="0">
                          <a:effectLst/>
                        </a:rPr>
                        <a:t> o)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50"/>
                        </a:spcAft>
                      </a:pPr>
                      <a:r>
                        <a:rPr lang="en-US" sz="2000" dirty="0">
                          <a:effectLst/>
                        </a:rPr>
                        <a:t>Returns true if this list contains the specified element.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0892" marR="0" marT="56714" marB="21268"/>
                </a:tc>
                <a:extLst>
                  <a:ext uri="{0D108BD9-81ED-4DB2-BD59-A6C34878D82A}">
                    <a16:rowId xmlns:a16="http://schemas.microsoft.com/office/drawing/2014/main" val="3762876134"/>
                  </a:ext>
                </a:extLst>
              </a:tr>
              <a:tr h="33281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u="none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</a:p>
                  </a:txBody>
                  <a:tcPr marL="70892" marR="0" marT="56714" marB="21268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u="sng" dirty="0">
                          <a:effectLst/>
                        </a:rPr>
                        <a:t>get</a:t>
                      </a:r>
                      <a:r>
                        <a:rPr lang="en-US" sz="2000" b="1" dirty="0">
                          <a:effectLst/>
                        </a:rPr>
                        <a:t>(</a:t>
                      </a:r>
                      <a:r>
                        <a:rPr lang="en-US" sz="2000" b="1" dirty="0" err="1">
                          <a:effectLst/>
                        </a:rPr>
                        <a:t>int</a:t>
                      </a:r>
                      <a:r>
                        <a:rPr lang="en-US" sz="2000" b="1" dirty="0">
                          <a:effectLst/>
                        </a:rPr>
                        <a:t> index)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50"/>
                        </a:spcAft>
                      </a:pPr>
                      <a:r>
                        <a:rPr lang="en-US" sz="2000" dirty="0">
                          <a:effectLst/>
                        </a:rPr>
                        <a:t>Returns the element at the specified position in this list.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0892" marR="0" marT="56714" marB="21268"/>
                </a:tc>
                <a:extLst>
                  <a:ext uri="{0D108BD9-81ED-4DB2-BD59-A6C34878D82A}">
                    <a16:rowId xmlns:a16="http://schemas.microsoft.com/office/drawing/2014/main" val="1163801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4825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F0C94032-CD4C-4C25-B0C2-CEC720522D92}" type="slidenum">
              <a:rPr kumimoji="0" lang="en-US" smtClean="0"/>
              <a:pPr eaLnBrk="1" latinLnBrk="0" hangingPunct="1"/>
              <a:t>7</a:t>
            </a:fld>
            <a:endParaRPr kumimoji="0" lang="en-US" dirty="0">
              <a:solidFill>
                <a:srgbClr val="FFFFFF"/>
              </a:solidFill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/>
          </p:nvPr>
        </p:nvGraphicFramePr>
        <p:xfrm>
          <a:off x="110356" y="213963"/>
          <a:ext cx="8915288" cy="649430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39616">
                  <a:extLst>
                    <a:ext uri="{9D8B030D-6E8A-4147-A177-3AD203B41FA5}">
                      <a16:colId xmlns:a16="http://schemas.microsoft.com/office/drawing/2014/main" val="1184133154"/>
                    </a:ext>
                  </a:extLst>
                </a:gridCol>
                <a:gridCol w="7275672">
                  <a:extLst>
                    <a:ext uri="{9D8B030D-6E8A-4147-A177-3AD203B41FA5}">
                      <a16:colId xmlns:a16="http://schemas.microsoft.com/office/drawing/2014/main" val="943012441"/>
                    </a:ext>
                  </a:extLst>
                </a:gridCol>
              </a:tblGrid>
              <a:tr h="19935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smtClean="0">
                          <a:effectLst/>
                        </a:rPr>
                        <a:t>Return </a:t>
                      </a:r>
                      <a:r>
                        <a:rPr lang="en-US" sz="2000" dirty="0">
                          <a:effectLst/>
                        </a:rPr>
                        <a:t>Type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25" marR="21268" marT="56714" marB="21268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Method and Description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25" marR="21268" marT="56714" marB="21268"/>
                </a:tc>
                <a:extLst>
                  <a:ext uri="{0D108BD9-81ED-4DB2-BD59-A6C34878D82A}">
                    <a16:rowId xmlns:a16="http://schemas.microsoft.com/office/drawing/2014/main" val="1253333407"/>
                  </a:ext>
                </a:extLst>
              </a:tr>
              <a:tr h="33281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 smtClean="0">
                          <a:effectLst/>
                        </a:rPr>
                        <a:t>int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0892" marR="0" marT="56714" marB="21268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u="none" dirty="0" err="1">
                          <a:effectLst/>
                        </a:rPr>
                        <a:t>indexOf</a:t>
                      </a:r>
                      <a:r>
                        <a:rPr lang="en-US" sz="2000" b="1" u="none" dirty="0">
                          <a:effectLst/>
                        </a:rPr>
                        <a:t>(Object</a:t>
                      </a:r>
                      <a:r>
                        <a:rPr lang="en-US" sz="2000" b="1" dirty="0">
                          <a:effectLst/>
                        </a:rPr>
                        <a:t> o)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50"/>
                        </a:spcAft>
                      </a:pPr>
                      <a:r>
                        <a:rPr lang="en-US" sz="2000" dirty="0">
                          <a:effectLst/>
                        </a:rPr>
                        <a:t>Returns the index of the first occurrence of the specified element in this list, or -1 if this list does not contain the element.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0892" marR="0" marT="56714" marB="21268"/>
                </a:tc>
                <a:extLst>
                  <a:ext uri="{0D108BD9-81ED-4DB2-BD59-A6C34878D82A}">
                    <a16:rowId xmlns:a16="http://schemas.microsoft.com/office/drawing/2014/main" val="2833309300"/>
                  </a:ext>
                </a:extLst>
              </a:tr>
              <a:tr h="33281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 smtClean="0">
                          <a:effectLst/>
                        </a:rPr>
                        <a:t>boolean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0892" marR="0" marT="56714" marB="21268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u="none" dirty="0" err="1">
                          <a:effectLst/>
                        </a:rPr>
                        <a:t>isEmpty</a:t>
                      </a:r>
                      <a:r>
                        <a:rPr lang="en-US" sz="2000" b="1" dirty="0">
                          <a:effectLst/>
                        </a:rPr>
                        <a:t>()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50"/>
                        </a:spcAft>
                      </a:pPr>
                      <a:r>
                        <a:rPr lang="en-US" sz="2000" dirty="0">
                          <a:effectLst/>
                        </a:rPr>
                        <a:t>Returns true if this list contains no elements.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0892" marR="0" marT="56714" marB="21268"/>
                </a:tc>
                <a:extLst>
                  <a:ext uri="{0D108BD9-81ED-4DB2-BD59-A6C34878D82A}">
                    <a16:rowId xmlns:a16="http://schemas.microsoft.com/office/drawing/2014/main" val="3992223408"/>
                  </a:ext>
                </a:extLst>
              </a:tr>
              <a:tr h="33281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u="none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en-US" sz="2000" b="1" u="none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terator&lt;E</a:t>
                      </a:r>
                      <a:r>
                        <a:rPr lang="en-US" sz="2000" u="none" dirty="0">
                          <a:effectLst/>
                        </a:rPr>
                        <a:t>&gt;</a:t>
                      </a:r>
                      <a:endParaRPr lang="en-US" sz="2000" u="none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0892" marR="0" marT="56714" marB="21268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u="none" dirty="0">
                          <a:effectLst/>
                        </a:rPr>
                        <a:t>iterator</a:t>
                      </a:r>
                      <a:r>
                        <a:rPr lang="en-US" sz="2000" b="1" dirty="0">
                          <a:effectLst/>
                        </a:rPr>
                        <a:t>()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50"/>
                        </a:spcAft>
                      </a:pPr>
                      <a:r>
                        <a:rPr lang="en-US" sz="2000" dirty="0">
                          <a:effectLst/>
                        </a:rPr>
                        <a:t>Returns an iterator over the elements in this list in proper sequence.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0892" marR="0" marT="56714" marB="21268"/>
                </a:tc>
                <a:extLst>
                  <a:ext uri="{0D108BD9-81ED-4DB2-BD59-A6C34878D82A}">
                    <a16:rowId xmlns:a16="http://schemas.microsoft.com/office/drawing/2014/main" val="3797396361"/>
                  </a:ext>
                </a:extLst>
              </a:tr>
              <a:tr h="33281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u="none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</a:p>
                  </a:txBody>
                  <a:tcPr marL="70892" marR="0" marT="56714" marB="21268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u="none" dirty="0">
                          <a:effectLst/>
                        </a:rPr>
                        <a:t>remove(</a:t>
                      </a:r>
                      <a:r>
                        <a:rPr lang="en-US" sz="2000" b="1" u="none" dirty="0" err="1">
                          <a:effectLst/>
                        </a:rPr>
                        <a:t>int</a:t>
                      </a:r>
                      <a:r>
                        <a:rPr lang="en-US" sz="2000" b="1" dirty="0">
                          <a:effectLst/>
                        </a:rPr>
                        <a:t> index)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50"/>
                        </a:spcAft>
                      </a:pPr>
                      <a:r>
                        <a:rPr lang="en-US" sz="2000" dirty="0">
                          <a:effectLst/>
                        </a:rPr>
                        <a:t>Removes the element at the specified position in this list.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0892" marR="0" marT="56714" marB="21268"/>
                </a:tc>
                <a:extLst>
                  <a:ext uri="{0D108BD9-81ED-4DB2-BD59-A6C34878D82A}">
                    <a16:rowId xmlns:a16="http://schemas.microsoft.com/office/drawing/2014/main" val="294599782"/>
                  </a:ext>
                </a:extLst>
              </a:tr>
              <a:tr h="33281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 smtClean="0">
                          <a:effectLst/>
                        </a:rPr>
                        <a:t>boolean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0892" marR="0" marT="56714" marB="21268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u="none" dirty="0">
                          <a:effectLst/>
                        </a:rPr>
                        <a:t>remove(Object</a:t>
                      </a:r>
                      <a:r>
                        <a:rPr lang="en-US" sz="2000" b="1" dirty="0">
                          <a:effectLst/>
                        </a:rPr>
                        <a:t> o)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50"/>
                        </a:spcAft>
                      </a:pPr>
                      <a:r>
                        <a:rPr lang="en-US" sz="2000" dirty="0">
                          <a:effectLst/>
                        </a:rPr>
                        <a:t>Removes the first occurrence of the specified element from this list, if it is present.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0892" marR="0" marT="56714" marB="21268"/>
                </a:tc>
                <a:extLst>
                  <a:ext uri="{0D108BD9-81ED-4DB2-BD59-A6C34878D82A}">
                    <a16:rowId xmlns:a16="http://schemas.microsoft.com/office/drawing/2014/main" val="1297017157"/>
                  </a:ext>
                </a:extLst>
              </a:tr>
              <a:tr h="33281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 smtClean="0">
                          <a:effectLst/>
                        </a:rPr>
                        <a:t>int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0892" marR="0" marT="56714" marB="21268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u="none" dirty="0">
                          <a:effectLst/>
                        </a:rPr>
                        <a:t>size</a:t>
                      </a:r>
                      <a:r>
                        <a:rPr lang="en-US" sz="2000" b="1" dirty="0">
                          <a:effectLst/>
                        </a:rPr>
                        <a:t>()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50"/>
                        </a:spcAft>
                      </a:pPr>
                      <a:r>
                        <a:rPr lang="en-US" sz="2000" dirty="0">
                          <a:effectLst/>
                        </a:rPr>
                        <a:t>Returns the number of elements in this list.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0892" marR="0" marT="56714" marB="21268"/>
                </a:tc>
                <a:extLst>
                  <a:ext uri="{0D108BD9-81ED-4DB2-BD59-A6C34878D82A}">
                    <a16:rowId xmlns:a16="http://schemas.microsoft.com/office/drawing/2014/main" val="2663720575"/>
                  </a:ext>
                </a:extLst>
              </a:tr>
              <a:tr h="33281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smtClean="0">
                          <a:effectLst/>
                        </a:rPr>
                        <a:t>void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0892" marR="0" marT="56714" marB="21268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u="none" dirty="0">
                          <a:effectLst/>
                        </a:rPr>
                        <a:t>sort(Comparator&lt;? super E&gt; c)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50"/>
                        </a:spcAft>
                      </a:pPr>
                      <a:r>
                        <a:rPr lang="en-US" sz="2000" dirty="0">
                          <a:effectLst/>
                        </a:rPr>
                        <a:t>Sorts this list according to the order induced by the specified </a:t>
                      </a:r>
                      <a:r>
                        <a:rPr lang="en-US" sz="2000" u="none" strike="noStrike" dirty="0">
                          <a:effectLst/>
                        </a:rPr>
                        <a:t>Comparator</a:t>
                      </a:r>
                      <a:r>
                        <a:rPr lang="en-US" sz="2000" u="none" dirty="0">
                          <a:effectLst/>
                        </a:rPr>
                        <a:t>.</a:t>
                      </a:r>
                      <a:endParaRPr lang="en-US" sz="2000" u="none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0892" marR="0" marT="56714" marB="21268"/>
                </a:tc>
                <a:extLst>
                  <a:ext uri="{0D108BD9-81ED-4DB2-BD59-A6C34878D82A}">
                    <a16:rowId xmlns:a16="http://schemas.microsoft.com/office/drawing/2014/main" val="36052176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1434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Algorithms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Shuffling</a:t>
            </a:r>
            <a:endParaRPr lang="en-US" b="1" dirty="0" smtClean="0"/>
          </a:p>
          <a:p>
            <a:r>
              <a:rPr lang="en-US" b="1" dirty="0" smtClean="0"/>
              <a:t>Sorting</a:t>
            </a:r>
          </a:p>
          <a:p>
            <a:r>
              <a:rPr lang="en-US" b="1" dirty="0"/>
              <a:t>Finding Extreme Values</a:t>
            </a:r>
          </a:p>
          <a:p>
            <a:r>
              <a:rPr lang="en-US" dirty="0" smtClean="0"/>
              <a:t>Searching</a:t>
            </a:r>
          </a:p>
          <a:p>
            <a:r>
              <a:rPr lang="en-US" dirty="0"/>
              <a:t>Routine Data </a:t>
            </a:r>
            <a:r>
              <a:rPr lang="en-US" dirty="0" smtClean="0"/>
              <a:t>Manipulation</a:t>
            </a:r>
            <a:r>
              <a:rPr lang="en-US" dirty="0"/>
              <a:t>: </a:t>
            </a:r>
            <a:r>
              <a:rPr lang="en-US" dirty="0" smtClean="0"/>
              <a:t>reverse, copy, swap,…</a:t>
            </a:r>
          </a:p>
          <a:p>
            <a:r>
              <a:rPr lang="en-US" dirty="0" smtClean="0"/>
              <a:t>Composition: </a:t>
            </a:r>
            <a:r>
              <a:rPr lang="en-US" dirty="0"/>
              <a:t>frequency and disjoint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F0C94032-CD4C-4C25-B0C2-CEC720522D92}" type="slidenum">
              <a:rPr kumimoji="0" lang="en-US" smtClean="0"/>
              <a:pPr eaLnBrk="1" latinLnBrk="0" hangingPunct="1"/>
              <a:t>8</a:t>
            </a:fld>
            <a:endParaRPr kumimoji="0"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3972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954" y="1076653"/>
            <a:ext cx="5549462" cy="521418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F0C94032-CD4C-4C25-B0C2-CEC720522D92}" type="slidenum">
              <a:rPr kumimoji="0" lang="en-US" smtClean="0"/>
              <a:pPr eaLnBrk="1" latinLnBrk="0" hangingPunct="1"/>
              <a:t>9</a:t>
            </a:fld>
            <a:endParaRPr kumimoji="0" lang="en-US" dirty="0">
              <a:solidFill>
                <a:srgbClr val="FFFFFF"/>
              </a:solidFill>
            </a:endParaRPr>
          </a:p>
        </p:txBody>
      </p:sp>
      <p:sp>
        <p:nvSpPr>
          <p:cNvPr id="9" name="Rounded Rectangular Callout 8"/>
          <p:cNvSpPr/>
          <p:nvPr/>
        </p:nvSpPr>
        <p:spPr>
          <a:xfrm>
            <a:off x="5285877" y="2853558"/>
            <a:ext cx="3834364" cy="472965"/>
          </a:xfrm>
          <a:prstGeom prst="wedgeRoundRectCallout">
            <a:avLst>
              <a:gd name="adj1" fmla="val -79688"/>
              <a:gd name="adj2" fmla="val 290277"/>
              <a:gd name="adj3" fmla="val 16667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ArrayList</a:t>
            </a:r>
            <a:r>
              <a:rPr lang="en-US" dirty="0"/>
              <a:t>: [10, 9, 8, 7, 6, 5, 4, 3, 2, </a:t>
            </a:r>
            <a:r>
              <a:rPr lang="en-US" b="1" dirty="0" smtClean="0"/>
              <a:t>1, 1</a:t>
            </a:r>
            <a:r>
              <a:rPr lang="en-US" dirty="0" smtClean="0"/>
              <a:t>]</a:t>
            </a:r>
            <a:endParaRPr lang="en-US" dirty="0"/>
          </a:p>
        </p:txBody>
      </p:sp>
      <p:sp>
        <p:nvSpPr>
          <p:cNvPr id="10" name="Rounded Rectangular Callout 9"/>
          <p:cNvSpPr/>
          <p:nvPr/>
        </p:nvSpPr>
        <p:spPr>
          <a:xfrm>
            <a:off x="5285876" y="6022823"/>
            <a:ext cx="3602309" cy="472965"/>
          </a:xfrm>
          <a:prstGeom prst="wedgeRoundRectCallout">
            <a:avLst>
              <a:gd name="adj1" fmla="val -71811"/>
              <a:gd name="adj2" fmla="val -146390"/>
              <a:gd name="adj3" fmla="val 16667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TreeSet</a:t>
            </a:r>
            <a:r>
              <a:rPr lang="en-US" dirty="0"/>
              <a:t>: [</a:t>
            </a:r>
            <a:r>
              <a:rPr lang="en-US" b="1" dirty="0"/>
              <a:t>1</a:t>
            </a:r>
            <a:r>
              <a:rPr lang="en-US" dirty="0"/>
              <a:t>, 2, 3, 4, 5, 6, 7, 8, 9, 10]</a:t>
            </a:r>
          </a:p>
        </p:txBody>
      </p:sp>
    </p:spTree>
    <p:extLst>
      <p:ext uri="{BB962C8B-B14F-4D97-AF65-F5344CB8AC3E}">
        <p14:creationId xmlns:p14="http://schemas.microsoft.com/office/powerpoint/2010/main" val="3558558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Iterate over the elements of a List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F0C94032-CD4C-4C25-B0C2-CEC720522D92}" type="slidenum">
              <a:rPr kumimoji="0" lang="en-US" smtClean="0"/>
              <a:pPr eaLnBrk="1" latinLnBrk="0" hangingPunct="1"/>
              <a:t>10</a:t>
            </a:fld>
            <a:endParaRPr kumimoji="0" lang="en-US" dirty="0">
              <a:solidFill>
                <a:srgbClr val="FFFFFF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4931" y="1392291"/>
            <a:ext cx="5101897" cy="514531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340070" y="1392291"/>
            <a:ext cx="5596758" cy="3747268"/>
          </a:xfrm>
          <a:prstGeom prst="round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987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539" y="1265274"/>
            <a:ext cx="5522058" cy="39566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F0C94032-CD4C-4C25-B0C2-CEC720522D92}" type="slidenum">
              <a:rPr kumimoji="0" lang="en-US" smtClean="0"/>
              <a:pPr eaLnBrk="1" latinLnBrk="0" hangingPunct="1"/>
              <a:t>11</a:t>
            </a:fld>
            <a:endParaRPr kumimoji="0" lang="en-US" dirty="0">
              <a:solidFill>
                <a:srgbClr val="FFFFFF"/>
              </a:solidFill>
            </a:endParaRPr>
          </a:p>
        </p:txBody>
      </p:sp>
      <p:sp>
        <p:nvSpPr>
          <p:cNvPr id="9" name="Rounded Rectangular Callout 8"/>
          <p:cNvSpPr/>
          <p:nvPr/>
        </p:nvSpPr>
        <p:spPr>
          <a:xfrm>
            <a:off x="6641710" y="2554015"/>
            <a:ext cx="2246475" cy="689586"/>
          </a:xfrm>
          <a:prstGeom prst="wedgeRoundRectCallout">
            <a:avLst>
              <a:gd name="adj1" fmla="val -114519"/>
              <a:gd name="adj2" fmla="val 218252"/>
              <a:gd name="adj3" fmla="val 16667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Sorted </a:t>
            </a:r>
            <a:r>
              <a:rPr lang="en-US" b="1" dirty="0"/>
              <a:t>according </a:t>
            </a:r>
            <a:r>
              <a:rPr lang="en-US" b="1" dirty="0" smtClean="0"/>
              <a:t>to id or name???</a:t>
            </a:r>
            <a:endParaRPr lang="en-US" b="1" dirty="0"/>
          </a:p>
        </p:txBody>
      </p:sp>
      <p:sp>
        <p:nvSpPr>
          <p:cNvPr id="6" name="Cloud Callout 5"/>
          <p:cNvSpPr/>
          <p:nvPr/>
        </p:nvSpPr>
        <p:spPr>
          <a:xfrm>
            <a:off x="5672130" y="4717430"/>
            <a:ext cx="2305222" cy="1288741"/>
          </a:xfrm>
          <a:prstGeom prst="cloudCallout">
            <a:avLst>
              <a:gd name="adj1" fmla="val -85347"/>
              <a:gd name="adj2" fmla="val -4393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Run-time error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348529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Comparable interface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F0C94032-CD4C-4C25-B0C2-CEC720522D92}" type="slidenum">
              <a:rPr kumimoji="0" lang="en-US" smtClean="0"/>
              <a:pPr eaLnBrk="1" latinLnBrk="0" hangingPunct="1"/>
              <a:t>12</a:t>
            </a:fld>
            <a:endParaRPr kumimoji="0" lang="en-US" dirty="0">
              <a:solidFill>
                <a:srgbClr val="FFFFFF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36465" y="1265925"/>
            <a:ext cx="6290439" cy="1354217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fr-F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public interface Comparable&lt;T&gt; {</a:t>
            </a:r>
          </a:p>
          <a:p>
            <a:pPr>
              <a:spcBef>
                <a:spcPts val="600"/>
              </a:spcBef>
            </a:pPr>
            <a:r>
              <a:rPr lang="fr-F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</a:t>
            </a:r>
            <a:r>
              <a:rPr lang="fr-FR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fr-F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compareTo</a:t>
            </a:r>
            <a:r>
              <a:rPr lang="fr-F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(T o);</a:t>
            </a:r>
          </a:p>
          <a:p>
            <a:pPr>
              <a:spcBef>
                <a:spcPts val="600"/>
              </a:spcBef>
            </a:pPr>
            <a:r>
              <a:rPr lang="fr-F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465" y="2935455"/>
            <a:ext cx="5040199" cy="3469779"/>
          </a:xfrm>
          <a:prstGeom prst="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</p:pic>
      <p:sp>
        <p:nvSpPr>
          <p:cNvPr id="9" name="Cloud Callout 8"/>
          <p:cNvSpPr/>
          <p:nvPr/>
        </p:nvSpPr>
        <p:spPr>
          <a:xfrm>
            <a:off x="5092264" y="3878317"/>
            <a:ext cx="3941381" cy="2059372"/>
          </a:xfrm>
          <a:prstGeom prst="cloudCallout">
            <a:avLst>
              <a:gd name="adj1" fmla="val -58069"/>
              <a:gd name="adj2" fmla="val -8216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If </a:t>
            </a:r>
            <a:r>
              <a:rPr lang="en-US" dirty="0" smtClean="0">
                <a:solidFill>
                  <a:schemeClr val="tx1"/>
                </a:solidFill>
              </a:rPr>
              <a:t>the </a:t>
            </a:r>
            <a:r>
              <a:rPr lang="en-US" dirty="0">
                <a:solidFill>
                  <a:schemeClr val="tx1"/>
                </a:solidFill>
              </a:rPr>
              <a:t>elements </a:t>
            </a:r>
            <a:r>
              <a:rPr lang="en-US" dirty="0" smtClean="0">
                <a:solidFill>
                  <a:schemeClr val="tx1"/>
                </a:solidFill>
              </a:rPr>
              <a:t>do </a:t>
            </a:r>
            <a:r>
              <a:rPr lang="en-US" dirty="0">
                <a:solidFill>
                  <a:schemeClr val="tx1"/>
                </a:solidFill>
              </a:rPr>
              <a:t>not implement Comparable, </a:t>
            </a:r>
            <a:r>
              <a:rPr lang="en-US" dirty="0" err="1">
                <a:solidFill>
                  <a:schemeClr val="tx1"/>
                </a:solidFill>
              </a:rPr>
              <a:t>Collections.sort</a:t>
            </a:r>
            <a:r>
              <a:rPr lang="en-US" dirty="0">
                <a:solidFill>
                  <a:schemeClr val="tx1"/>
                </a:solidFill>
              </a:rPr>
              <a:t>(list) will throw a </a:t>
            </a:r>
            <a:r>
              <a:rPr lang="en-US" b="1" i="1" dirty="0" err="1" smtClean="0">
                <a:solidFill>
                  <a:schemeClr val="tx1"/>
                </a:solidFill>
              </a:rPr>
              <a:t>ClassCastException</a:t>
            </a:r>
            <a:endParaRPr lang="en-US" b="1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7402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Implementing </a:t>
            </a:r>
            <a:r>
              <a:rPr lang="en-US" i="1" dirty="0" err="1" smtClean="0"/>
              <a:t>compareTo</a:t>
            </a:r>
            <a:r>
              <a:rPr lang="en-US" dirty="0" smtClean="0"/>
              <a:t> </a:t>
            </a:r>
            <a:r>
              <a:rPr lang="en-US" dirty="0"/>
              <a:t>method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F0C94032-CD4C-4C25-B0C2-CEC720522D92}" type="slidenum">
              <a:rPr kumimoji="0" lang="en-US" smtClean="0"/>
              <a:pPr eaLnBrk="1" latinLnBrk="0" hangingPunct="1"/>
              <a:t>13</a:t>
            </a:fld>
            <a:endParaRPr kumimoji="0" lang="en-US" dirty="0">
              <a:solidFill>
                <a:srgbClr val="FFFFFF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181" y="1373999"/>
            <a:ext cx="4476750" cy="5124450"/>
          </a:xfrm>
          <a:prstGeom prst="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7849" y="3968082"/>
            <a:ext cx="4431207" cy="398075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</p:pic>
      <p:sp>
        <p:nvSpPr>
          <p:cNvPr id="9" name="Rounded Rectangular Callout 8"/>
          <p:cNvSpPr/>
          <p:nvPr/>
        </p:nvSpPr>
        <p:spPr>
          <a:xfrm>
            <a:off x="6641710" y="2554015"/>
            <a:ext cx="2246475" cy="689586"/>
          </a:xfrm>
          <a:prstGeom prst="wedgeRoundRectCallout">
            <a:avLst>
              <a:gd name="adj1" fmla="val -43638"/>
              <a:gd name="adj2" fmla="val 126803"/>
              <a:gd name="adj3" fmla="val 16667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Example 2 output:</a:t>
            </a:r>
            <a:endParaRPr lang="en-US" b="1" dirty="0"/>
          </a:p>
        </p:txBody>
      </p:sp>
      <p:sp>
        <p:nvSpPr>
          <p:cNvPr id="10" name="Rounded Rectangle 9"/>
          <p:cNvSpPr/>
          <p:nvPr/>
        </p:nvSpPr>
        <p:spPr>
          <a:xfrm>
            <a:off x="2002222" y="1233743"/>
            <a:ext cx="3342288" cy="602047"/>
          </a:xfrm>
          <a:prstGeom prst="round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504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</a:t>
            </a:r>
            <a:r>
              <a:rPr lang="en-US" dirty="0"/>
              <a:t> sort a list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F0C94032-CD4C-4C25-B0C2-CEC720522D92}" type="slidenum">
              <a:rPr kumimoji="0" lang="en-US" smtClean="0"/>
              <a:pPr eaLnBrk="1" latinLnBrk="0" hangingPunct="1"/>
              <a:t>14</a:t>
            </a:fld>
            <a:endParaRPr kumimoji="0" lang="en-US" dirty="0">
              <a:solidFill>
                <a:srgbClr val="FFFFFF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953" y="1265274"/>
            <a:ext cx="6115542" cy="473543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25670" y="4367048"/>
            <a:ext cx="4114800" cy="780393"/>
          </a:xfrm>
          <a:prstGeom prst="round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ular Callout 8"/>
          <p:cNvSpPr/>
          <p:nvPr/>
        </p:nvSpPr>
        <p:spPr>
          <a:xfrm>
            <a:off x="6440325" y="4047798"/>
            <a:ext cx="2246475" cy="689586"/>
          </a:xfrm>
          <a:prstGeom prst="wedgeRoundRectCallout">
            <a:avLst>
              <a:gd name="adj1" fmla="val -47147"/>
              <a:gd name="adj2" fmla="val 183959"/>
              <a:gd name="adj3" fmla="val 16667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O</a:t>
            </a:r>
            <a:r>
              <a:rPr lang="en-US" b="1" dirty="0" smtClean="0"/>
              <a:t>utput: including duplicate elements</a:t>
            </a:r>
            <a:endParaRPr lang="en-US" b="1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2839" y="5810203"/>
            <a:ext cx="6783292" cy="535171"/>
          </a:xfrm>
          <a:prstGeom prst="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</p:pic>
    </p:spTree>
    <p:extLst>
      <p:ext uri="{BB962C8B-B14F-4D97-AF65-F5344CB8AC3E}">
        <p14:creationId xmlns:p14="http://schemas.microsoft.com/office/powerpoint/2010/main" val="3402752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25675"/>
            <a:ext cx="8229600" cy="1335233"/>
          </a:xfrm>
        </p:spPr>
        <p:txBody>
          <a:bodyPr/>
          <a:lstStyle/>
          <a:p>
            <a:r>
              <a:rPr lang="en-US" dirty="0" smtClean="0"/>
              <a:t>Comparing </a:t>
            </a:r>
            <a:r>
              <a:rPr lang="en-US" dirty="0"/>
              <a:t>2 students based on </a:t>
            </a:r>
            <a:r>
              <a:rPr lang="en-US" u="sng" dirty="0"/>
              <a:t>ascending IDs</a:t>
            </a:r>
            <a:r>
              <a:rPr lang="en-US" dirty="0"/>
              <a:t> then </a:t>
            </a:r>
            <a:r>
              <a:rPr lang="en-US" u="sng" dirty="0"/>
              <a:t>ascending</a:t>
            </a:r>
            <a:r>
              <a:rPr lang="en-US" u="sng" dirty="0" smtClean="0"/>
              <a:t> </a:t>
            </a:r>
            <a:r>
              <a:rPr lang="en-US" u="sng" dirty="0"/>
              <a:t>Names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F0C94032-CD4C-4C25-B0C2-CEC720522D92}" type="slidenum">
              <a:rPr kumimoji="0" lang="en-US" smtClean="0"/>
              <a:pPr eaLnBrk="1" latinLnBrk="0" hangingPunct="1"/>
              <a:t>15</a:t>
            </a:fld>
            <a:endParaRPr kumimoji="0" lang="en-US" dirty="0">
              <a:solidFill>
                <a:srgbClr val="FFFFFF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96" y="2529376"/>
            <a:ext cx="7331501" cy="377790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9226" y="5817109"/>
            <a:ext cx="4536904" cy="61810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pic>
      <p:sp>
        <p:nvSpPr>
          <p:cNvPr id="8" name="Rounded Rectangle 7"/>
          <p:cNvSpPr/>
          <p:nvPr/>
        </p:nvSpPr>
        <p:spPr>
          <a:xfrm>
            <a:off x="867104" y="4091568"/>
            <a:ext cx="6669673" cy="843033"/>
          </a:xfrm>
          <a:prstGeom prst="round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Curved Connector 9"/>
          <p:cNvCxnSpPr>
            <a:stCxn id="8" idx="3"/>
          </p:cNvCxnSpPr>
          <p:nvPr/>
        </p:nvCxnSpPr>
        <p:spPr>
          <a:xfrm>
            <a:off x="7536777" y="4513085"/>
            <a:ext cx="677058" cy="1304024"/>
          </a:xfrm>
          <a:prstGeom prst="curvedConnector2">
            <a:avLst/>
          </a:prstGeom>
          <a:ln>
            <a:prstDash val="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012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78373"/>
            <a:ext cx="8229600" cy="1312580"/>
          </a:xfrm>
        </p:spPr>
        <p:txBody>
          <a:bodyPr/>
          <a:lstStyle/>
          <a:p>
            <a:r>
              <a:rPr lang="en-US" dirty="0" smtClean="0"/>
              <a:t>Comparing </a:t>
            </a:r>
            <a:r>
              <a:rPr lang="en-US" dirty="0"/>
              <a:t>2 students based on </a:t>
            </a:r>
            <a:r>
              <a:rPr lang="en-US" u="sng" dirty="0"/>
              <a:t>ascending IDs</a:t>
            </a:r>
            <a:r>
              <a:rPr lang="en-US" dirty="0"/>
              <a:t> then </a:t>
            </a:r>
            <a:r>
              <a:rPr lang="en-US" u="sng" dirty="0"/>
              <a:t>ascending</a:t>
            </a:r>
            <a:r>
              <a:rPr lang="en-US" u="sng" dirty="0" smtClean="0"/>
              <a:t> </a:t>
            </a:r>
            <a:r>
              <a:rPr lang="en-US" u="sng" dirty="0"/>
              <a:t>Names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F0C94032-CD4C-4C25-B0C2-CEC720522D92}" type="slidenum">
              <a:rPr kumimoji="0" lang="en-US" smtClean="0"/>
              <a:pPr eaLnBrk="1" latinLnBrk="0" hangingPunct="1"/>
              <a:t>16</a:t>
            </a:fld>
            <a:endParaRPr kumimoji="0" lang="en-US" dirty="0">
              <a:solidFill>
                <a:srgbClr val="FFFFFF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599" y="2533917"/>
            <a:ext cx="6409102" cy="3868300"/>
          </a:xfrm>
          <a:prstGeom prst="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</p:pic>
    </p:spTree>
    <p:extLst>
      <p:ext uri="{BB962C8B-B14F-4D97-AF65-F5344CB8AC3E}">
        <p14:creationId xmlns:p14="http://schemas.microsoft.com/office/powerpoint/2010/main" val="421471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Comparator interface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457200" y="3377537"/>
            <a:ext cx="8229600" cy="2748626"/>
          </a:xfrm>
        </p:spPr>
        <p:txBody>
          <a:bodyPr>
            <a:normAutofit fontScale="70000" lnSpcReduction="20000"/>
          </a:bodyPr>
          <a:lstStyle/>
          <a:p>
            <a:pPr>
              <a:spcBef>
                <a:spcPts val="1200"/>
              </a:spcBef>
            </a:pPr>
            <a:r>
              <a:rPr lang="en-US" dirty="0" err="1" smtClean="0"/>
              <a:t>param</a:t>
            </a:r>
            <a:r>
              <a:rPr lang="en-US" dirty="0" smtClean="0"/>
              <a:t> </a:t>
            </a:r>
            <a:r>
              <a:rPr lang="en-US" dirty="0"/>
              <a:t>o1 the first object to be compared.</a:t>
            </a:r>
          </a:p>
          <a:p>
            <a:pPr>
              <a:spcBef>
                <a:spcPts val="1200"/>
              </a:spcBef>
            </a:pPr>
            <a:r>
              <a:rPr lang="en-US" dirty="0" err="1" smtClean="0"/>
              <a:t>param</a:t>
            </a:r>
            <a:r>
              <a:rPr lang="en-US" dirty="0" smtClean="0"/>
              <a:t> </a:t>
            </a:r>
            <a:r>
              <a:rPr lang="en-US" dirty="0"/>
              <a:t>o2 the second object to be compared.</a:t>
            </a:r>
          </a:p>
          <a:p>
            <a:pPr>
              <a:spcBef>
                <a:spcPts val="1200"/>
              </a:spcBef>
            </a:pPr>
            <a:r>
              <a:rPr lang="en-US" dirty="0" smtClean="0"/>
              <a:t>return </a:t>
            </a:r>
            <a:r>
              <a:rPr lang="en-US" i="1" dirty="0"/>
              <a:t>a positive </a:t>
            </a:r>
            <a:r>
              <a:rPr lang="en-US" i="1" dirty="0" smtClean="0"/>
              <a:t>integer</a:t>
            </a:r>
            <a:r>
              <a:rPr lang="en-US" dirty="0" smtClean="0"/>
              <a:t> (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nguyên</a:t>
            </a:r>
            <a:r>
              <a:rPr lang="en-US" dirty="0" smtClean="0"/>
              <a:t> </a:t>
            </a:r>
            <a:r>
              <a:rPr lang="en-US" dirty="0" err="1" smtClean="0"/>
              <a:t>dương</a:t>
            </a:r>
            <a:r>
              <a:rPr lang="en-US" dirty="0" smtClean="0"/>
              <a:t>): </a:t>
            </a:r>
            <a:r>
              <a:rPr lang="en-US" dirty="0"/>
              <a:t>first argument </a:t>
            </a:r>
            <a:r>
              <a:rPr lang="en-US" dirty="0" smtClean="0"/>
              <a:t>is greater </a:t>
            </a:r>
            <a:r>
              <a:rPr lang="en-US" dirty="0"/>
              <a:t>than </a:t>
            </a:r>
            <a:r>
              <a:rPr lang="en-US" dirty="0" smtClean="0"/>
              <a:t>the second.</a:t>
            </a:r>
          </a:p>
          <a:p>
            <a:pPr>
              <a:spcBef>
                <a:spcPts val="1200"/>
              </a:spcBef>
            </a:pPr>
            <a:r>
              <a:rPr lang="en-US" dirty="0"/>
              <a:t>return </a:t>
            </a:r>
            <a:r>
              <a:rPr lang="en-US" i="1" dirty="0"/>
              <a:t>zero</a:t>
            </a:r>
            <a:r>
              <a:rPr lang="en-US" dirty="0"/>
              <a:t>: first argument is equal to second</a:t>
            </a:r>
            <a:r>
              <a:rPr lang="en-US" dirty="0" smtClean="0"/>
              <a:t>.</a:t>
            </a:r>
          </a:p>
          <a:p>
            <a:pPr>
              <a:spcBef>
                <a:spcPts val="1200"/>
              </a:spcBef>
            </a:pPr>
            <a:r>
              <a:rPr lang="en-US" dirty="0"/>
              <a:t>return </a:t>
            </a:r>
            <a:r>
              <a:rPr lang="en-US" i="1" dirty="0"/>
              <a:t>a negative integer</a:t>
            </a:r>
            <a:r>
              <a:rPr lang="en-US" dirty="0"/>
              <a:t> (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nguyên</a:t>
            </a:r>
            <a:r>
              <a:rPr lang="en-US" dirty="0"/>
              <a:t> </a:t>
            </a:r>
            <a:r>
              <a:rPr lang="en-US" dirty="0" err="1"/>
              <a:t>âm</a:t>
            </a:r>
            <a:r>
              <a:rPr lang="en-US" dirty="0"/>
              <a:t>): first argument is less than second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F0C94032-CD4C-4C25-B0C2-CEC720522D92}" type="slidenum">
              <a:rPr kumimoji="0" lang="en-US" smtClean="0"/>
              <a:pPr eaLnBrk="1" latinLnBrk="0" hangingPunct="1"/>
              <a:t>17</a:t>
            </a:fld>
            <a:endParaRPr kumimoji="0" lang="en-US" dirty="0">
              <a:solidFill>
                <a:srgbClr val="FFFFFF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25196" y="1644297"/>
            <a:ext cx="7189094" cy="1354217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fr-F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public interface </a:t>
            </a:r>
            <a:r>
              <a:rPr lang="fr-FR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Comparator</a:t>
            </a:r>
            <a:r>
              <a:rPr lang="fr-FR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&lt;T</a:t>
            </a:r>
            <a:r>
              <a:rPr lang="fr-F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&gt; {</a:t>
            </a:r>
          </a:p>
          <a:p>
            <a:pPr>
              <a:spcBef>
                <a:spcPts val="600"/>
              </a:spcBef>
            </a:pPr>
            <a:r>
              <a:rPr lang="fr-F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</a:t>
            </a:r>
            <a:r>
              <a:rPr lang="fr-FR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fr-F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compare(T o1, T o2);</a:t>
            </a:r>
            <a:endParaRPr lang="fr-FR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600"/>
              </a:spcBef>
            </a:pPr>
            <a:r>
              <a:rPr lang="fr-F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9303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Sorting with Comparator Object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F0C94032-CD4C-4C25-B0C2-CEC720522D92}" type="slidenum">
              <a:rPr kumimoji="0" lang="en-US" smtClean="0"/>
              <a:pPr eaLnBrk="1" latinLnBrk="0" hangingPunct="1"/>
              <a:t>18</a:t>
            </a:fld>
            <a:endParaRPr kumimoji="0" lang="en-US" dirty="0">
              <a:solidFill>
                <a:srgbClr val="FFFFFF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482" y="1490332"/>
            <a:ext cx="7743158" cy="3996067"/>
          </a:xfrm>
          <a:prstGeom prst="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3559" y="5127772"/>
            <a:ext cx="5990893" cy="1107691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pic>
      <p:cxnSp>
        <p:nvCxnSpPr>
          <p:cNvPr id="9" name="Curved Connector 8"/>
          <p:cNvCxnSpPr/>
          <p:nvPr/>
        </p:nvCxnSpPr>
        <p:spPr>
          <a:xfrm rot="16200000" flipH="1">
            <a:off x="3578772" y="1891861"/>
            <a:ext cx="3831021" cy="3610303"/>
          </a:xfrm>
          <a:prstGeom prst="curvedConnector3">
            <a:avLst>
              <a:gd name="adj1" fmla="val 34774"/>
            </a:avLst>
          </a:prstGeom>
          <a:ln>
            <a:prstDash val="sys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5129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4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Comparing </a:t>
            </a:r>
            <a:r>
              <a:rPr lang="en-US" dirty="0"/>
              <a:t>2 students based on </a:t>
            </a:r>
            <a:r>
              <a:rPr lang="en-US" u="sng" dirty="0"/>
              <a:t>ascending IDs</a:t>
            </a:r>
            <a:r>
              <a:rPr lang="en-US" dirty="0"/>
              <a:t> then </a:t>
            </a:r>
            <a:r>
              <a:rPr lang="en-US" u="sng" dirty="0"/>
              <a:t>descending Names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F0C94032-CD4C-4C25-B0C2-CEC720522D92}" type="slidenum">
              <a:rPr kumimoji="0" lang="en-US" smtClean="0"/>
              <a:pPr eaLnBrk="1" latinLnBrk="0" hangingPunct="1"/>
              <a:t>19</a:t>
            </a:fld>
            <a:endParaRPr kumimoji="0" lang="en-US" dirty="0">
              <a:solidFill>
                <a:srgbClr val="FFFFFF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663578"/>
            <a:ext cx="6955958" cy="370309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67103" y="4225158"/>
            <a:ext cx="5596758" cy="772511"/>
          </a:xfrm>
          <a:prstGeom prst="round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175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Extreme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6530" y="2672200"/>
            <a:ext cx="8229600" cy="1286149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 smtClean="0">
                <a:sym typeface="Wingdings" panose="05000000000000000000" pitchFamily="2" charset="2"/>
              </a:rPr>
              <a:t> </a:t>
            </a:r>
            <a:r>
              <a:rPr lang="en-US" dirty="0" smtClean="0"/>
              <a:t>returns </a:t>
            </a:r>
            <a:r>
              <a:rPr lang="en-US" dirty="0"/>
              <a:t>the minimum (or maximum) element according to the elements' natural ordering.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F0C94032-CD4C-4C25-B0C2-CEC720522D92}" type="slidenum">
              <a:rPr kumimoji="0" lang="en-US" smtClean="0"/>
              <a:pPr eaLnBrk="1" latinLnBrk="0" hangingPunct="1"/>
              <a:t>20</a:t>
            </a:fld>
            <a:endParaRPr kumimoji="0" lang="en-US" dirty="0">
              <a:solidFill>
                <a:srgbClr val="FFFFFF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1841203"/>
            <a:ext cx="4240263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Collections.min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(list);</a:t>
            </a:r>
          </a:p>
          <a:p>
            <a:r>
              <a:rPr lang="en-US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Collections.max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(list);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476123" y="5098432"/>
            <a:ext cx="8229600" cy="128614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Myriad Pro"/>
                <a:ea typeface="+mn-ea"/>
                <a:cs typeface="Myriad Pro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Myriad Pro"/>
                <a:ea typeface="+mn-ea"/>
                <a:cs typeface="Myriad Pro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Myriad Pro"/>
                <a:ea typeface="+mn-ea"/>
                <a:cs typeface="Myriad Pro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Myriad Pro"/>
                <a:ea typeface="+mn-ea"/>
                <a:cs typeface="Myriad Pro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Myriad Pro"/>
                <a:ea typeface="+mn-ea"/>
                <a:cs typeface="Myriad Pro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smtClean="0">
                <a:sym typeface="Wingdings" panose="05000000000000000000" pitchFamily="2" charset="2"/>
              </a:rPr>
              <a:t> </a:t>
            </a:r>
            <a:r>
              <a:rPr lang="en-US" dirty="0" smtClean="0"/>
              <a:t>returns </a:t>
            </a:r>
            <a:r>
              <a:rPr lang="en-US" dirty="0"/>
              <a:t>the minimum (or maximum) element according to the specified </a:t>
            </a:r>
            <a:r>
              <a:rPr lang="en-US" sz="35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Comparator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506793" y="4267435"/>
            <a:ext cx="6452407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Collections.min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(list, comparator);</a:t>
            </a:r>
          </a:p>
          <a:p>
            <a:r>
              <a:rPr lang="en-US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Collections.max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(list,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comparator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6458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Q&amp;A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F0C94032-CD4C-4C25-B0C2-CEC720522D92}" type="slidenum">
              <a:rPr kumimoji="0" lang="en-US" smtClean="0"/>
              <a:pPr eaLnBrk="1" latinLnBrk="0" hangingPunct="1"/>
              <a:t>21</a:t>
            </a:fld>
            <a:endParaRPr kumimoji="0" lang="en-US" dirty="0">
              <a:solidFill>
                <a:srgbClr val="FFFFFF"/>
              </a:solidFill>
            </a:endParaRP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3628" y="1940808"/>
            <a:ext cx="2890500" cy="2890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03928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HSU ppt template_Office2010">
  <a:themeElements>
    <a:clrScheme name="Verve">
      <a:dk1>
        <a:sysClr val="windowText" lastClr="000000"/>
      </a:dk1>
      <a:lt1>
        <a:sysClr val="window" lastClr="FFFFFF"/>
      </a:lt1>
      <a:dk2>
        <a:srgbClr val="666666"/>
      </a:dk2>
      <a:lt2>
        <a:srgbClr val="D2D2D2"/>
      </a:lt2>
      <a:accent1>
        <a:srgbClr val="FF388C"/>
      </a:accent1>
      <a:accent2>
        <a:srgbClr val="E40059"/>
      </a:accent2>
      <a:accent3>
        <a:srgbClr val="9C007F"/>
      </a:accent3>
      <a:accent4>
        <a:srgbClr val="68007F"/>
      </a:accent4>
      <a:accent5>
        <a:srgbClr val="005BD3"/>
      </a:accent5>
      <a:accent6>
        <a:srgbClr val="00349E"/>
      </a:accent6>
      <a:hlink>
        <a:srgbClr val="17BBFD"/>
      </a:hlink>
      <a:folHlink>
        <a:srgbClr val="FF79C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Austin</Template>
  <TotalTime>10288</TotalTime>
  <Words>457</Words>
  <Application>Microsoft Office PowerPoint</Application>
  <PresentationFormat>On-screen Show (4:3)</PresentationFormat>
  <Paragraphs>170</Paragraphs>
  <Slides>21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Calibri</vt:lpstr>
      <vt:lpstr>Courier New</vt:lpstr>
      <vt:lpstr>Myriad Pro</vt:lpstr>
      <vt:lpstr>Times New Roman</vt:lpstr>
      <vt:lpstr>Wingdings</vt:lpstr>
      <vt:lpstr>HSU ppt template_Office2010</vt:lpstr>
      <vt:lpstr>Object-Oriented Programming Using Java</vt:lpstr>
      <vt:lpstr>Contents</vt:lpstr>
      <vt:lpstr>Introduction</vt:lpstr>
      <vt:lpstr>The core collection interfaces</vt:lpstr>
      <vt:lpstr>Implementations</vt:lpstr>
      <vt:lpstr>Class java.util.ArrayList&lt;E&gt;</vt:lpstr>
      <vt:lpstr>PowerPoint Presentation</vt:lpstr>
      <vt:lpstr>Algorithms</vt:lpstr>
      <vt:lpstr>Example 1</vt:lpstr>
      <vt:lpstr>Iterate over the elements of a List</vt:lpstr>
      <vt:lpstr>Example 2</vt:lpstr>
      <vt:lpstr>Comparable interface</vt:lpstr>
      <vt:lpstr>Implementing compareTo method</vt:lpstr>
      <vt:lpstr>How to sort a list</vt:lpstr>
      <vt:lpstr>Example 3</vt:lpstr>
      <vt:lpstr>Example 3</vt:lpstr>
      <vt:lpstr>Comparator interface</vt:lpstr>
      <vt:lpstr>Sorting with Comparator Object</vt:lpstr>
      <vt:lpstr>Example 4</vt:lpstr>
      <vt:lpstr>Finding Extreme Values</vt:lpstr>
      <vt:lpstr>Q&amp;A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Nguyen Thi Thanh</dc:creator>
  <cp:lastModifiedBy>Thanh Nguyen Thi 113 (FUG HCM)</cp:lastModifiedBy>
  <cp:revision>276</cp:revision>
  <dcterms:created xsi:type="dcterms:W3CDTF">2014-01-20T04:03:40Z</dcterms:created>
  <dcterms:modified xsi:type="dcterms:W3CDTF">2019-10-30T14:19:49Z</dcterms:modified>
</cp:coreProperties>
</file>